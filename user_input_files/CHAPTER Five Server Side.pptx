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4"/>
  </p:notesMasterIdLst>
  <p:sldIdLst>
    <p:sldId id="256" r:id="rId2"/>
    <p:sldId id="257" r:id="rId3"/>
    <p:sldId id="258" r:id="rId4"/>
    <p:sldId id="259" r:id="rId5"/>
    <p:sldId id="265" r:id="rId6"/>
    <p:sldId id="264" r:id="rId7"/>
    <p:sldId id="263" r:id="rId8"/>
    <p:sldId id="262" r:id="rId9"/>
    <p:sldId id="261" r:id="rId10"/>
    <p:sldId id="260" r:id="rId11"/>
    <p:sldId id="270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6" r:id="rId55"/>
    <p:sldId id="309" r:id="rId56"/>
    <p:sldId id="310" r:id="rId57"/>
    <p:sldId id="315" r:id="rId58"/>
    <p:sldId id="311" r:id="rId59"/>
    <p:sldId id="312" r:id="rId60"/>
    <p:sldId id="313" r:id="rId61"/>
    <p:sldId id="325" r:id="rId62"/>
    <p:sldId id="314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6" r:id="rId79"/>
    <p:sldId id="333" r:id="rId80"/>
    <p:sldId id="334" r:id="rId81"/>
    <p:sldId id="335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0:28.478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1:48.550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1:48.718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1:49.871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00.829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00.989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01.485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02.318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02.740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02.997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1:59.367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1:59.573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1:59.725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22.662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22.829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23.014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23.838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33.885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38.126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1 28,'11'-12,"5"-3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38.397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38.973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28,'11'-12,"5"-3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39.164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39.285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41.516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1:32:42.326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27 0,'-12'0,"-3"0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FFE0915-0895-45F0-B4AB-E970B67D0F8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28518BA-DCCC-410C-A109-31D04A448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44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518BA-DCCC-410C-A109-31D04A44800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7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9EEE-D23B-AC50-F005-9E752D211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ACBE3-F6FB-2254-B6AE-A30D845D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C30B7-B503-D019-AAF2-62B352EE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304D-75D3-4507-95D9-B0654BCE70DD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39ACD-9D77-8CA8-EB8D-2064B1D1A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189CF-E8F6-7747-944E-3B3ACFAD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87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267D-9B00-A405-CC3C-53C4D9BC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8EE8E-2ADB-BD9B-A4FB-FDDF2B26C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3AE38-4D9A-6973-62D2-A4D87D9F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6510-7E62-46CB-9A67-39BA9E0618C8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D85F9-860E-F2A7-9A02-ACDA7C13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B1303-FAFD-B8FB-9C4E-4DFC813F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E8FDC-1376-5D96-3CE6-E9457147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392B6-8C68-290B-7524-4296F672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D03CF-B32B-D4E0-5818-36B6FE44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4ACBE-3DA9-434F-9682-B4EBCF255720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59C6F-3574-5F57-A519-9BEFA388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35D13-0C05-D390-AA73-DDA0E05B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2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6DF8-E711-9FF4-034C-BC85C0C2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AA21D-ADAD-AFC5-6250-AA2EF49A9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A78A6-3C36-AF06-FC75-7F906A388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8EE89-1F35-29F2-E210-C7B4D850A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AC37-AE91-481D-AE59-255131C8E6DB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174F3-C24D-F9E4-6E4A-0856936F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9DC65-CA4C-E468-72B4-4F34CB40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6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A056-ACD8-1039-2A62-CB1CB5642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9DD1F-3E2A-18E4-1340-E2CE7EFF6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3177C-81DA-73DC-2E8F-F6AC0A7F0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20FF0-631D-B309-5763-1AABAC2AF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2F32BF-973A-B234-359B-DDB814FB5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F4284-2974-4EC9-8BD0-989EC11B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BEE5-3870-4F0C-AB76-BF17940A454F}" type="datetime1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BA82A7-AF92-A746-5BB8-E7E58D1B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BD15A-F5F9-25BE-E4F5-2E983E14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1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EA1E-FF38-0CA0-BDC4-546D0EB7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9E8EC-C05F-7ABB-1E9A-2D49B9EA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73BFC-1490-40A0-869E-83A079B6C9E9}" type="datetime1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D4B45-C75F-059F-BDDF-68CB1FCD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A47E5-C6D2-9763-A323-D3EFF3D2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9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0AC07-323F-6531-D595-BB57400E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1AF2-9165-4E17-BDFE-85E3B5C6F614}" type="datetime1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DF944-4232-6F8D-F76F-79057345A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952AA-C473-9ADF-9170-9ED3EB55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7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C850-660D-C8CE-FA10-80031EFF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2ACF5-1202-AF3A-FFA3-177348244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4309F-A4F4-EDB1-DE65-7D2620281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EC2C9-95E9-9C3D-60C4-8D9A252B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DBAA1-3660-4AD6-9132-C55764A711B5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39ECB-89FB-5A5F-E38D-BF168DD37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1E30D-4CD3-0E8F-6983-6025BB49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1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9AB70-4405-7420-4AEF-3F2CE271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DB8D5-15E0-5F97-0290-841A01ACA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1651D-D647-45D4-82BD-54DA80DCE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4824C-EDC9-6B25-C5DC-9DE4C06E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EB0F-AA0D-4A3A-B04B-3651E6EDBC3E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6F7AC-AE11-AC14-BB2F-0DF7C495F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2E3B6-0AB5-E40D-612C-421AA066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7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78D19-7772-D649-DB4C-11565D96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FCC58-0EA8-2525-F3F7-769D3898A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3EE2B-64E0-CFF9-BE5B-690EB0B2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FB0D-D6ED-4743-81DD-0A8CEACEA99E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2662C-5DDA-982D-9C30-AED4A3B5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61FB2-CB5E-B45F-59EF-A8944066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003E37-BE9E-B9D7-6E8C-46E912F30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FC771-CCC6-D349-B60B-B4380BDF4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35C29-2286-21C0-A382-16B53112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66FC-57B2-4010-88C4-6CD22E021BFC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910DE-CBF2-A9EB-F4F1-2CAC3203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6BF51-ADFD-5F4A-4FD1-1E6FBD99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4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5C68A-A854-5347-F160-47BC64BF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C4D6-1C54-70C7-7A2F-215634729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F6C9F-6593-9A16-FAD3-BC87429A2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ECF8A-90E0-4899-9FA9-01EE74BC51A5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1A65C-DCB4-1FEF-BC8F-D515B022D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C5555-4774-66F0-0627-77F24B135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3D984-9A10-49DE-8078-68DFFF939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4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tut.fi/cgi-bin/mult.cgi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12.xml"/><Relationship Id="rId26" Type="http://schemas.openxmlformats.org/officeDocument/2006/relationships/customXml" Target="../ink/ink18.xml"/><Relationship Id="rId39" Type="http://schemas.openxmlformats.org/officeDocument/2006/relationships/image" Target="../media/image16.png"/><Relationship Id="rId3" Type="http://schemas.openxmlformats.org/officeDocument/2006/relationships/image" Target="../media/image3.png"/><Relationship Id="rId21" Type="http://schemas.openxmlformats.org/officeDocument/2006/relationships/image" Target="../media/image9.png"/><Relationship Id="rId34" Type="http://schemas.openxmlformats.org/officeDocument/2006/relationships/image" Target="../media/image14.png"/><Relationship Id="rId7" Type="http://schemas.openxmlformats.org/officeDocument/2006/relationships/customXml" Target="../ink/ink5.xml"/><Relationship Id="rId12" Type="http://schemas.openxmlformats.org/officeDocument/2006/relationships/customXml" Target="../ink/ink8.xml"/><Relationship Id="rId17" Type="http://schemas.openxmlformats.org/officeDocument/2006/relationships/image" Target="../media/image8.png"/><Relationship Id="rId25" Type="http://schemas.openxmlformats.org/officeDocument/2006/relationships/image" Target="../media/image10.png"/><Relationship Id="rId33" Type="http://schemas.openxmlformats.org/officeDocument/2006/relationships/customXml" Target="../ink/ink22.xml"/><Relationship Id="rId38" Type="http://schemas.openxmlformats.org/officeDocument/2006/relationships/customXml" Target="../ink/ink25.xml"/><Relationship Id="rId2" Type="http://schemas.openxmlformats.org/officeDocument/2006/relationships/customXml" Target="../ink/ink2.xml"/><Relationship Id="rId16" Type="http://schemas.openxmlformats.org/officeDocument/2006/relationships/customXml" Target="../ink/ink11.xml"/><Relationship Id="rId20" Type="http://schemas.openxmlformats.org/officeDocument/2006/relationships/customXml" Target="../ink/ink14.xml"/><Relationship Id="rId29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24" Type="http://schemas.openxmlformats.org/officeDocument/2006/relationships/customXml" Target="../ink/ink17.xml"/><Relationship Id="rId32" Type="http://schemas.openxmlformats.org/officeDocument/2006/relationships/image" Target="../media/image13.png"/><Relationship Id="rId37" Type="http://schemas.openxmlformats.org/officeDocument/2006/relationships/image" Target="../media/image15.png"/><Relationship Id="rId5" Type="http://schemas.openxmlformats.org/officeDocument/2006/relationships/customXml" Target="../ink/ink4.xml"/><Relationship Id="rId15" Type="http://schemas.openxmlformats.org/officeDocument/2006/relationships/customXml" Target="../ink/ink10.xml"/><Relationship Id="rId23" Type="http://schemas.openxmlformats.org/officeDocument/2006/relationships/customXml" Target="../ink/ink16.xml"/><Relationship Id="rId28" Type="http://schemas.openxmlformats.org/officeDocument/2006/relationships/customXml" Target="../ink/ink19.xml"/><Relationship Id="rId36" Type="http://schemas.openxmlformats.org/officeDocument/2006/relationships/customXml" Target="../ink/ink24.xml"/><Relationship Id="rId10" Type="http://schemas.openxmlformats.org/officeDocument/2006/relationships/customXml" Target="../ink/ink7.xml"/><Relationship Id="rId19" Type="http://schemas.openxmlformats.org/officeDocument/2006/relationships/customXml" Target="../ink/ink13.xml"/><Relationship Id="rId31" Type="http://schemas.openxmlformats.org/officeDocument/2006/relationships/customXml" Target="../ink/ink21.xml"/><Relationship Id="rId4" Type="http://schemas.openxmlformats.org/officeDocument/2006/relationships/customXml" Target="../ink/ink3.xml"/><Relationship Id="rId9" Type="http://schemas.openxmlformats.org/officeDocument/2006/relationships/customXml" Target="../ink/ink6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Relationship Id="rId27" Type="http://schemas.openxmlformats.org/officeDocument/2006/relationships/image" Target="../media/image11.png"/><Relationship Id="rId30" Type="http://schemas.openxmlformats.org/officeDocument/2006/relationships/customXml" Target="../ink/ink20.xml"/><Relationship Id="rId35" Type="http://schemas.openxmlformats.org/officeDocument/2006/relationships/customXml" Target="../ink/ink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4414-565D-0D60-C0C3-D9F38408D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44394"/>
          </a:xfrm>
        </p:spPr>
        <p:txBody>
          <a:bodyPr>
            <a:normAutofit/>
          </a:bodyPr>
          <a:lstStyle/>
          <a:p>
            <a:r>
              <a:rPr lang="en-US" sz="9600" b="1" dirty="0">
                <a:latin typeface="Book Antiqua" panose="02040602050305030304" pitchFamily="18" charset="0"/>
              </a:rPr>
              <a:t>Chapter Five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D9608-B07E-B86D-9750-347945D10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572" y="3066757"/>
            <a:ext cx="11155679" cy="2668880"/>
          </a:xfrm>
        </p:spPr>
        <p:txBody>
          <a:bodyPr>
            <a:noAutofit/>
          </a:bodyPr>
          <a:lstStyle/>
          <a:p>
            <a:pPr marL="486409" marR="499745" indent="725170" algn="ctr">
              <a:lnSpc>
                <a:spcPct val="127800"/>
              </a:lnSpc>
              <a:spcBef>
                <a:spcPts val="10"/>
              </a:spcBef>
            </a:pPr>
            <a:r>
              <a:rPr lang="en-US" sz="4000" b="1" spc="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Server-Side</a:t>
            </a:r>
            <a:r>
              <a:rPr lang="en-US" sz="4000" b="1" spc="15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b="1" spc="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Programs</a:t>
            </a:r>
            <a:r>
              <a:rPr lang="en-US" sz="2800" b="1" spc="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spc="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endParaRPr lang="en-US" sz="2800" b="1" spc="75" dirty="0">
              <a:solidFill>
                <a:srgbClr val="006FC0"/>
              </a:solidFill>
              <a:latin typeface="Book Antiqua" panose="02040602050305030304" pitchFamily="18" charset="0"/>
              <a:cs typeface="Constantia"/>
            </a:endParaRPr>
          </a:p>
          <a:p>
            <a:pPr marL="486409" marR="499745" indent="725170" algn="ctr">
              <a:lnSpc>
                <a:spcPct val="127800"/>
              </a:lnSpc>
              <a:spcBef>
                <a:spcPts val="10"/>
              </a:spcBef>
            </a:pPr>
            <a:r>
              <a:rPr lang="en-US" sz="2800" b="1" spc="15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2800" b="1" spc="100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spc="75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2800" b="1" spc="120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spc="85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Configuration </a:t>
            </a:r>
            <a:r>
              <a:rPr lang="en-US" sz="2800" b="1" spc="-415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 </a:t>
            </a:r>
          </a:p>
          <a:p>
            <a:pPr marL="486409" marR="499745" indent="725170" algn="ctr">
              <a:lnSpc>
                <a:spcPct val="127800"/>
              </a:lnSpc>
              <a:spcBef>
                <a:spcPts val="10"/>
              </a:spcBef>
            </a:pPr>
            <a:r>
              <a:rPr lang="en-US" sz="2800" b="1" spc="70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Common</a:t>
            </a:r>
            <a:r>
              <a:rPr lang="en-US" sz="2800" b="1" spc="155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spc="65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Gateway</a:t>
            </a:r>
            <a:r>
              <a:rPr lang="en-US" sz="2800" b="1" spc="155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spc="75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Interface(CGI)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R="4445" algn="ctr">
              <a:lnSpc>
                <a:spcPct val="100000"/>
              </a:lnSpc>
              <a:spcBef>
                <a:spcPts val="600"/>
              </a:spcBef>
            </a:pPr>
            <a:r>
              <a:rPr lang="en-US" sz="2800" b="1" spc="45" dirty="0">
                <a:solidFill>
                  <a:srgbClr val="006FC0"/>
                </a:solidFill>
                <a:latin typeface="Book Antiqua" panose="02040602050305030304" pitchFamily="18" charset="0"/>
                <a:cs typeface="Constantia"/>
              </a:rPr>
              <a:t>PHP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DC8C5-D862-20C4-16EC-6ECC4C81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3D984-9A10-49DE-8078-68DFFF9391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07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886B-38AB-BFF6-5470-AE163A1A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38E8F-E7A5-6E95-38E6-1AD30C479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69142"/>
            <a:ext cx="11826240" cy="5542673"/>
          </a:xfrm>
        </p:spPr>
        <p:txBody>
          <a:bodyPr/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Apache</a:t>
            </a:r>
            <a:r>
              <a:rPr lang="en-US" sz="36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6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6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Configuration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Common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Gateway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Interface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(CGI)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Introduction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Side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Scripts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</a:t>
            </a:r>
            <a:r>
              <a:rPr lang="en-US" sz="3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Controls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8E7AD-07C7-7508-3CB9-938C64E6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94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D3C69-59EC-3B77-D293-C9E39DBE1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EBF41-9D65-B391-270A-CEDEB26DE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Server-Side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840F-295F-5FC6-1914-04EE75DC0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6" y="998802"/>
            <a:ext cx="12107600" cy="5542673"/>
          </a:xfrm>
        </p:spPr>
        <p:txBody>
          <a:bodyPr>
            <a:normAutofit/>
          </a:bodyPr>
          <a:lstStyle/>
          <a:p>
            <a:pPr marL="1155700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How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generate</a:t>
            </a:r>
            <a:r>
              <a:rPr lang="en-US" sz="36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dynamic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content</a:t>
            </a:r>
            <a:r>
              <a:rPr lang="en-US" sz="36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pages</a:t>
            </a:r>
            <a:r>
              <a:rPr lang="en-US" sz="36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6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600" dirty="0"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applications?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44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Solution</a:t>
            </a:r>
            <a:endParaRPr lang="en-US" sz="44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4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Using</a:t>
            </a:r>
            <a:r>
              <a:rPr lang="en-US" sz="4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4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Side</a:t>
            </a:r>
            <a:r>
              <a:rPr lang="en-US" sz="4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Programs</a:t>
            </a:r>
            <a:endParaRPr lang="en-US" sz="4000" dirty="0">
              <a:latin typeface="Book Antiqua" panose="02040602050305030304" pitchFamily="18" charset="0"/>
              <a:cs typeface="Constantia"/>
            </a:endParaRPr>
          </a:p>
          <a:p>
            <a:pPr marL="16129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3535" algn="l"/>
              </a:tabLst>
            </a:pP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Common</a:t>
            </a:r>
            <a:r>
              <a:rPr lang="en-US" sz="32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Gateway</a:t>
            </a:r>
            <a:r>
              <a:rPr lang="en-US" sz="3200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Interface</a:t>
            </a:r>
            <a:r>
              <a:rPr lang="en-US" sz="3200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(CGI)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20701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2070735" algn="l"/>
              </a:tabLst>
            </a:pP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sing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amm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langua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6129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3535" algn="l"/>
              </a:tabLst>
            </a:pP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200" spc="-1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Side</a:t>
            </a:r>
            <a:r>
              <a:rPr lang="en-US" sz="32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32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Languages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20701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2070735" algn="l"/>
              </a:tabLst>
            </a:pPr>
            <a:r>
              <a:rPr lang="en-US" sz="32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asp(active server pages,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jsp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(java server pages)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…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9983E80-3530-4EFE-5188-B8AB5CF7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9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22513-275E-2981-DCFD-5CAD4C4A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2066D-3EB9-D435-5809-BD864DE8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11902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Introduction to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CGI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56003-E48E-7A79-8AD5-905D84941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29994"/>
            <a:ext cx="11826240" cy="5916104"/>
          </a:xfrm>
        </p:spPr>
        <p:txBody>
          <a:bodyPr>
            <a:normAutofit fontScale="92500" lnSpcReduction="10000"/>
          </a:bodyPr>
          <a:lstStyle/>
          <a:p>
            <a:pPr marL="338328" marR="5080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5700" algn="l"/>
                <a:tab pos="1156335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order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deliver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dynamic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content,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need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extend the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abilities of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 so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 do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more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than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merely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send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static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 pages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response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client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requests.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common</a:t>
            </a:r>
            <a:r>
              <a:rPr lang="en-US" sz="3200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gateway</a:t>
            </a:r>
            <a:r>
              <a:rPr lang="en-US" sz="3200" spc="-5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interface</a:t>
            </a:r>
            <a:r>
              <a:rPr lang="en-US" sz="3200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(CGI)</a:t>
            </a:r>
            <a:r>
              <a:rPr lang="en-US" sz="32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provides </a:t>
            </a:r>
            <a:r>
              <a:rPr lang="en-US" sz="3200" spc="-409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mechanism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Common</a:t>
            </a:r>
            <a:r>
              <a:rPr lang="en-US" sz="3600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Gateway</a:t>
            </a:r>
            <a:r>
              <a:rPr lang="en-US" sz="36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Interface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38328" marR="46355" lvl="1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5700" algn="l"/>
                <a:tab pos="115633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standard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environment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web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servers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interface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executable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programs</a:t>
            </a:r>
            <a:r>
              <a:rPr lang="en-US" sz="3200" spc="-5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installed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generate</a:t>
            </a:r>
            <a:r>
              <a:rPr lang="en-US" sz="3200" spc="-1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200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pages</a:t>
            </a:r>
            <a:r>
              <a:rPr lang="en-US" sz="3200" spc="-9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dynamically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200" spc="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Such </a:t>
            </a:r>
            <a:r>
              <a:rPr lang="en-US" sz="3200" spc="-409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og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ams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kn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wn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GI</a:t>
            </a:r>
            <a:r>
              <a:rPr lang="en-US" sz="3200" spc="-5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ip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ts</a:t>
            </a:r>
            <a:r>
              <a:rPr lang="en-US" sz="32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im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pl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38328" marR="173990" lvl="1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5700" algn="l"/>
                <a:tab pos="1156335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written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any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language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allows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executed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(e.g.,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C/C++,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Fortran,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PERL,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TCL,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Visual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Basic,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AppleScript,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Python,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 </a:t>
            </a:r>
            <a:r>
              <a:rPr lang="en-US" sz="3200" spc="-409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Unix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shells),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but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by 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far,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most common language for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scripting is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PERL,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followed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by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C/C++.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7226D5-708D-6008-6922-CE8042F5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69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6FAC-B094-83A7-C8BF-1FC1D3CC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01789-CAB7-1C96-5873-94799D623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How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CGI</a:t>
            </a:r>
            <a:r>
              <a:rPr lang="en-US" sz="5000" b="1" dirty="0">
                <a:latin typeface="Book Antiqua" panose="02040602050305030304" pitchFamily="18" charset="0"/>
              </a:rPr>
              <a:t>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D648B-BEF6-2C9B-E10C-7DFABE513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56604"/>
            <a:ext cx="11826240" cy="5655212"/>
          </a:xfrm>
        </p:spPr>
        <p:txBody>
          <a:bodyPr>
            <a:normAutofit fontScale="92500" lnSpcReduction="10000"/>
          </a:bodyPr>
          <a:lstStyle/>
          <a:p>
            <a:pPr marL="527685" marR="16510" indent="-515620">
              <a:lnSpc>
                <a:spcPct val="120000"/>
              </a:lnSpc>
              <a:spcBef>
                <a:spcPts val="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When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serving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static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pages,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normally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asked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3200" spc="-5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 has a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2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htm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.html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extension. If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wish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 a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dynamic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page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extension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would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be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different,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example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2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,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299085" indent="0">
              <a:lnSpc>
                <a:spcPct val="120000"/>
              </a:lnSpc>
              <a:spcBef>
                <a:spcPts val="0"/>
              </a:spcBef>
              <a:buNone/>
              <a:tabLst>
                <a:tab pos="1352550" algn="l"/>
              </a:tabLst>
            </a:pP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 .pl,</a:t>
            </a:r>
            <a:r>
              <a:rPr lang="en-US" sz="32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or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200" spc="-1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200" spc="-1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jsp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.asp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527685" marR="5080" indent="-515620">
              <a:lnSpc>
                <a:spcPct val="120000"/>
              </a:lnSpc>
              <a:spcBef>
                <a:spcPts val="0"/>
              </a:spcBef>
              <a:buAutoNum type="arabicPeriod" startAt="2"/>
              <a:tabLst>
                <a:tab pos="527685" algn="l"/>
                <a:tab pos="5283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request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comes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these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extensions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 </a:t>
            </a:r>
            <a:r>
              <a:rPr lang="en-US" sz="3200" spc="-5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knows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pass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request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which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then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interprets it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correctly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executes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 the particular scripting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language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527685" marR="229870" indent="-515620">
              <a:lnSpc>
                <a:spcPct val="120000"/>
              </a:lnSpc>
              <a:spcBef>
                <a:spcPts val="0"/>
              </a:spcBef>
              <a:buAutoNum type="arabicPeriod" startAt="2"/>
              <a:tabLst>
                <a:tab pos="527685" algn="l"/>
                <a:tab pos="528320" algn="l"/>
              </a:tabLst>
            </a:pP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Once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finished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executing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then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passes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5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back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delivered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 a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response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client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request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4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789AD4-8CEB-6645-327A-5375861E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189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59D8-81BE-8108-FEAB-090B9918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30F0-73A0-2BC9-5733-778ED422C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How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CGI</a:t>
            </a:r>
            <a:r>
              <a:rPr lang="en-US" sz="5000" b="1" dirty="0">
                <a:latin typeface="Book Antiqua" panose="02040602050305030304" pitchFamily="18" charset="0"/>
              </a:rPr>
              <a:t> Works?</a:t>
            </a: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9412E7F7-4BF4-F580-9D79-E0471481ED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487" y="1210959"/>
            <a:ext cx="11826240" cy="4275438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3148301-B002-61C2-BB1D-C02C9B08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28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67C2-7AFA-9AB4-FEC6-AA39DF3FF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DF22-D8D5-76E6-80C4-52030BEB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Introduction to CGI…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E47F-8767-D830-4614-1CC3BC8BD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69142"/>
            <a:ext cx="11826240" cy="5542673"/>
          </a:xfrm>
        </p:spPr>
        <p:txBody>
          <a:bodyPr>
            <a:normAutofit/>
          </a:bodyPr>
          <a:lstStyle/>
          <a:p>
            <a:pPr marL="338328" marR="715010" indent="-34290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</a:t>
            </a:r>
            <a:r>
              <a:rPr lang="en-US" sz="3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programs</a:t>
            </a:r>
            <a:r>
              <a:rPr lang="en-US" sz="3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could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6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html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document, </a:t>
            </a:r>
            <a:r>
              <a:rPr lang="en-US" sz="3600" spc="-6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image,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…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38328" marR="5080" indent="-34290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Most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servers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expect 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programs </a:t>
            </a:r>
            <a:r>
              <a:rPr lang="en-US" sz="3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reside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 a special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directory,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usually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called </a:t>
            </a:r>
            <a:r>
              <a:rPr lang="en-US" sz="36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6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-bin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 and/or </a:t>
            </a:r>
            <a:r>
              <a:rPr lang="en-US" sz="3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have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certain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6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extension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like </a:t>
            </a:r>
            <a:r>
              <a:rPr lang="en-US" sz="36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6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6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600" spc="-5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</a:t>
            </a:r>
            <a:r>
              <a:rPr lang="en-US" sz="3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knows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 </a:t>
            </a:r>
            <a:r>
              <a:rPr lang="en-US" sz="3600" spc="-6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rather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than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simply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serving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</a:t>
            </a:r>
            <a:r>
              <a:rPr lang="en-US" sz="36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raw</a:t>
            </a:r>
            <a:r>
              <a:rPr lang="en-US" sz="36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38328" marR="1095375" indent="-34290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programs</a:t>
            </a:r>
            <a:r>
              <a:rPr lang="en-US" sz="36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communicate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using </a:t>
            </a:r>
            <a:r>
              <a:rPr lang="en-US" sz="3600" spc="-6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STDIN/STDOUT</a:t>
            </a:r>
            <a:r>
              <a:rPr lang="en-US" sz="36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environment</a:t>
            </a:r>
            <a:r>
              <a:rPr lang="en-US" sz="3600" spc="-1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1A0D9EE-0A14-2C97-1F01-366611A7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16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63512-E302-037F-040F-6A36EC82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643A-8619-D8C1-9EC6-77213382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36236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Creating a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CGI</a:t>
            </a:r>
            <a:r>
              <a:rPr lang="en-US" sz="5000" b="1" dirty="0">
                <a:latin typeface="Book Antiqua" panose="02040602050305030304" pitchFamily="18" charset="0"/>
              </a:rPr>
              <a:t>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B51A-605F-3365-F272-48B6EB2A7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95000"/>
            <a:ext cx="11826240" cy="5542673"/>
          </a:xfrm>
        </p:spPr>
        <p:txBody>
          <a:bodyPr>
            <a:normAutofit fontScale="92500" lnSpcReduction="10000"/>
          </a:bodyPr>
          <a:lstStyle/>
          <a:p>
            <a:pPr marL="338328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43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What</a:t>
            </a:r>
            <a:r>
              <a:rPr lang="en-US" sz="43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</a:t>
            </a:r>
            <a:r>
              <a:rPr lang="en-US" sz="43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</a:t>
            </a:r>
            <a:r>
              <a:rPr lang="en-US" sz="43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need</a:t>
            </a:r>
            <a:r>
              <a:rPr lang="en-US" sz="43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43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</a:t>
            </a:r>
            <a:r>
              <a:rPr lang="en-US" sz="43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43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43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program?</a:t>
            </a:r>
            <a:endParaRPr lang="en-US" sz="4300" dirty="0">
              <a:latin typeface="Book Antiqua" panose="02040602050305030304" pitchFamily="18" charset="0"/>
              <a:cs typeface="Constantia"/>
            </a:endParaRPr>
          </a:p>
          <a:p>
            <a:pPr marL="338328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9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programming</a:t>
            </a:r>
            <a:r>
              <a:rPr lang="en-US" sz="39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language</a:t>
            </a:r>
            <a:endParaRPr lang="en-US" sz="3900" dirty="0">
              <a:latin typeface="Book Antiqua" panose="02040602050305030304" pitchFamily="18" charset="0"/>
              <a:cs typeface="Constantia"/>
            </a:endParaRPr>
          </a:p>
          <a:p>
            <a:pPr marL="338328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9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eb</a:t>
            </a:r>
            <a:r>
              <a:rPr lang="en-US" sz="39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9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9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9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900" spc="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igu</a:t>
            </a:r>
            <a:r>
              <a:rPr lang="en-US" sz="39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ed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9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GI</a:t>
            </a:r>
            <a:endParaRPr lang="en-US" sz="3900" dirty="0">
              <a:latin typeface="Book Antiqua" panose="02040602050305030304" pitchFamily="18" charset="0"/>
              <a:cs typeface="Constantia"/>
            </a:endParaRPr>
          </a:p>
          <a:p>
            <a:pPr marL="338328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9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9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9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machine</a:t>
            </a:r>
            <a:r>
              <a:rPr lang="en-US" sz="39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9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9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</a:t>
            </a:r>
            <a:r>
              <a:rPr lang="en-US" sz="39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9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</a:t>
            </a:r>
            <a:r>
              <a:rPr lang="en-US" sz="39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written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usin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9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9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9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og</a:t>
            </a:r>
            <a:r>
              <a:rPr lang="en-US" sz="39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9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9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9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language,</a:t>
            </a:r>
            <a:r>
              <a:rPr lang="en-US" sz="39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</a:t>
            </a:r>
            <a:r>
              <a:rPr lang="en-US" sz="39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endParaRPr lang="en-US" sz="3900" dirty="0">
              <a:latin typeface="Book Antiqua" panose="02040602050305030304" pitchFamily="18" charset="0"/>
              <a:cs typeface="Constantia"/>
            </a:endParaRPr>
          </a:p>
          <a:p>
            <a:pPr marL="338328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ri</a:t>
            </a:r>
            <a:r>
              <a:rPr lang="en-US" sz="39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9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our</a:t>
            </a:r>
            <a:r>
              <a:rPr lang="en-US" sz="39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</a:t>
            </a:r>
            <a:r>
              <a:rPr lang="en-US" sz="39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9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9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og</a:t>
            </a:r>
            <a:r>
              <a:rPr lang="en-US" sz="39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am</a:t>
            </a:r>
            <a:r>
              <a:rPr lang="en-US" sz="39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9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some</a:t>
            </a:r>
            <a:r>
              <a:rPr lang="en-US" sz="39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ext</a:t>
            </a:r>
            <a:r>
              <a:rPr lang="en-US" sz="39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ed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9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endParaRPr lang="en-US" sz="3900" dirty="0">
              <a:latin typeface="Book Antiqua" panose="02040602050305030304" pitchFamily="18" charset="0"/>
              <a:cs typeface="Constantia"/>
            </a:endParaRPr>
          </a:p>
          <a:p>
            <a:pPr marL="338328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Save</a:t>
            </a:r>
            <a:r>
              <a:rPr lang="en-US" sz="39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9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executable</a:t>
            </a:r>
            <a:r>
              <a:rPr lang="en-US" sz="39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</a:t>
            </a:r>
            <a:r>
              <a:rPr lang="en-US" sz="39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9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9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extension</a:t>
            </a:r>
            <a:r>
              <a:rPr lang="en-US" sz="39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900" spc="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9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9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9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900" spc="-5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directory</a:t>
            </a:r>
            <a:r>
              <a:rPr lang="en-US" sz="39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9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-bin</a:t>
            </a:r>
            <a:r>
              <a:rPr lang="en-US" sz="3900" spc="-9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which</a:t>
            </a:r>
            <a:r>
              <a:rPr lang="en-US" sz="39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tells</a:t>
            </a:r>
            <a:r>
              <a:rPr lang="en-US" sz="39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9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9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9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9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</a:t>
            </a:r>
            <a:r>
              <a:rPr lang="en-US" sz="39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9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39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</a:t>
            </a:r>
            <a:r>
              <a:rPr lang="en-US" sz="39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instead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before</a:t>
            </a:r>
            <a:r>
              <a:rPr lang="en-US" sz="39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sending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r>
              <a:rPr lang="en-US" sz="39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9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9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client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38328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44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E13F8F2-F83D-7F4D-A1AB-4AC4C285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236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C5BC8-DCE9-B9EA-775B-E60FB6CA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3F38-3B9A-4117-CA17-73558FF6D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1055714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>
                <a:latin typeface="Book Antiqua" panose="02040602050305030304" pitchFamily="18" charset="0"/>
              </a:rPr>
              <a:t>How to access data send from the client to the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D956D-FCC1-EB92-8EAC-30D879120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266092"/>
            <a:ext cx="11826240" cy="5345723"/>
          </a:xfrm>
        </p:spPr>
        <p:txBody>
          <a:bodyPr>
            <a:norm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44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44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uses</a:t>
            </a:r>
            <a:r>
              <a:rPr lang="en-US" sz="44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4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environment</a:t>
            </a:r>
            <a:r>
              <a:rPr lang="en-US" sz="4400" spc="-1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r>
              <a:rPr lang="en-US" sz="44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4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4400" spc="-1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send</a:t>
            </a:r>
            <a:endParaRPr lang="en-US" sz="4400" dirty="0">
              <a:latin typeface="Book Antiqua" panose="02040602050305030304" pitchFamily="18" charset="0"/>
              <a:cs typeface="Constantia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y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our</a:t>
            </a:r>
            <a:r>
              <a:rPr lang="en-US" sz="4400" spc="-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44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og</a:t>
            </a:r>
            <a:r>
              <a:rPr lang="en-US" sz="44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am</a:t>
            </a:r>
            <a:r>
              <a:rPr lang="en-US" sz="44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44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</a:t>
            </a:r>
            <a:r>
              <a:rPr lang="en-US" sz="44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ame</a:t>
            </a:r>
            <a:r>
              <a:rPr lang="en-US" sz="44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44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4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sz="44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920" algn="l"/>
              </a:tabLst>
            </a:pPr>
            <a:r>
              <a:rPr lang="en-US" sz="4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 </a:t>
            </a:r>
            <a:r>
              <a:rPr lang="en-US" sz="4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GET </a:t>
            </a:r>
            <a:r>
              <a:rPr lang="en-US" sz="4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submissions, </a:t>
            </a:r>
            <a:r>
              <a:rPr lang="en-US" sz="40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programs read </a:t>
            </a:r>
            <a:r>
              <a:rPr lang="en-US" sz="4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users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 input </a:t>
            </a:r>
            <a:r>
              <a:rPr lang="en-US" sz="4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 </a:t>
            </a:r>
            <a:r>
              <a:rPr lang="en-US" sz="4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4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environment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 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QUERY_STRING</a:t>
            </a:r>
            <a:r>
              <a:rPr lang="en-US" sz="4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4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POST</a:t>
            </a:r>
            <a:r>
              <a:rPr lang="en-US" sz="4000" spc="-1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submissions,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 </a:t>
            </a:r>
            <a:r>
              <a:rPr lang="en-US" sz="4000" spc="-6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STDIN</a:t>
            </a:r>
            <a:r>
              <a:rPr lang="en-US" sz="4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73BB6A9-5DFA-5840-3E96-E2E7EE12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74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24789-E161-A5B1-1D89-547661E8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655-15AC-FF92-DC8C-961BDDA7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Structure of CGI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B545E-97F1-0D41-2817-77396CD3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93856"/>
            <a:ext cx="11826240" cy="5542673"/>
          </a:xfrm>
        </p:spPr>
        <p:txBody>
          <a:bodyPr/>
          <a:lstStyle/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4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first</a:t>
            </a:r>
            <a:r>
              <a:rPr lang="en-US" sz="40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</a:t>
            </a:r>
            <a:r>
              <a:rPr lang="en-US" sz="4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4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40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</a:t>
            </a:r>
            <a:r>
              <a:rPr lang="en-US" sz="4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</a:t>
            </a:r>
            <a:r>
              <a:rPr lang="en-US" sz="4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should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4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4000" spc="-7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content</a:t>
            </a:r>
            <a:r>
              <a:rPr lang="en-US" sz="4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type</a:t>
            </a:r>
            <a:r>
              <a:rPr lang="en-US" sz="40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40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4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response</a:t>
            </a:r>
            <a:r>
              <a:rPr lang="en-US" sz="4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4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like</a:t>
            </a:r>
          </a:p>
          <a:p>
            <a:pPr marL="12700" marR="8255" indent="0">
              <a:lnSpc>
                <a:spcPct val="100000"/>
              </a:lnSpc>
              <a:spcBef>
                <a:spcPts val="0"/>
              </a:spcBef>
              <a:buNone/>
              <a:tabLst>
                <a:tab pos="354965" algn="l"/>
                <a:tab pos="355600" algn="l"/>
              </a:tabLst>
            </a:pPr>
            <a:r>
              <a:rPr lang="en-US" sz="4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  </a:t>
            </a:r>
            <a:r>
              <a:rPr lang="en-US" sz="4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4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Content-type:</a:t>
            </a:r>
            <a:r>
              <a:rPr lang="en-US" sz="4000" b="1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text/html”</a:t>
            </a:r>
            <a:endParaRPr lang="en-US" sz="4000" dirty="0">
              <a:latin typeface="Book Antiqua" panose="02040602050305030304" pitchFamily="18" charset="0"/>
              <a:cs typeface="Constantia"/>
            </a:endParaRPr>
          </a:p>
          <a:p>
            <a:pPr marL="355600" marR="149923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4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4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next</a:t>
            </a:r>
            <a:r>
              <a:rPr lang="en-US" sz="4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line</a:t>
            </a:r>
            <a:r>
              <a:rPr lang="en-US" sz="40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display</a:t>
            </a:r>
            <a:r>
              <a:rPr lang="en-US" sz="4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blank</a:t>
            </a:r>
            <a:r>
              <a:rPr lang="en-US" sz="4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line,</a:t>
            </a:r>
            <a:r>
              <a:rPr lang="en-US" sz="4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4000" spc="-7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STDOUT</a:t>
            </a:r>
            <a:endParaRPr lang="en-US" sz="4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Then</a:t>
            </a:r>
            <a:r>
              <a:rPr lang="en-US" sz="40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start</a:t>
            </a:r>
            <a:r>
              <a:rPr lang="en-US" sz="40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writing</a:t>
            </a:r>
            <a:r>
              <a:rPr lang="en-US" sz="4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your</a:t>
            </a:r>
            <a:r>
              <a:rPr lang="en-US" sz="4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instructions</a:t>
            </a:r>
            <a:endParaRPr lang="en-US" sz="40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Everything</a:t>
            </a:r>
            <a:r>
              <a:rPr lang="en-US" sz="3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6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should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6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included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response </a:t>
            </a:r>
            <a:r>
              <a:rPr lang="en-US" sz="3600" spc="-6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HTML</a:t>
            </a:r>
            <a:r>
              <a:rPr lang="en-US" sz="3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page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should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printed</a:t>
            </a:r>
            <a:r>
              <a:rPr lang="en-US" sz="3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6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STDOUT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282D8AA-7158-C9C2-20B2-84379C9D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344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2D784-28E6-8067-2086-3CC731647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717A8-74BC-518F-D17F-9752F01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36236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CGI program in C example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154C2-518C-13DC-F68F-87DDEA4B8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93856"/>
            <a:ext cx="11826240" cy="554267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#include</a:t>
            </a:r>
            <a:r>
              <a:rPr lang="en-US" spc="-8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</a:t>
            </a:r>
            <a:r>
              <a:rPr lang="en-US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stdio.h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&gt;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void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main()</a:t>
            </a:r>
            <a:r>
              <a:rPr lang="en-US" spc="-4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{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cout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&lt;&lt;"Content-type:</a:t>
            </a:r>
            <a:r>
              <a:rPr lang="en-US" spc="-6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text/html\n\n"</a:t>
            </a:r>
            <a:r>
              <a:rPr lang="en-US" spc="-7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355600" marR="50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/**Print</a:t>
            </a:r>
            <a:r>
              <a:rPr lang="en-US" spc="-5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the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HTML</a:t>
            </a:r>
            <a:r>
              <a:rPr lang="en-US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response</a:t>
            </a:r>
            <a:r>
              <a:rPr lang="en-US" spc="-3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page</a:t>
            </a: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to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STDOUT.</a:t>
            </a: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**/ </a:t>
            </a:r>
            <a:r>
              <a:rPr lang="en-US" spc="-108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cout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&lt;&lt;"&lt;html&gt;\n"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cout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&lt;&lt;"&lt;head&gt;&lt;title&gt;CGI</a:t>
            </a:r>
            <a:r>
              <a:rPr lang="en-US" spc="-6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Output&lt;/title&gt;&lt;/head&gt;\n"</a:t>
            </a:r>
            <a:r>
              <a:rPr lang="en-US" spc="-5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cout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&lt;&lt;"&lt;body&gt;\n"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628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cout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&lt;&lt;"&lt;h1&gt;Hello,</a:t>
            </a:r>
            <a:r>
              <a:rPr lang="en-US" spc="-7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world.&lt;/h1&gt;\n"</a:t>
            </a:r>
            <a:r>
              <a:rPr lang="en-US" spc="-7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62865" marR="441579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cout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&lt;&lt;"&lt;/body&gt;\n"</a:t>
            </a:r>
            <a:r>
              <a:rPr lang="en-US" spc="-1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; </a:t>
            </a:r>
            <a:r>
              <a:rPr lang="en-US" spc="-108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cout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&lt;&lt;"&lt;/html&gt;\n"</a:t>
            </a:r>
            <a:r>
              <a:rPr lang="en-US" spc="-1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exit(0)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}</a:t>
            </a:r>
            <a:endParaRPr lang="en-US" dirty="0">
              <a:latin typeface="Book Antiqua" panose="02040602050305030304" pitchFamily="18" charset="0"/>
              <a:cs typeface="Consola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CA8F2C9-D903-857C-0FDC-D86DB2A9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808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3C39-BD30-1235-3B05-BE6F4F4CB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9BAF-F4AF-DA24-AB4A-6A3EE8753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5563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CGI program in C example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8E23-13BB-E1FF-8998-0F12D8785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50899"/>
            <a:ext cx="11826240" cy="159991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&lt;form</a:t>
            </a:r>
            <a:r>
              <a:rPr lang="en-US" sz="2400" b="1" spc="8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action</a:t>
            </a: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  <a:hlinkClick r:id="rId2"/>
              </a:rPr>
              <a:t>="http://www.cs.tut.fi/c</a:t>
            </a: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gi</a:t>
            </a: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  <a:hlinkClick r:id="rId2"/>
              </a:rPr>
              <a:t>-bin/mult.cgi"&gt;</a:t>
            </a:r>
            <a:endParaRPr lang="en-US" sz="2400" dirty="0">
              <a:latin typeface="Book Antiqua" panose="02040602050305030304" pitchFamily="18" charset="0"/>
              <a:cs typeface="Consolas"/>
            </a:endParaRPr>
          </a:p>
          <a:p>
            <a:pPr marL="0" marR="43688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  Multiplicand </a:t>
            </a:r>
            <a:r>
              <a:rPr lang="en-US" sz="24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1: </a:t>
            </a: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&lt;input type=“text” name="m"&gt; </a:t>
            </a:r>
            <a:r>
              <a:rPr lang="en-US" sz="2400" b="1" spc="-86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0" marR="43688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  Multiplicand</a:t>
            </a:r>
            <a:r>
              <a:rPr lang="en-US" sz="24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4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2:</a:t>
            </a:r>
            <a:r>
              <a:rPr lang="en-US" sz="24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&lt;input</a:t>
            </a:r>
            <a:r>
              <a:rPr lang="en-US" sz="2400" b="1" spc="-1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type=“text”</a:t>
            </a:r>
            <a:r>
              <a:rPr lang="en-US" sz="2400" b="1" spc="-1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4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name="n"&gt;</a:t>
            </a:r>
            <a:endParaRPr lang="en-US" sz="2400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&lt;input</a:t>
            </a:r>
            <a:r>
              <a:rPr lang="en-US" sz="2400" b="1" spc="-4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4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type="submit"</a:t>
            </a:r>
            <a:r>
              <a:rPr lang="en-US" sz="2400" b="1" spc="-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4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value="Multiply!“&gt;</a:t>
            </a:r>
            <a:r>
              <a:rPr lang="en-US" sz="2400" b="1" spc="-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4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&lt;/form&gt;</a:t>
            </a:r>
            <a:endParaRPr lang="en-US" sz="2400" dirty="0">
              <a:latin typeface="Book Antiqua" panose="02040602050305030304" pitchFamily="18" charset="0"/>
              <a:cs typeface="Consola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17A0-ACD4-1D5B-2A6B-1330CEB2CF3E}"/>
              </a:ext>
            </a:extLst>
          </p:cNvPr>
          <p:cNvSpPr txBox="1"/>
          <p:nvPr/>
        </p:nvSpPr>
        <p:spPr>
          <a:xfrm>
            <a:off x="225080" y="2483418"/>
            <a:ext cx="11826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/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#include</a:t>
            </a:r>
            <a:r>
              <a:rPr lang="en-US" sz="2800" b="1" spc="-60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&lt;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stdio.h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&gt;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12700"/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#include</a:t>
            </a:r>
            <a:r>
              <a:rPr lang="en-US" sz="2800" b="1" spc="-50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&lt;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stdlib.h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&gt;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12700"/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int</a:t>
            </a:r>
            <a:r>
              <a:rPr lang="en-US" sz="2800" b="1" spc="-40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main(void)</a:t>
            </a:r>
            <a:r>
              <a:rPr lang="en-US" sz="2800" b="1" spc="-40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{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567055"/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char</a:t>
            </a:r>
            <a:r>
              <a:rPr lang="en-US" sz="2800" b="1" spc="-40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*data;</a:t>
            </a:r>
            <a:r>
              <a:rPr lang="en-US" sz="2800" b="1" spc="-2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long</a:t>
            </a:r>
            <a:r>
              <a:rPr lang="en-US" sz="2800" b="1" spc="-3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m,n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;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567055" marR="1004569"/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printf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("%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s%c%c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\n",</a:t>
            </a:r>
            <a:r>
              <a:rPr lang="en-US" sz="2800" b="1" spc="6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"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Content-Type:text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/html;”,13,10); </a:t>
            </a:r>
            <a:r>
              <a:rPr lang="en-US" sz="2800" b="1" spc="-86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printf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("&lt;TITLE&gt;Multiplication results&lt;/TITLE&gt;\n");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printf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("&lt;H3&gt;Multiplication</a:t>
            </a:r>
            <a:r>
              <a:rPr lang="en-US" sz="2800" b="1" spc="-4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results&lt;/H3&gt;\n");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567055"/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data</a:t>
            </a:r>
            <a:r>
              <a:rPr lang="en-US" sz="2800" b="1" spc="-2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= 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getenv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("QUERY_STRING");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567055"/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printf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("&lt;P&gt;The</a:t>
            </a:r>
            <a:r>
              <a:rPr lang="en-US" sz="2800" b="1" spc="-1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product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of</a:t>
            </a:r>
            <a:r>
              <a:rPr lang="en-US" sz="2800" b="1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%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ld</a:t>
            </a:r>
            <a:r>
              <a:rPr lang="en-US" sz="2800" b="1" spc="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and</a:t>
            </a:r>
            <a:r>
              <a:rPr lang="en-US" sz="2800" b="1" spc="-1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%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ld</a:t>
            </a:r>
            <a:r>
              <a:rPr lang="en-US" sz="2800" b="1" spc="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is</a:t>
            </a:r>
            <a:r>
              <a:rPr lang="en-US" sz="2800" b="1" spc="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%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ld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.",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m,n,m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*n); </a:t>
            </a:r>
            <a:r>
              <a:rPr lang="en-US" sz="2800" b="1" spc="-86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return</a:t>
            </a:r>
            <a:r>
              <a:rPr lang="en-US" sz="2800" b="1" spc="-30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0;</a:t>
            </a: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5" dirty="0">
                <a:latin typeface="Book Antiqua" panose="02040602050305030304" pitchFamily="18" charset="0"/>
                <a:cs typeface="Consolas"/>
              </a:rPr>
              <a:t>}</a:t>
            </a:r>
            <a:endParaRPr lang="en-US" sz="2400" dirty="0">
              <a:latin typeface="Book Antiqua" panose="02040602050305030304" pitchFamily="18" charset="0"/>
              <a:cs typeface="Consolas"/>
            </a:endParaRPr>
          </a:p>
        </p:txBody>
      </p:sp>
      <p:sp>
        <p:nvSpPr>
          <p:cNvPr id="6" name="object 16">
            <a:extLst>
              <a:ext uri="{FF2B5EF4-FFF2-40B4-BE49-F238E27FC236}">
                <a16:creationId xmlns:a16="http://schemas.microsoft.com/office/drawing/2014/main" id="{5BBF72A7-3ABE-4AE1-9E93-5106F121DC00}"/>
              </a:ext>
            </a:extLst>
          </p:cNvPr>
          <p:cNvSpPr txBox="1"/>
          <p:nvPr/>
        </p:nvSpPr>
        <p:spPr>
          <a:xfrm>
            <a:off x="8958654" y="2774076"/>
            <a:ext cx="2409568" cy="587339"/>
          </a:xfrm>
          <a:prstGeom prst="rect">
            <a:avLst/>
          </a:prstGeom>
          <a:ln w="25400">
            <a:solidFill>
              <a:srgbClr val="FDB809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mult.cgi</a:t>
            </a:r>
            <a:endParaRPr sz="3600" dirty="0">
              <a:latin typeface="Book Antiqua" panose="02040602050305030304" pitchFamily="18" charset="0"/>
              <a:cs typeface="Consolas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D77AC33-77F7-6325-6A1B-22846FEF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98554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649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26943-A80E-3604-B8E0-3F048C74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B578-40E4-7047-A46F-E048E2A0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Drawbacks of </a:t>
            </a:r>
            <a:r>
              <a:rPr lang="en-US" sz="5000" b="1" dirty="0" err="1">
                <a:solidFill>
                  <a:srgbClr val="FF0000"/>
                </a:solidFill>
                <a:latin typeface="Book Antiqua" panose="02040602050305030304" pitchFamily="18" charset="0"/>
              </a:rPr>
              <a:t>cgi</a:t>
            </a:r>
            <a:r>
              <a:rPr lang="en-US" sz="5000" b="1" dirty="0">
                <a:latin typeface="Book Antiqua" panose="02040602050305030304" pitchFamily="18" charset="0"/>
              </a:rPr>
              <a:t>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CD828-B580-4D57-ECC8-5D3EA2CBF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93856"/>
            <a:ext cx="11826240" cy="5542673"/>
          </a:xfrm>
        </p:spPr>
        <p:txBody>
          <a:bodyPr>
            <a:normAutofit/>
          </a:bodyPr>
          <a:lstStyle/>
          <a:p>
            <a:pPr marL="355600" indent="-34290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5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54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5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fundamental</a:t>
            </a:r>
            <a:r>
              <a:rPr lang="en-US" sz="54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54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architectural</a:t>
            </a:r>
            <a:r>
              <a:rPr lang="en-US" sz="5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issue</a:t>
            </a:r>
            <a:r>
              <a:rPr lang="en-US" sz="5400" spc="-1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5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 </a:t>
            </a:r>
            <a:r>
              <a:rPr lang="en-US" sz="54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CGI-BIN</a:t>
            </a:r>
            <a:r>
              <a:rPr lang="en-US" sz="54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5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based</a:t>
            </a:r>
            <a:r>
              <a:rPr lang="en-US" sz="54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54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systems</a:t>
            </a:r>
            <a:r>
              <a:rPr lang="en-US" sz="54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5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54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5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endParaRPr lang="en-US" sz="54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756920" algn="l"/>
              </a:tabLst>
            </a:pPr>
            <a:r>
              <a:rPr lang="en-US" sz="4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Each time a </a:t>
            </a:r>
            <a:r>
              <a:rPr lang="en-US" sz="48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CGI </a:t>
            </a:r>
            <a:r>
              <a:rPr lang="en-US" sz="4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 is </a:t>
            </a:r>
            <a:r>
              <a:rPr lang="en-US" sz="4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executed, </a:t>
            </a:r>
            <a:r>
              <a:rPr lang="en-US" sz="4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4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new </a:t>
            </a:r>
            <a:r>
              <a:rPr lang="en-US" sz="48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process</a:t>
            </a:r>
            <a:r>
              <a:rPr lang="en-US" sz="48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48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started.</a:t>
            </a:r>
            <a:r>
              <a:rPr lang="en-US" sz="48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48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busy</a:t>
            </a:r>
            <a:r>
              <a:rPr lang="en-US" sz="48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48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sites,</a:t>
            </a:r>
            <a:r>
              <a:rPr lang="en-US" sz="48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</a:t>
            </a:r>
            <a:r>
              <a:rPr lang="en-US" sz="48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 </a:t>
            </a:r>
            <a:r>
              <a:rPr lang="en-US" sz="4800" spc="-6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slow</a:t>
            </a:r>
            <a:r>
              <a:rPr lang="en-US" sz="48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down</a:t>
            </a:r>
            <a:r>
              <a:rPr lang="en-US" sz="48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48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48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noticeably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9182E21-8320-7E6B-B9F1-1A9E71D2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143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2FCC-4E2C-3361-8462-2C836B76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41E0-553F-F39B-01ED-A54E70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Server Slide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F74EE-1B73-DC2F-5AF3-0560AEA42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93856"/>
            <a:ext cx="11826240" cy="5542673"/>
          </a:xfrm>
        </p:spPr>
        <p:txBody>
          <a:bodyPr>
            <a:normAutofit fontScale="85000" lnSpcReduction="20000"/>
          </a:bodyPr>
          <a:lstStyle/>
          <a:p>
            <a:pPr marL="355600" marR="10160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  <a:tab pos="3814445" algn="l"/>
              </a:tabLst>
            </a:pPr>
            <a:r>
              <a:rPr lang="en-US" sz="43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Server-side</a:t>
            </a:r>
            <a:r>
              <a:rPr lang="en-US" sz="43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scripting</a:t>
            </a:r>
            <a:r>
              <a:rPr lang="en-US" sz="43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43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often</a:t>
            </a:r>
            <a:r>
              <a:rPr lang="en-US" sz="43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43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43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provide</a:t>
            </a:r>
            <a:r>
              <a:rPr lang="en-US" sz="43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4300" spc="-6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customized</a:t>
            </a:r>
            <a:r>
              <a:rPr lang="en-US" sz="43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interface</a:t>
            </a:r>
            <a:r>
              <a:rPr lang="en-US" sz="43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43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	</a:t>
            </a:r>
            <a:r>
              <a:rPr lang="en-US" sz="43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visitors</a:t>
            </a:r>
            <a:endParaRPr lang="en-US" sz="43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9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9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9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9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9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9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side</a:t>
            </a:r>
            <a:endParaRPr lang="en-US" sz="39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Source</a:t>
            </a:r>
            <a:r>
              <a:rPr lang="en-US" sz="39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39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9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hidden</a:t>
            </a:r>
            <a:r>
              <a:rPr lang="en-US" sz="39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</a:t>
            </a:r>
            <a:r>
              <a:rPr lang="en-US" sz="39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visitors</a:t>
            </a:r>
            <a:endParaRPr lang="en-US" sz="39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9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interact</a:t>
            </a:r>
            <a:r>
              <a:rPr lang="en-US" sz="39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9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database</a:t>
            </a:r>
            <a:r>
              <a:rPr lang="en-US" sz="39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9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other</a:t>
            </a:r>
            <a:r>
              <a:rPr lang="en-US" sz="39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39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sources</a:t>
            </a:r>
            <a:r>
              <a:rPr lang="en-US" sz="39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like</a:t>
            </a:r>
            <a:r>
              <a:rPr lang="en-US" sz="39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endParaRPr lang="en-US" sz="39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Examples</a:t>
            </a:r>
            <a:endParaRPr lang="en-US" sz="39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5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500" spc="-2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5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JS</a:t>
            </a:r>
            <a:r>
              <a:rPr lang="en-US" sz="3500" spc="-2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5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AS</a:t>
            </a:r>
            <a:r>
              <a:rPr lang="en-US" sz="3500" spc="-229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.net</a:t>
            </a:r>
            <a:r>
              <a:rPr lang="en-US" sz="35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…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756285" marR="153670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Programs</a:t>
            </a:r>
            <a:r>
              <a:rPr lang="en-US" sz="39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written</a:t>
            </a:r>
            <a:r>
              <a:rPr lang="en-US" sz="39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9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9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above</a:t>
            </a:r>
            <a:r>
              <a:rPr lang="en-US" sz="39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languages</a:t>
            </a:r>
            <a:r>
              <a:rPr lang="en-US" sz="39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don’t</a:t>
            </a:r>
            <a:r>
              <a:rPr lang="en-US" sz="39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require</a:t>
            </a:r>
            <a:r>
              <a:rPr lang="en-US" sz="39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900" spc="-5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spawn(generate)</a:t>
            </a:r>
            <a:r>
              <a:rPr lang="en-US" sz="39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9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new</a:t>
            </a:r>
            <a:r>
              <a:rPr lang="en-US" sz="39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process</a:t>
            </a:r>
            <a:r>
              <a:rPr lang="en-US" sz="39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every</a:t>
            </a:r>
            <a:r>
              <a:rPr lang="en-US" sz="39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time</a:t>
            </a:r>
            <a:r>
              <a:rPr lang="en-US" sz="39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9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page</a:t>
            </a:r>
            <a:r>
              <a:rPr lang="en-US" sz="39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9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9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requested</a:t>
            </a:r>
            <a:endParaRPr lang="en-US" sz="3900" dirty="0">
              <a:latin typeface="Book Antiqua" panose="02040602050305030304" pitchFamily="18" charset="0"/>
              <a:cs typeface="Constantia"/>
            </a:endParaRPr>
          </a:p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9121F64-546D-5AEC-C722-695099C2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592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6F32-26C3-1E12-2888-2F83E032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4FBE-3A2E-2F9A-EF00-C90EB3EA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Introduction to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2AC73-E1E6-560F-8B50-DFBEE82D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93856"/>
            <a:ext cx="11826240" cy="5542673"/>
          </a:xfrm>
        </p:spPr>
        <p:txBody>
          <a:bodyPr/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What</a:t>
            </a:r>
            <a:r>
              <a:rPr lang="en-US" sz="3200" spc="-1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PHP?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acronym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"PHP: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Hypertext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Preprocessor"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widely-used,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open-source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scripting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language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HP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wnl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ad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What</a:t>
            </a:r>
            <a:r>
              <a:rPr lang="en-US" sz="3200" spc="-9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0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File?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contain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text,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HTML,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CSS,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JavaScript,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PHP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code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executed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server,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result</a:t>
            </a:r>
            <a:r>
              <a:rPr lang="en-US" sz="32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returned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wser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lain</a:t>
            </a:r>
            <a:r>
              <a:rPr lang="en-US" sz="32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HT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HP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ile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ension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200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</a:t>
            </a:r>
            <a:endParaRPr lang="en-US" sz="2000" dirty="0">
              <a:latin typeface="Book Antiqua" panose="02040602050305030304" pitchFamily="18" charset="0"/>
              <a:cs typeface="Constantia"/>
            </a:endParaRPr>
          </a:p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E8D80ED-8C1C-EDCE-22B7-BC71C0CA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361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87748-1E1D-6FC2-5E68-FA514616A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8B8A-0E42-05CB-1FA7-83A5797CD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Introduction to PHP cont’d…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723E3-0618-E627-1B9F-A1BF17A1A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93856"/>
            <a:ext cx="11826240" cy="5542673"/>
          </a:xfrm>
        </p:spPr>
        <p:txBody>
          <a:bodyPr>
            <a:normAutofit fontScale="92500" lnSpcReduction="10000"/>
          </a:bodyPr>
          <a:lstStyle/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What</a:t>
            </a:r>
            <a:r>
              <a:rPr lang="en-US" sz="3000" spc="-9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0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0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Do?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HP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ene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amic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ent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create,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open,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read,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delete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files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process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HP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send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HP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add,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dele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e,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modi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our</a:t>
            </a:r>
            <a:r>
              <a:rPr lang="en-US" sz="30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database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control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user-access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(Session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Management)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encrypt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you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not limited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HTML. 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You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 output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images, PDF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files,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even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Flash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movies.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You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also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any </a:t>
            </a:r>
            <a:r>
              <a:rPr lang="en-US" sz="30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text,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such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XHTML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XML.</a:t>
            </a:r>
            <a:endParaRPr lang="en-US" sz="2000" dirty="0">
              <a:latin typeface="Book Antiqua" panose="02040602050305030304" pitchFamily="18" charset="0"/>
              <a:cs typeface="Constantia"/>
            </a:endParaRPr>
          </a:p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AD7AF9E-FFF3-1FB8-F497-BDDD7236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164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B3192-E90E-51E3-8076-038B6934D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037D-F005-C3DE-7958-62FAEE7A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Introduction to PHP cont’d…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724AE-F1BA-D1A3-454E-6686DBE88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40" y="942536"/>
            <a:ext cx="11930580" cy="5693994"/>
          </a:xfrm>
        </p:spPr>
        <p:txBody>
          <a:bodyPr>
            <a:normAutofit fontScale="92500" lnSpcReduction="20000"/>
          </a:bodyPr>
          <a:lstStyle/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5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Why</a:t>
            </a:r>
            <a:r>
              <a:rPr lang="en-US" sz="3500" spc="-1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PHP?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runs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various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platforms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(Windows,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Linux,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Unix,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Mac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OS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X,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etc.)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compatible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almost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today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(Apache,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IIS(Internet Information Service),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etc.)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HP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supports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wide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bases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free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HP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easy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lea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ef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ie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side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Setting</a:t>
            </a:r>
            <a:r>
              <a:rPr lang="en-US" sz="3500" spc="-6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Up</a:t>
            </a:r>
            <a:r>
              <a:rPr lang="en-US" sz="3500" spc="-8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Install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Install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Install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database,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such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MySQL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786D547-6785-4559-6CB3-3A93918B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926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4616A-906C-6B03-AA3F-78C15A2D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DBC8E-3BBE-516C-AB76-B0201E01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6D78F-66A7-7692-56A3-8D7333779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2" y="1093856"/>
            <a:ext cx="5870920" cy="5542673"/>
          </a:xfrm>
        </p:spPr>
        <p:txBody>
          <a:bodyPr>
            <a:normAutofit fontScale="77500" lnSpcReduction="20000"/>
          </a:bodyPr>
          <a:lstStyle/>
          <a:p>
            <a:pPr marL="12700" marR="8255" indent="0">
              <a:lnSpc>
                <a:spcPct val="120000"/>
              </a:lnSpc>
              <a:spcBef>
                <a:spcPts val="0"/>
              </a:spcBef>
              <a:buNone/>
              <a:tabLst>
                <a:tab pos="354965" algn="l"/>
                <a:tab pos="355600" algn="l"/>
              </a:tabLst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&lt;html&gt;</a:t>
            </a:r>
          </a:p>
          <a:p>
            <a:pPr marL="12700" marR="8255" indent="0">
              <a:lnSpc>
                <a:spcPct val="120000"/>
              </a:lnSpc>
              <a:spcBef>
                <a:spcPts val="0"/>
              </a:spcBef>
              <a:buNone/>
              <a:tabLst>
                <a:tab pos="354965" algn="l"/>
                <a:tab pos="355600" algn="l"/>
              </a:tabLst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&lt;title&gt;</a:t>
            </a:r>
            <a:r>
              <a:rPr lang="en-US" sz="3900" b="1" spc="-4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PHP</a:t>
            </a:r>
            <a:r>
              <a:rPr lang="en-US" sz="3900" b="1" spc="-4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Introduction &lt;/title&gt;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&lt;/head&gt;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&lt;body&gt;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   This</a:t>
            </a:r>
            <a:r>
              <a:rPr lang="en-US" sz="3900" b="1" spc="-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9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is</a:t>
            </a:r>
            <a:r>
              <a:rPr lang="en-US" sz="39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HTML! </a:t>
            </a:r>
            <a:r>
              <a:rPr lang="en-US" sz="39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</a:t>
            </a:r>
            <a:r>
              <a:rPr lang="en-US" sz="39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br</a:t>
            </a:r>
            <a:r>
              <a:rPr lang="en-US" sz="39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/&gt;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&lt;?</a:t>
            </a:r>
            <a:r>
              <a:rPr lang="en-US" sz="39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php</a:t>
            </a:r>
            <a:endParaRPr lang="en-US" sz="39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  echo</a:t>
            </a:r>
            <a:r>
              <a:rPr lang="en-US" sz="3900" b="1" spc="-3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'This</a:t>
            </a:r>
            <a:r>
              <a:rPr lang="en-US" sz="39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9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is</a:t>
            </a:r>
            <a:r>
              <a:rPr lang="en-US" sz="39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PHP!</a:t>
            </a:r>
            <a:r>
              <a:rPr lang="en-US" sz="39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&lt;</a:t>
            </a:r>
            <a:r>
              <a:rPr lang="en-US" sz="39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br</a:t>
            </a: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/&gt;’;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 ?&gt;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&lt;/body&gt;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9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&lt;/html&gt;</a:t>
            </a:r>
            <a:endParaRPr lang="en-US" sz="39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None/>
            </a:pPr>
            <a:endParaRPr lang="en-US" sz="2800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None/>
            </a:pPr>
            <a:endParaRPr lang="en-US" sz="2800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None/>
            </a:pPr>
            <a:endParaRPr lang="en-US" sz="2800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None/>
            </a:pPr>
            <a:endParaRPr lang="en-US" sz="2800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None/>
            </a:pPr>
            <a:endParaRPr lang="en-US" sz="2800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None/>
            </a:pPr>
            <a:endParaRPr lang="en-US" sz="2800" dirty="0">
              <a:latin typeface="Consolas"/>
              <a:cs typeface="Consolas"/>
            </a:endParaRPr>
          </a:p>
          <a:p>
            <a:pPr marL="12700" marR="8255" indent="0">
              <a:lnSpc>
                <a:spcPct val="100000"/>
              </a:lnSpc>
              <a:spcBef>
                <a:spcPts val="0"/>
              </a:spcBef>
              <a:buNone/>
              <a:tabLst>
                <a:tab pos="354965" algn="l"/>
                <a:tab pos="355600" algn="l"/>
              </a:tabLst>
            </a:pPr>
            <a:endParaRPr lang="en-US" sz="2800" dirty="0">
              <a:latin typeface="Consolas"/>
              <a:cs typeface="Consolas"/>
            </a:endParaRPr>
          </a:p>
          <a:p>
            <a:pPr marL="12700" marR="8255" indent="0">
              <a:lnSpc>
                <a:spcPct val="100000"/>
              </a:lnSpc>
              <a:spcBef>
                <a:spcPts val="0"/>
              </a:spcBef>
              <a:buNone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B8E16A3-D4C5-7115-9724-D8C9D344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CF7243-1478-056A-FD60-92DA57F9E1EC}"/>
              </a:ext>
            </a:extLst>
          </p:cNvPr>
          <p:cNvSpPr txBox="1">
            <a:spLocks/>
          </p:cNvSpPr>
          <p:nvPr/>
        </p:nvSpPr>
        <p:spPr>
          <a:xfrm>
            <a:off x="5938020" y="801404"/>
            <a:ext cx="6373428" cy="5542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8255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4965" algn="l"/>
                <a:tab pos="355600" algn="l"/>
              </a:tabLst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&lt;html&gt;</a:t>
            </a:r>
          </a:p>
          <a:p>
            <a:pPr marL="12700" marR="8255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4965" algn="l"/>
                <a:tab pos="355600" algn="l"/>
              </a:tabLst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&lt;title&gt;</a:t>
            </a:r>
            <a:r>
              <a:rPr lang="en-US" sz="3000" b="1" spc="-4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PHP</a:t>
            </a:r>
            <a:r>
              <a:rPr lang="en-US" sz="3000" b="1" spc="-4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Introduction &lt;/title&gt;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&lt;/head&gt;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&lt;body&gt;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   This</a:t>
            </a:r>
            <a:r>
              <a:rPr lang="en-US" sz="3000" b="1" spc="-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is</a:t>
            </a:r>
            <a:r>
              <a:rPr lang="en-US" sz="30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HTML!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</a:t>
            </a:r>
            <a:r>
              <a:rPr lang="en-US" sz="30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br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/&gt;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   This</a:t>
            </a:r>
            <a:r>
              <a:rPr lang="en-US" sz="3000" b="1" spc="-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is</a:t>
            </a:r>
            <a:r>
              <a:rPr lang="en-US" sz="30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HTML!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</a:t>
            </a:r>
            <a:r>
              <a:rPr lang="en-US" sz="30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br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/&gt; &lt;/body&gt;</a:t>
            </a:r>
          </a:p>
          <a:p>
            <a:pPr marL="12700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&lt;/html&gt;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Font typeface="Arial" panose="020B0604020202020204" pitchFamily="34" charset="0"/>
              <a:buNone/>
            </a:pPr>
            <a:endParaRPr lang="en-US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Font typeface="Arial" panose="020B0604020202020204" pitchFamily="34" charset="0"/>
              <a:buNone/>
            </a:pPr>
            <a:endParaRPr lang="en-US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Font typeface="Arial" panose="020B0604020202020204" pitchFamily="34" charset="0"/>
              <a:buNone/>
            </a:pPr>
            <a:endParaRPr lang="en-US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Font typeface="Arial" panose="020B0604020202020204" pitchFamily="34" charset="0"/>
              <a:buNone/>
            </a:pPr>
            <a:endParaRPr lang="en-US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Font typeface="Arial" panose="020B0604020202020204" pitchFamily="34" charset="0"/>
              <a:buNone/>
            </a:pPr>
            <a:endParaRPr lang="en-US" dirty="0">
              <a:latin typeface="Consolas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865"/>
              </a:spcBef>
              <a:buFont typeface="Arial" panose="020B0604020202020204" pitchFamily="34" charset="0"/>
              <a:buNone/>
            </a:pPr>
            <a:endParaRPr lang="en-US" dirty="0">
              <a:latin typeface="Consolas"/>
              <a:cs typeface="Consolas"/>
            </a:endParaRPr>
          </a:p>
          <a:p>
            <a:pPr marL="12700" marR="8255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4965" algn="l"/>
                <a:tab pos="355600" algn="l"/>
              </a:tabLst>
            </a:pPr>
            <a:endParaRPr lang="en-US" dirty="0">
              <a:latin typeface="Consolas"/>
              <a:cs typeface="Consolas"/>
            </a:endParaRPr>
          </a:p>
          <a:p>
            <a:pPr marL="12700" marR="8255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C68952-D61F-6155-544B-D1BA3A3EC22B}"/>
              </a:ext>
            </a:extLst>
          </p:cNvPr>
          <p:cNvSpPr txBox="1"/>
          <p:nvPr/>
        </p:nvSpPr>
        <p:spPr>
          <a:xfrm>
            <a:off x="2951207" y="5413348"/>
            <a:ext cx="8169870" cy="1410643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28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executed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8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server,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</a:p>
          <a:p>
            <a:pPr marL="12700">
              <a:spcBef>
                <a:spcPts val="100"/>
              </a:spcBef>
            </a:pP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8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plain</a:t>
            </a:r>
            <a:r>
              <a:rPr lang="en-US" sz="28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HTML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result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28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sent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back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2700">
              <a:spcBef>
                <a:spcPts val="100"/>
              </a:spcBef>
            </a:pP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</a:t>
            </a:r>
            <a:r>
              <a:rPr lang="en-US" sz="28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8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wser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</p:txBody>
      </p:sp>
      <p:sp>
        <p:nvSpPr>
          <p:cNvPr id="8" name="object 31">
            <a:extLst>
              <a:ext uri="{FF2B5EF4-FFF2-40B4-BE49-F238E27FC236}">
                <a16:creationId xmlns:a16="http://schemas.microsoft.com/office/drawing/2014/main" id="{E1FD3667-AC50-BE40-265B-60A5869BA2DA}"/>
              </a:ext>
            </a:extLst>
          </p:cNvPr>
          <p:cNvSpPr txBox="1"/>
          <p:nvPr/>
        </p:nvSpPr>
        <p:spPr>
          <a:xfrm>
            <a:off x="3210696" y="1093856"/>
            <a:ext cx="1781434" cy="461665"/>
          </a:xfrm>
          <a:prstGeom prst="rect">
            <a:avLst/>
          </a:prstGeom>
          <a:ln w="25400">
            <a:solidFill>
              <a:srgbClr val="FDB809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PHP</a:t>
            </a:r>
            <a:r>
              <a:rPr sz="2800" b="1" spc="-5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file</a:t>
            </a:r>
            <a:endParaRPr sz="2800" dirty="0">
              <a:latin typeface="Book Antiqua" panose="02040602050305030304" pitchFamily="18" charset="0"/>
              <a:cs typeface="Calibri"/>
            </a:endParaRPr>
          </a:p>
        </p:txBody>
      </p:sp>
      <p:sp>
        <p:nvSpPr>
          <p:cNvPr id="12" name="object 31">
            <a:extLst>
              <a:ext uri="{FF2B5EF4-FFF2-40B4-BE49-F238E27FC236}">
                <a16:creationId xmlns:a16="http://schemas.microsoft.com/office/drawing/2014/main" id="{1A8D4ED9-8E20-5286-A63B-BE274D157F6D}"/>
              </a:ext>
            </a:extLst>
          </p:cNvPr>
          <p:cNvSpPr txBox="1"/>
          <p:nvPr/>
        </p:nvSpPr>
        <p:spPr>
          <a:xfrm>
            <a:off x="7564406" y="826118"/>
            <a:ext cx="4402514" cy="461665"/>
          </a:xfrm>
          <a:prstGeom prst="rect">
            <a:avLst/>
          </a:prstGeom>
          <a:ln w="25400">
            <a:solidFill>
              <a:srgbClr val="FDB809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lang="en-US" sz="28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Output: resulting HTML</a:t>
            </a:r>
            <a:endParaRPr sz="2800" dirty="0">
              <a:latin typeface="Book Antiqua" panose="02040602050305030304" pitchFamily="18" charset="0"/>
              <a:cs typeface="Calibri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7E9E8B-5B3B-460E-5A58-A1F88DC011CA}"/>
              </a:ext>
            </a:extLst>
          </p:cNvPr>
          <p:cNvCxnSpPr/>
          <p:nvPr/>
        </p:nvCxnSpPr>
        <p:spPr>
          <a:xfrm>
            <a:off x="5938020" y="801404"/>
            <a:ext cx="0" cy="4611944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9A39F39-DAA3-4E66-249D-DCCCA868CC3E}"/>
                  </a:ext>
                </a:extLst>
              </p14:cNvPr>
              <p14:cNvContentPartPr/>
              <p14:nvPr/>
            </p14:nvContentPartPr>
            <p14:xfrm>
              <a:off x="13096634" y="1757658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9A39F39-DAA3-4E66-249D-DCCCA868CC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87994" y="1704018"/>
                <a:ext cx="1800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8414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2774B-7A86-2C8B-6CCD-1EC7E8E2D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6680-67C3-6E10-CA12-942743B8E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Introduction to PHP cont’d…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4DE4E-3870-E726-0385-14CD2B97F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93856"/>
            <a:ext cx="11826240" cy="5542673"/>
          </a:xfrm>
        </p:spPr>
        <p:txBody>
          <a:bodyPr>
            <a:normAutofit fontScale="92500" lnSpcReduction="20000"/>
          </a:bodyPr>
          <a:lstStyle/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5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Basic</a:t>
            </a:r>
            <a:r>
              <a:rPr lang="en-US" sz="3500" spc="-8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5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5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5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35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5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5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placed</a:t>
            </a:r>
            <a:r>
              <a:rPr lang="en-US" sz="35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anywhere</a:t>
            </a:r>
            <a:r>
              <a:rPr lang="en-US" sz="35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5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5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document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5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5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35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starts</a:t>
            </a:r>
            <a:r>
              <a:rPr lang="en-US" sz="35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5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&lt;?</a:t>
            </a:r>
            <a:r>
              <a:rPr lang="en-US" sz="350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500" spc="-9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5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ends</a:t>
            </a:r>
            <a:r>
              <a:rPr lang="en-US" sz="35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5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?&gt;: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5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HP</a:t>
            </a:r>
            <a:r>
              <a:rPr lang="en-US" sz="35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sta</a:t>
            </a:r>
            <a:r>
              <a:rPr lang="en-US" sz="35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5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5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5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500" spc="-1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5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5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5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5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5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5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500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olon</a:t>
            </a:r>
            <a:r>
              <a:rPr lang="en-US" sz="35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(;)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5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Comments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//</a:t>
            </a:r>
            <a:r>
              <a:rPr lang="en-US" sz="35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</a:t>
            </a:r>
            <a:r>
              <a:rPr lang="en-US" sz="35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5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5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single-line</a:t>
            </a:r>
            <a:r>
              <a:rPr lang="en-US" sz="35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comment</a:t>
            </a:r>
            <a:endParaRPr lang="en-US" sz="3500" spc="-5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5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#</a:t>
            </a:r>
            <a:r>
              <a:rPr lang="en-US" sz="3500" spc="-6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</a:t>
            </a:r>
            <a:r>
              <a:rPr lang="en-US" sz="35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5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also</a:t>
            </a:r>
            <a:r>
              <a:rPr lang="en-US" sz="35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5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single-line</a:t>
            </a:r>
            <a:r>
              <a:rPr lang="en-US" sz="35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comment</a:t>
            </a: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/*</a:t>
            </a:r>
            <a:r>
              <a:rPr lang="en-US" sz="35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multi</a:t>
            </a:r>
            <a:r>
              <a:rPr lang="en-US" sz="35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line</a:t>
            </a:r>
            <a:r>
              <a:rPr lang="en-US" sz="35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comment</a:t>
            </a:r>
            <a:r>
              <a:rPr lang="en-US" sz="35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*/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5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5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5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case</a:t>
            </a:r>
            <a:r>
              <a:rPr lang="en-US" sz="3500" spc="-1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sensitive (variables not PHP keywords, functions, class names, class functions)</a:t>
            </a:r>
            <a:endParaRPr lang="en-US" sz="35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5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5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5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whitespace</a:t>
            </a:r>
            <a:r>
              <a:rPr lang="en-US" sz="35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5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insensitive</a:t>
            </a:r>
            <a:endParaRPr lang="en-US" sz="2200" dirty="0">
              <a:latin typeface="Book Antiqua" panose="02040602050305030304" pitchFamily="18" charset="0"/>
              <a:cs typeface="Constantia"/>
            </a:endParaRPr>
          </a:p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545E50C-FFC6-F774-7586-EBAE77D3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1E3D06-50F8-97AD-1A81-F2DCB6F92E6A}"/>
              </a:ext>
            </a:extLst>
          </p:cNvPr>
          <p:cNvGrpSpPr/>
          <p:nvPr/>
        </p:nvGrpSpPr>
        <p:grpSpPr>
          <a:xfrm>
            <a:off x="444892" y="641569"/>
            <a:ext cx="360" cy="360"/>
            <a:chOff x="444892" y="641569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0E7DE85-14D1-404C-1BC9-7D98D72694A5}"/>
                    </a:ext>
                  </a:extLst>
                </p14:cNvPr>
                <p14:cNvContentPartPr/>
                <p14:nvPr/>
              </p14:nvContentPartPr>
              <p14:xfrm>
                <a:off x="444892" y="641569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0E7DE85-14D1-404C-1BC9-7D98D72694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5892" y="587929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53DEB87-43BC-2CDC-54FB-5BB6673B0AA4}"/>
                    </a:ext>
                  </a:extLst>
                </p14:cNvPr>
                <p14:cNvContentPartPr/>
                <p14:nvPr/>
              </p14:nvContentPartPr>
              <p14:xfrm>
                <a:off x="444892" y="641569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53DEB87-43BC-2CDC-54FB-5BB6673B0A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5892" y="587929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BBD95A4-B563-9394-238A-06D4C84C7046}"/>
                  </a:ext>
                </a:extLst>
              </p14:cNvPr>
              <p14:cNvContentPartPr/>
              <p14:nvPr/>
            </p14:nvContentPartPr>
            <p14:xfrm>
              <a:off x="1012612" y="-1655951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BBD95A4-B563-9394-238A-06D4C84C70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3972" y="-1709951"/>
                <a:ext cx="1800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FD6C3E8-06A8-A722-E3C0-17C5293395EA}"/>
              </a:ext>
            </a:extLst>
          </p:cNvPr>
          <p:cNvGrpSpPr/>
          <p:nvPr/>
        </p:nvGrpSpPr>
        <p:grpSpPr>
          <a:xfrm>
            <a:off x="13265474" y="1603108"/>
            <a:ext cx="99000" cy="71280"/>
            <a:chOff x="13265474" y="1603108"/>
            <a:chExt cx="99000" cy="712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C412AA-3104-47CB-996D-ED6E3E14379D}"/>
                    </a:ext>
                  </a:extLst>
                </p14:cNvPr>
                <p14:cNvContentPartPr/>
                <p14:nvPr/>
              </p14:nvContentPartPr>
              <p14:xfrm>
                <a:off x="13364114" y="1603108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C412AA-3104-47CB-996D-ED6E3E1437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355474" y="154946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CAAF27A-445D-B8D0-9A40-320799E7CE6F}"/>
                    </a:ext>
                  </a:extLst>
                </p14:cNvPr>
                <p14:cNvContentPartPr/>
                <p14:nvPr/>
              </p14:nvContentPartPr>
              <p14:xfrm>
                <a:off x="13364114" y="1603108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CAAF27A-445D-B8D0-9A40-320799E7CE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355474" y="154946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1EC297-A828-A08A-E096-010E40951B0A}"/>
                    </a:ext>
                  </a:extLst>
                </p14:cNvPr>
                <p14:cNvContentPartPr/>
                <p14:nvPr/>
              </p14:nvContentPartPr>
              <p14:xfrm>
                <a:off x="13265474" y="1674028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1EC297-A828-A08A-E096-010E40951B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256474" y="162002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80A585C-EF98-E894-557D-FC7BF686545E}"/>
              </a:ext>
            </a:extLst>
          </p:cNvPr>
          <p:cNvGrpSpPr/>
          <p:nvPr/>
        </p:nvGrpSpPr>
        <p:grpSpPr>
          <a:xfrm>
            <a:off x="5739314" y="2166148"/>
            <a:ext cx="360" cy="360"/>
            <a:chOff x="5739314" y="2166148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1262620-60A6-84A2-226F-DCCE0A9B0529}"/>
                    </a:ext>
                  </a:extLst>
                </p14:cNvPr>
                <p14:cNvContentPartPr/>
                <p14:nvPr/>
              </p14:nvContentPartPr>
              <p14:xfrm>
                <a:off x="5739314" y="2166148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1262620-60A6-84A2-226F-DCCE0A9B052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30314" y="211250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4C7223-6336-146E-A047-F9C238E472FE}"/>
                    </a:ext>
                  </a:extLst>
                </p14:cNvPr>
                <p14:cNvContentPartPr/>
                <p14:nvPr/>
              </p14:nvContentPartPr>
              <p14:xfrm>
                <a:off x="5739314" y="2166148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4C7223-6336-146E-A047-F9C238E472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30314" y="211250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3DF79CA-926C-7149-C031-1ECDDD3AA760}"/>
                    </a:ext>
                  </a:extLst>
                </p14:cNvPr>
                <p14:cNvContentPartPr/>
                <p14:nvPr/>
              </p14:nvContentPartPr>
              <p14:xfrm>
                <a:off x="5739314" y="2166148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DF79CA-926C-7149-C031-1ECDDD3AA76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30314" y="211250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18FD2F-0D38-A383-785E-FF9D42B6E984}"/>
              </a:ext>
            </a:extLst>
          </p:cNvPr>
          <p:cNvGrpSpPr/>
          <p:nvPr/>
        </p:nvGrpSpPr>
        <p:grpSpPr>
          <a:xfrm>
            <a:off x="642405" y="568070"/>
            <a:ext cx="4709" cy="106958"/>
            <a:chOff x="642405" y="568070"/>
            <a:chExt cx="4709" cy="106958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B5740A-A655-4171-0A43-92E519D4CAA5}"/>
                    </a:ext>
                  </a:extLst>
                </p14:cNvPr>
                <p14:cNvContentPartPr/>
                <p14:nvPr/>
              </p14:nvContentPartPr>
              <p14:xfrm>
                <a:off x="646754" y="674668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B5740A-A655-4171-0A43-92E519D4CA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7754" y="62102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93FE0CC-304E-AF6C-05B3-6FCD4136DCB4}"/>
                    </a:ext>
                  </a:extLst>
                </p14:cNvPr>
                <p14:cNvContentPartPr/>
                <p14:nvPr/>
              </p14:nvContentPartPr>
              <p14:xfrm>
                <a:off x="646754" y="674668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93FE0CC-304E-AF6C-05B3-6FCD4136DC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7754" y="62102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69DB47-A487-4DF0-4805-778CDD17E4D5}"/>
                    </a:ext>
                  </a:extLst>
                </p14:cNvPr>
                <p14:cNvContentPartPr/>
                <p14:nvPr/>
              </p14:nvContentPartPr>
              <p14:xfrm>
                <a:off x="646754" y="674668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69DB47-A487-4DF0-4805-778CDD17E4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7754" y="62102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918C9EE-CD4A-90BD-E070-DECE0D490053}"/>
                    </a:ext>
                  </a:extLst>
                </p14:cNvPr>
                <p14:cNvContentPartPr/>
                <p14:nvPr/>
              </p14:nvContentPartPr>
              <p14:xfrm>
                <a:off x="642405" y="56807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918C9EE-CD4A-90BD-E070-DECE0D4900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3405" y="51407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771920-A682-FB4A-F2F0-207A58CAFC1C}"/>
                    </a:ext>
                  </a:extLst>
                </p14:cNvPr>
                <p14:cNvContentPartPr/>
                <p14:nvPr/>
              </p14:nvContentPartPr>
              <p14:xfrm>
                <a:off x="642405" y="568070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771920-A682-FB4A-F2F0-207A58CAFC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3405" y="51407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A2A745-E0D3-D592-9784-3B13CD732A39}"/>
                    </a:ext>
                  </a:extLst>
                </p14:cNvPr>
                <p14:cNvContentPartPr/>
                <p14:nvPr/>
              </p14:nvContentPartPr>
              <p14:xfrm>
                <a:off x="642405" y="568070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A2A745-E0D3-D592-9784-3B13CD732A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3405" y="51407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9D8A55A-F60B-F045-E742-E50E3C99124B}"/>
                  </a:ext>
                </a:extLst>
              </p14:cNvPr>
              <p14:cNvContentPartPr/>
              <p14:nvPr/>
            </p14:nvContentPartPr>
            <p14:xfrm>
              <a:off x="1852725" y="-165601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9D8A55A-F60B-F045-E742-E50E3C99124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44085" y="-1709650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4A778F1-8C81-BCAC-7E44-672B2C5F63A8}"/>
                  </a:ext>
                </a:extLst>
              </p14:cNvPr>
              <p14:cNvContentPartPr/>
              <p14:nvPr/>
            </p14:nvContentPartPr>
            <p14:xfrm>
              <a:off x="5436885" y="-1359730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4A778F1-8C81-BCAC-7E44-672B2C5F63A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27885" y="-1413730"/>
                <a:ext cx="1800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64AE508-30DF-9D37-BE8A-43418D2C90EB}"/>
              </a:ext>
            </a:extLst>
          </p:cNvPr>
          <p:cNvGrpSpPr/>
          <p:nvPr/>
        </p:nvGrpSpPr>
        <p:grpSpPr>
          <a:xfrm>
            <a:off x="1507125" y="-445330"/>
            <a:ext cx="24840" cy="24480"/>
            <a:chOff x="1507125" y="-445330"/>
            <a:chExt cx="24840" cy="24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F53DE01-EF1A-03EC-1C98-C7DEF89856A9}"/>
                    </a:ext>
                  </a:extLst>
                </p14:cNvPr>
                <p14:cNvContentPartPr/>
                <p14:nvPr/>
              </p14:nvContentPartPr>
              <p14:xfrm>
                <a:off x="1507125" y="-430930"/>
                <a:ext cx="10080" cy="10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F53DE01-EF1A-03EC-1C98-C7DEF89856A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98485" y="-484570"/>
                  <a:ext cx="27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12D84FF-A1B0-265A-792F-C0B8A7418C47}"/>
                    </a:ext>
                  </a:extLst>
                </p14:cNvPr>
                <p14:cNvContentPartPr/>
                <p14:nvPr/>
              </p14:nvContentPartPr>
              <p14:xfrm>
                <a:off x="1531605" y="-445330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12D84FF-A1B0-265A-792F-C0B8A7418C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22605" y="-49933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DCBD533-76ED-4496-CF7F-E3B514D75FD6}"/>
              </a:ext>
            </a:extLst>
          </p:cNvPr>
          <p:cNvGrpSpPr/>
          <p:nvPr/>
        </p:nvGrpSpPr>
        <p:grpSpPr>
          <a:xfrm>
            <a:off x="2866485" y="3780350"/>
            <a:ext cx="2496240" cy="1211760"/>
            <a:chOff x="2866485" y="3780350"/>
            <a:chExt cx="2496240" cy="1211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444F949-F884-129E-015B-C84679DD62D5}"/>
                    </a:ext>
                  </a:extLst>
                </p14:cNvPr>
                <p14:cNvContentPartPr/>
                <p14:nvPr/>
              </p14:nvContentPartPr>
              <p14:xfrm>
                <a:off x="2866485" y="3819950"/>
                <a:ext cx="10080" cy="10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444F949-F884-129E-015B-C84679DD62D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57485" y="3766310"/>
                  <a:ext cx="27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395A5D-36A9-FF2B-106A-978C0610278B}"/>
                    </a:ext>
                  </a:extLst>
                </p14:cNvPr>
                <p14:cNvContentPartPr/>
                <p14:nvPr/>
              </p14:nvContentPartPr>
              <p14:xfrm>
                <a:off x="2890605" y="3780350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395A5D-36A9-FF2B-106A-978C0610278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81605" y="372635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20AD60E-E6D5-961A-62E6-8B3251A9A75C}"/>
                    </a:ext>
                  </a:extLst>
                </p14:cNvPr>
                <p14:cNvContentPartPr/>
                <p14:nvPr/>
              </p14:nvContentPartPr>
              <p14:xfrm>
                <a:off x="2890605" y="378035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20AD60E-E6D5-961A-62E6-8B3251A9A75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81605" y="372635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BCAD1E-F6BC-AECF-EF37-F15AC401F2B7}"/>
                    </a:ext>
                  </a:extLst>
                </p14:cNvPr>
                <p14:cNvContentPartPr/>
                <p14:nvPr/>
              </p14:nvContentPartPr>
              <p14:xfrm>
                <a:off x="5362005" y="4991750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BCAD1E-F6BC-AECF-EF37-F15AC401F2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53365" y="493775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28E6DF-B48D-CC14-61F5-A1EF338F330B}"/>
                    </a:ext>
                  </a:extLst>
                </p14:cNvPr>
                <p14:cNvContentPartPr/>
                <p14:nvPr/>
              </p14:nvContentPartPr>
              <p14:xfrm>
                <a:off x="5352645" y="4991750"/>
                <a:ext cx="1008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28E6DF-B48D-CC14-61F5-A1EF338F330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43645" y="4937750"/>
                  <a:ext cx="27720" cy="10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683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0CAC9-BCD2-5907-7044-A1DE55A7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3030-64B0-95BD-024B-C167DF6A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97834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D198F-8C1A-0409-C1A8-E26E0FE54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29996"/>
            <a:ext cx="11826240" cy="5862806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PHP,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starts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</a:t>
            </a:r>
            <a:r>
              <a:rPr lang="en-US" sz="32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sign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followed by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variable: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$txt</a:t>
            </a:r>
            <a:r>
              <a:rPr lang="en-US" sz="3200" b="1" spc="-4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200" b="1" spc="-3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"Hello</a:t>
            </a:r>
            <a:r>
              <a:rPr lang="en-US" sz="3200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world!";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$x</a:t>
            </a:r>
            <a:r>
              <a:rPr lang="en-US" sz="3200" b="1" spc="-5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200" b="1" spc="-5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5;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$y</a:t>
            </a:r>
            <a:r>
              <a:rPr lang="en-US" sz="3200" b="1" spc="-5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200" b="1" spc="-5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10.5;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355600" marR="60769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command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declaring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variable.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created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momen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irs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ass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ig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alue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marR="2984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only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contain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letter,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number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underscore</a:t>
            </a:r>
            <a:r>
              <a:rPr lang="en-US" sz="3200" spc="3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 </a:t>
            </a:r>
            <a:r>
              <a:rPr lang="en-US" sz="3200" spc="-48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ot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start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number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loosely-typed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language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nee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decla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type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yp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cha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ho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og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am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99E132-64A3-1C42-225F-29303CEA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564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C6A3-98E6-E12C-AA84-31B70DC3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24B0-4E0F-341F-778A-E7AC533A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971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Variables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F1B64-9ABF-7B5F-AA39-AAC079B9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6" y="758823"/>
            <a:ext cx="12063172" cy="5956648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three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different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scopes: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marR="188595" lvl="2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declared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outside</a:t>
            </a:r>
            <a:r>
              <a:rPr lang="en-US" sz="28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28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z="28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r>
              <a:rPr lang="en-US" sz="28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SCOPE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 </a:t>
            </a:r>
            <a:r>
              <a:rPr lang="en-US" sz="2800" spc="-459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only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28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accessed</a:t>
            </a:r>
            <a:r>
              <a:rPr lang="en-US" sz="28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outside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</a:t>
            </a:r>
            <a:r>
              <a:rPr lang="en-US" sz="28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28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8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28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ba</a:t>
            </a:r>
            <a:r>
              <a:rPr lang="en-US" sz="28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800" spc="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8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8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keyword</a:t>
            </a:r>
            <a:r>
              <a:rPr lang="en-US" sz="2800" spc="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to</a:t>
            </a:r>
            <a:r>
              <a:rPr lang="en-US" sz="28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access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within</a:t>
            </a:r>
            <a:r>
              <a:rPr lang="en-US" sz="28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function.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Local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declared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within</a:t>
            </a:r>
            <a:r>
              <a:rPr lang="en-US" sz="28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28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LOCAL</a:t>
            </a:r>
            <a:r>
              <a:rPr lang="en-US" sz="28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SCOPE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9271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  only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accessed</a:t>
            </a:r>
            <a:r>
              <a:rPr lang="en-US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within</a:t>
            </a:r>
            <a:r>
              <a:rPr lang="en-US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Static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When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28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28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completed/executed,</a:t>
            </a:r>
            <a:r>
              <a:rPr lang="en-US" sz="28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800" spc="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its</a:t>
            </a:r>
            <a:r>
              <a:rPr lang="en-US" sz="28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deleted. </a:t>
            </a:r>
            <a:r>
              <a:rPr lang="en-US" sz="2800" spc="-459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However,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sometimes</a:t>
            </a:r>
            <a:r>
              <a:rPr lang="en-US" sz="28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</a:t>
            </a:r>
            <a:r>
              <a:rPr lang="en-US" sz="28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want</a:t>
            </a:r>
            <a:r>
              <a:rPr lang="en-US" sz="28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local</a:t>
            </a:r>
            <a:r>
              <a:rPr lang="en-US" sz="28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z="28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NOT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deleted, Syntax: </a:t>
            </a:r>
            <a:r>
              <a:rPr lang="en-US" sz="28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static $x = 0;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6D64AF6-8E0E-6CEF-B0B5-9BDF441E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264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5ECB7-62A5-68DD-8844-7767AB8E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F98F-8C1B-BC6B-CF3C-CB59DE1FD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08" y="5563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Variables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5928A-32E7-FDC8-5777-FDCB41E6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14394"/>
            <a:ext cx="11826240" cy="572213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&lt;?</a:t>
            </a:r>
            <a:r>
              <a:rPr lang="en-US" sz="30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php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12700" marR="401891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  $x</a:t>
            </a:r>
            <a:r>
              <a:rPr lang="en-US" sz="3000" b="1" spc="-2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000" b="1" spc="-3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5;  </a:t>
            </a:r>
            <a:r>
              <a:rPr lang="en-US" sz="3000" b="1" spc="-2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//</a:t>
            </a:r>
            <a:r>
              <a:rPr lang="en-US" sz="3000" b="1" spc="-2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global scope </a:t>
            </a:r>
            <a:r>
              <a:rPr lang="en-US" sz="3000" b="1" spc="-97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12700" marR="401891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function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myTest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()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109728" marR="401891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{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25019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$y</a:t>
            </a:r>
            <a:r>
              <a:rPr lang="en-US" sz="3000" b="1" spc="-2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000" b="1" spc="-2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5;  </a:t>
            </a:r>
            <a:r>
              <a:rPr lang="en-US" sz="3000" b="1" spc="-2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//</a:t>
            </a:r>
            <a:r>
              <a:rPr lang="en-US" sz="3000" b="1" spc="-2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local scope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283845" marR="50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//</a:t>
            </a:r>
            <a:r>
              <a:rPr lang="en-US" sz="3000" b="1" spc="-1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using</a:t>
            </a:r>
            <a:r>
              <a:rPr lang="en-US" sz="3000" b="1" spc="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x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inside</a:t>
            </a:r>
            <a:r>
              <a:rPr lang="en-US" sz="3000" b="1" spc="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this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function</a:t>
            </a:r>
            <a:r>
              <a:rPr lang="en-US" sz="3000" b="1" spc="1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will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generate</a:t>
            </a:r>
            <a:r>
              <a:rPr lang="en-US" sz="3000" b="1" spc="1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an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error </a:t>
            </a:r>
            <a:r>
              <a:rPr lang="en-US" sz="3000" b="1" spc="-97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283845" marR="50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echo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"&lt;p&gt;Variable</a:t>
            </a:r>
            <a:r>
              <a:rPr lang="en-US" sz="3000" b="1" spc="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x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inside</a:t>
            </a:r>
            <a:r>
              <a:rPr lang="en-US" sz="3000" b="1" spc="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function</a:t>
            </a:r>
            <a:r>
              <a:rPr lang="en-US" sz="3000" b="1" spc="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is:</a:t>
            </a:r>
            <a:r>
              <a:rPr lang="en-US" sz="3000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$x&lt;/p&gt;"; </a:t>
            </a:r>
          </a:p>
          <a:p>
            <a:pPr marL="109728" marR="50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}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myTest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();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 echo</a:t>
            </a:r>
            <a:r>
              <a:rPr lang="en-US" sz="3000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"&lt;p&gt;Variable</a:t>
            </a:r>
            <a:r>
              <a:rPr lang="en-US" sz="3000" b="1" spc="3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x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outside</a:t>
            </a:r>
            <a:r>
              <a:rPr lang="en-US" sz="3000" b="1" spc="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function</a:t>
            </a:r>
            <a:r>
              <a:rPr lang="en-US" sz="3000" b="1" spc="2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is: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$x&lt;/p&gt;";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//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using</a:t>
            </a:r>
            <a:r>
              <a:rPr lang="en-US" sz="3000" b="1" spc="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y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outside</a:t>
            </a:r>
            <a:r>
              <a:rPr lang="en-US" sz="3000" b="1" spc="1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the function</a:t>
            </a:r>
            <a:r>
              <a:rPr lang="en-US" sz="3000" b="1" spc="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will</a:t>
            </a:r>
            <a:r>
              <a:rPr lang="en-US" sz="3000" b="1" spc="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generate</a:t>
            </a:r>
            <a:r>
              <a:rPr lang="en-US" sz="3000" b="1" spc="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an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error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 echo</a:t>
            </a:r>
            <a:r>
              <a:rPr lang="en-US" sz="3000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"&lt;p&gt;Variable</a:t>
            </a:r>
            <a:r>
              <a:rPr lang="en-US" sz="3000" b="1" spc="3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y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outside</a:t>
            </a:r>
            <a:r>
              <a:rPr lang="en-US" sz="3000" b="1" spc="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function</a:t>
            </a:r>
            <a:r>
              <a:rPr lang="en-US" sz="3000" b="1" spc="2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is: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$y&lt;/p&gt;";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?&gt;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4BDF3EA-F630-0245-5767-1AF44A80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99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C140-8653-1CB6-4F5A-AD4FDE31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0CFE-5708-14BA-07DE-F2B5CB2B7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Variables Example: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global</a:t>
            </a:r>
            <a:r>
              <a:rPr lang="en-US" sz="5000" b="1" dirty="0">
                <a:latin typeface="Book Antiqua" panose="02040602050305030304" pitchFamily="18" charset="0"/>
              </a:rPr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AD5B-7C5E-5E6F-DAFF-D0D8197A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93856"/>
            <a:ext cx="11826240" cy="554267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spcBef>
                <a:spcPts val="106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&lt;?</a:t>
            </a:r>
            <a:r>
              <a:rPr lang="en-US" sz="3200" b="1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php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$x</a:t>
            </a:r>
            <a:r>
              <a:rPr lang="en-US" sz="3200" b="1" spc="-5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200" b="1" spc="-4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5;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$y</a:t>
            </a:r>
            <a:r>
              <a:rPr lang="en-US" sz="3200" b="1" spc="-5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200" b="1" spc="-4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10;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function</a:t>
            </a:r>
            <a:r>
              <a:rPr lang="en-US" sz="3200" b="1" spc="-6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myTest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()</a:t>
            </a:r>
            <a:r>
              <a:rPr lang="en-US" sz="3200" b="1" spc="-5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12700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{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684530" indent="0">
              <a:lnSpc>
                <a:spcPct val="100000"/>
              </a:lnSpc>
              <a:spcBef>
                <a:spcPts val="965"/>
              </a:spcBef>
              <a:buNone/>
            </a:pP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global</a:t>
            </a:r>
            <a:r>
              <a:rPr lang="en-US" sz="3200" b="1" spc="-3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$x,</a:t>
            </a:r>
            <a:r>
              <a:rPr lang="en-US" sz="32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$y;</a:t>
            </a:r>
            <a:r>
              <a:rPr lang="en-US" sz="32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//</a:t>
            </a:r>
            <a:r>
              <a:rPr lang="en-US" sz="32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refers</a:t>
            </a:r>
            <a:r>
              <a:rPr lang="en-US" sz="3200" b="1" spc="-2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to</a:t>
            </a:r>
            <a:r>
              <a:rPr lang="en-US" sz="32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the</a:t>
            </a:r>
            <a:r>
              <a:rPr lang="en-US" sz="32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above</a:t>
            </a:r>
            <a:r>
              <a:rPr lang="en-US" sz="3200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variables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684530" indent="0">
              <a:lnSpc>
                <a:spcPct val="100000"/>
              </a:lnSpc>
              <a:spcBef>
                <a:spcPts val="144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$y</a:t>
            </a:r>
            <a:r>
              <a:rPr lang="en-US" sz="32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2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$x</a:t>
            </a:r>
            <a:r>
              <a:rPr lang="en-US" sz="32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+</a:t>
            </a:r>
            <a:r>
              <a:rPr lang="en-US" sz="32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$y;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  }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5"/>
              </a:spcBef>
              <a:buNone/>
            </a:pPr>
            <a:r>
              <a:rPr lang="en-US" sz="3200" b="1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myTest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();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echo</a:t>
            </a:r>
            <a:r>
              <a:rPr lang="en-US" sz="3200" b="1" spc="-4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$y;</a:t>
            </a:r>
            <a:r>
              <a:rPr lang="en-US"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//</a:t>
            </a:r>
            <a:r>
              <a:rPr lang="en-US" sz="32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outputs</a:t>
            </a:r>
            <a:r>
              <a:rPr lang="en-US" sz="3200" b="1" spc="-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15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?&gt;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2915F2A-41A7-BFC9-7A19-929B8A96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208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2B61-5BAC-298E-BCEE-2E2CD814F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9F03-283E-2072-D675-AF3695F98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5563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Variables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5B2DE-780E-14BB-7F7A-E316A3CEB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731520"/>
            <a:ext cx="11826240" cy="5989955"/>
          </a:xfrm>
        </p:spPr>
        <p:txBody>
          <a:bodyPr>
            <a:no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also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stores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global variables in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called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$GLOBALS[index]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 The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index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holds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variable.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also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accessible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 </a:t>
            </a:r>
            <a:r>
              <a:rPr lang="en-US" sz="3200" spc="-48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within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update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directly.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&lt;?</a:t>
            </a:r>
            <a:r>
              <a:rPr lang="en-US" sz="3200" b="1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php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$x</a:t>
            </a:r>
            <a:r>
              <a:rPr lang="en-US" sz="3200" b="1" spc="-5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200" b="1" spc="-4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5;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$y</a:t>
            </a:r>
            <a:r>
              <a:rPr lang="en-US" sz="3200" b="1" spc="-5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200" b="1" spc="-4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10;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function</a:t>
            </a:r>
            <a:r>
              <a:rPr lang="en-US" sz="3200" b="1" spc="-7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myTest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()</a:t>
            </a:r>
            <a:r>
              <a:rPr lang="en-US" sz="3200" b="1" spc="-5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{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6845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$GLOBALS['y']</a:t>
            </a:r>
            <a:r>
              <a:rPr lang="en-US" sz="3200" b="1" spc="-6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$GLOBALS['x']</a:t>
            </a:r>
            <a:r>
              <a:rPr lang="en-US" sz="3200" b="1" spc="-4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+</a:t>
            </a:r>
            <a:r>
              <a:rPr lang="en-US" sz="3200" b="1" spc="-1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$GLOBALS['y’]; }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myTest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();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echo</a:t>
            </a:r>
            <a:r>
              <a:rPr lang="en-US" sz="3200" b="1" spc="-4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$y;</a:t>
            </a:r>
            <a:r>
              <a:rPr lang="en-US"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//</a:t>
            </a:r>
            <a:r>
              <a:rPr lang="en-US" sz="32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outputs</a:t>
            </a:r>
            <a:r>
              <a:rPr lang="en-US" sz="3200" b="1" spc="-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15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?&gt;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C452DC0-CB35-631B-B7C2-F3CF1A2E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883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58A12-7A0D-2FC1-7E99-60C1A269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0A7C-EA04-245E-CE47-C4C0E96D7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-60612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9839C-8D15-203E-A400-A142B37BE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80" y="753730"/>
            <a:ext cx="11910640" cy="5999580"/>
          </a:xfrm>
        </p:spPr>
        <p:txBody>
          <a:bodyPr>
            <a:normAutofit fontScale="25000" lnSpcReduction="20000"/>
          </a:bodyPr>
          <a:lstStyle/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11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ari</a:t>
            </a:r>
            <a:r>
              <a:rPr lang="en-US" sz="11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ble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11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11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11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11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11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11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11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diffe</a:t>
            </a:r>
            <a:r>
              <a:rPr lang="en-US" sz="11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ent</a:t>
            </a:r>
            <a:r>
              <a:rPr lang="en-US" sz="11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ty</a:t>
            </a:r>
            <a:r>
              <a:rPr lang="en-US" sz="11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11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sz="11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11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11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supports</a:t>
            </a:r>
            <a:r>
              <a:rPr lang="en-US" sz="11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11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following</a:t>
            </a:r>
            <a:r>
              <a:rPr lang="en-US" sz="11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11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types:</a:t>
            </a:r>
            <a:endParaRPr lang="en-US" sz="11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</a:t>
            </a:r>
            <a:r>
              <a:rPr lang="en-US" sz="11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:</a:t>
            </a:r>
            <a:r>
              <a:rPr lang="en-US" sz="11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11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11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any</a:t>
            </a:r>
            <a:r>
              <a:rPr lang="en-US" sz="11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text</a:t>
            </a:r>
            <a:r>
              <a:rPr lang="en-US" sz="11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inside</a:t>
            </a:r>
            <a:r>
              <a:rPr lang="en-US" sz="11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quotes.</a:t>
            </a:r>
            <a:r>
              <a:rPr lang="en-US" sz="11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You</a:t>
            </a:r>
            <a:r>
              <a:rPr lang="en-US" sz="11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11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11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single</a:t>
            </a:r>
            <a:r>
              <a:rPr lang="en-US" sz="11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11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double</a:t>
            </a:r>
            <a:r>
              <a:rPr lang="en-US" sz="11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quotes:</a:t>
            </a:r>
            <a:endParaRPr lang="en-US" sz="11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11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Integer</a:t>
            </a:r>
            <a:r>
              <a:rPr lang="en-US" sz="11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:</a:t>
            </a:r>
            <a:r>
              <a:rPr lang="en-US" sz="11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b="1" spc="-10" dirty="0">
                <a:latin typeface="Book Antiqua" panose="02040602050305030304" pitchFamily="18" charset="0"/>
                <a:cs typeface="Consolas"/>
              </a:rPr>
              <a:t>$x=10;</a:t>
            </a:r>
            <a:endParaRPr lang="en-US" sz="11200" dirty="0">
              <a:latin typeface="Book Antiqua" panose="02040602050305030304" pitchFamily="18" charset="0"/>
              <a:cs typeface="Consolas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Float</a:t>
            </a:r>
            <a:r>
              <a:rPr lang="en-US" sz="11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(also</a:t>
            </a:r>
            <a:r>
              <a:rPr lang="en-US" sz="11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called</a:t>
            </a:r>
            <a:r>
              <a:rPr lang="en-US" sz="11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double):</a:t>
            </a:r>
            <a:r>
              <a:rPr lang="en-US" sz="11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b="1" spc="-10" dirty="0">
                <a:latin typeface="Book Antiqua" panose="02040602050305030304" pitchFamily="18" charset="0"/>
                <a:cs typeface="Consolas"/>
              </a:rPr>
              <a:t>$x=10.01;</a:t>
            </a:r>
            <a:endParaRPr lang="en-US" sz="11200" dirty="0">
              <a:latin typeface="Book Antiqua" panose="02040602050305030304" pitchFamily="18" charset="0"/>
              <a:cs typeface="Consolas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Boolean</a:t>
            </a:r>
            <a:r>
              <a:rPr lang="en-US" sz="11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b="1" spc="-10" dirty="0">
                <a:latin typeface="Book Antiqua" panose="02040602050305030304" pitchFamily="18" charset="0"/>
                <a:cs typeface="Consolas"/>
              </a:rPr>
              <a:t>$x=true;</a:t>
            </a:r>
            <a:endParaRPr lang="en-US" sz="11200" dirty="0">
              <a:latin typeface="Book Antiqua" panose="02040602050305030304" pitchFamily="18" charset="0"/>
              <a:cs typeface="Consolas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11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r>
              <a:rPr lang="en-US" sz="11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:</a:t>
            </a:r>
            <a:r>
              <a:rPr lang="en-US" sz="11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b="1" spc="-5" dirty="0">
                <a:latin typeface="Book Antiqua" panose="02040602050305030304" pitchFamily="18" charset="0"/>
                <a:cs typeface="Consolas"/>
              </a:rPr>
              <a:t>$cars</a:t>
            </a:r>
            <a:r>
              <a:rPr lang="en-US" sz="11200" b="1" spc="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11200" b="1" dirty="0">
                <a:latin typeface="Book Antiqua" panose="02040602050305030304" pitchFamily="18" charset="0"/>
                <a:cs typeface="Consolas"/>
              </a:rPr>
              <a:t>=</a:t>
            </a:r>
            <a:r>
              <a:rPr lang="en-US" sz="11200" b="1" spc="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11200" b="1" spc="-10" dirty="0">
                <a:latin typeface="Book Antiqua" panose="02040602050305030304" pitchFamily="18" charset="0"/>
                <a:cs typeface="Consolas"/>
              </a:rPr>
              <a:t>array("</a:t>
            </a:r>
            <a:r>
              <a:rPr lang="en-US" sz="11200" b="1" spc="-10" dirty="0" err="1">
                <a:latin typeface="Book Antiqua" panose="02040602050305030304" pitchFamily="18" charset="0"/>
                <a:cs typeface="Consolas"/>
              </a:rPr>
              <a:t>Volvo","BMW","Toyota</a:t>
            </a:r>
            <a:r>
              <a:rPr lang="en-US" sz="11200" b="1" spc="-10" dirty="0">
                <a:latin typeface="Book Antiqua" panose="02040602050305030304" pitchFamily="18" charset="0"/>
                <a:cs typeface="Consolas"/>
              </a:rPr>
              <a:t>");</a:t>
            </a:r>
            <a:endParaRPr lang="en-US" sz="11200" dirty="0">
              <a:latin typeface="Book Antiqua" panose="02040602050305030304" pitchFamily="18" charset="0"/>
              <a:cs typeface="Consolas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Object:</a:t>
            </a:r>
            <a:r>
              <a:rPr lang="en-US" sz="11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11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instances</a:t>
            </a:r>
            <a:r>
              <a:rPr lang="en-US" sz="11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112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programmer-defined</a:t>
            </a:r>
            <a:r>
              <a:rPr lang="en-US" sz="11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classes</a:t>
            </a:r>
            <a:endParaRPr lang="en-US" sz="11200" dirty="0">
              <a:latin typeface="Book Antiqua" panose="02040602050305030304" pitchFamily="18" charset="0"/>
              <a:cs typeface="Constantia"/>
            </a:endParaRPr>
          </a:p>
          <a:p>
            <a:pPr marL="756285" marR="76771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NULL:</a:t>
            </a:r>
            <a:r>
              <a:rPr lang="en-US" sz="11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11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z="11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data</a:t>
            </a:r>
            <a:r>
              <a:rPr lang="en-US" sz="11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type</a:t>
            </a:r>
            <a:r>
              <a:rPr lang="en-US" sz="11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NULL</a:t>
            </a:r>
            <a:r>
              <a:rPr lang="en-US" sz="11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11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11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z="11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11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z="11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</a:t>
            </a:r>
            <a:r>
              <a:rPr lang="en-US" sz="11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 </a:t>
            </a:r>
            <a:r>
              <a:rPr lang="en-US" sz="11200" spc="-4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assigned</a:t>
            </a:r>
            <a:r>
              <a:rPr lang="en-US" sz="11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11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it.</a:t>
            </a:r>
            <a:r>
              <a:rPr lang="en-US" sz="112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b="1" spc="-10" dirty="0">
                <a:latin typeface="Book Antiqua" panose="02040602050305030304" pitchFamily="18" charset="0"/>
                <a:cs typeface="Consolas"/>
              </a:rPr>
              <a:t>$x=null;</a:t>
            </a:r>
            <a:endParaRPr lang="en-US" sz="11200" dirty="0">
              <a:latin typeface="Book Antiqua" panose="02040602050305030304" pitchFamily="18" charset="0"/>
              <a:cs typeface="Consolas"/>
            </a:endParaRPr>
          </a:p>
          <a:p>
            <a:pPr marL="355600" marR="10922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11200" b="1" spc="-5" dirty="0" err="1">
                <a:latin typeface="Book Antiqua" panose="02040602050305030304" pitchFamily="18" charset="0"/>
                <a:cs typeface="Constantia"/>
              </a:rPr>
              <a:t>var_dump</a:t>
            </a:r>
            <a:r>
              <a:rPr lang="en-US" sz="11200" b="1" spc="-5" dirty="0"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11200" b="1" spc="-30" dirty="0"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11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11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11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11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11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identify</a:t>
            </a:r>
            <a:r>
              <a:rPr lang="en-US" sz="11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11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11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type</a:t>
            </a:r>
            <a:r>
              <a:rPr lang="en-US" sz="11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11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 </a:t>
            </a:r>
            <a:r>
              <a:rPr lang="en-US" sz="11200" spc="-48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11200" spc="4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11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endParaRPr lang="en-US" sz="11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11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Usage</a:t>
            </a:r>
            <a:r>
              <a:rPr lang="en-US" sz="11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:</a:t>
            </a:r>
            <a:r>
              <a:rPr lang="en-US" sz="11200" spc="4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11200" b="1" spc="-5" dirty="0" err="1">
                <a:latin typeface="Book Antiqua" panose="02040602050305030304" pitchFamily="18" charset="0"/>
                <a:cs typeface="Constantia"/>
              </a:rPr>
              <a:t>var_dump</a:t>
            </a:r>
            <a:r>
              <a:rPr lang="en-US" sz="11200" b="1" spc="-5" dirty="0">
                <a:latin typeface="Book Antiqua" panose="02040602050305030304" pitchFamily="18" charset="0"/>
                <a:cs typeface="Constantia"/>
              </a:rPr>
              <a:t>($x);</a:t>
            </a:r>
            <a:endParaRPr lang="en-US" sz="11200" dirty="0">
              <a:latin typeface="Book Antiqua" panose="02040602050305030304" pitchFamily="18" charset="0"/>
              <a:cs typeface="Constantia"/>
            </a:endParaRPr>
          </a:p>
          <a:p>
            <a:pPr marL="12700" marR="8255" indent="0">
              <a:lnSpc>
                <a:spcPct val="100000"/>
              </a:lnSpc>
              <a:spcBef>
                <a:spcPts val="0"/>
              </a:spcBef>
              <a:buNone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D65697D-733C-D6B9-666A-ECC7D43B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917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F7D8E-4347-90AE-D599-CA3E7EC0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CE4D7-B116-77DE-8A37-E64CA7B7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-287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26BF6-CAC1-23C5-D5A1-02D3124D6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590843"/>
            <a:ext cx="11826240" cy="6197459"/>
          </a:xfrm>
        </p:spPr>
        <p:txBody>
          <a:bodyPr>
            <a:normAutofit/>
          </a:bodyPr>
          <a:lstStyle/>
          <a:p>
            <a:pPr marL="355600" marR="355600" indent="-34290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constant</a:t>
            </a:r>
            <a:r>
              <a:rPr lang="en-US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identifier</a:t>
            </a:r>
            <a:r>
              <a:rPr lang="en-US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simple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value.</a:t>
            </a:r>
            <a:r>
              <a:rPr lang="en-US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</a:t>
            </a:r>
            <a:r>
              <a:rPr lang="en-US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cannot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 </a:t>
            </a:r>
            <a:r>
              <a:rPr lang="en-US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changed</a:t>
            </a:r>
            <a:r>
              <a:rPr lang="en-US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during</a:t>
            </a:r>
            <a:r>
              <a:rPr lang="en-US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script.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355600" marR="307975" indent="-34290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valid</a:t>
            </a:r>
            <a:r>
              <a:rPr lang="en-US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constant</a:t>
            </a:r>
            <a:r>
              <a:rPr lang="en-US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name</a:t>
            </a:r>
            <a:r>
              <a:rPr lang="en-US" spc="-8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starts</a:t>
            </a:r>
            <a:r>
              <a:rPr lang="en-US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letter</a:t>
            </a:r>
            <a:r>
              <a:rPr lang="en-US" spc="-15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underscore</a:t>
            </a:r>
            <a:r>
              <a:rPr lang="en-US" spc="-8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no</a:t>
            </a:r>
            <a:r>
              <a:rPr lang="en-US" spc="-8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</a:t>
            </a:r>
            <a:r>
              <a:rPr lang="en-US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sign </a:t>
            </a:r>
            <a:r>
              <a:rPr lang="en-US" spc="-49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before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constant</a:t>
            </a:r>
            <a:r>
              <a:rPr lang="en-US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name).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Unlike</a:t>
            </a:r>
            <a:r>
              <a:rPr lang="en-US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variables,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constants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automatically</a:t>
            </a:r>
            <a:r>
              <a:rPr lang="en-US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r>
              <a:rPr lang="en-US" spc="-6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across</a:t>
            </a:r>
            <a:r>
              <a:rPr lang="en-US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entire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127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  script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</a:t>
            </a:r>
            <a:r>
              <a:rPr lang="en-US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constant,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b="1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define()</a:t>
            </a:r>
            <a:r>
              <a:rPr lang="en-US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function.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define(name,</a:t>
            </a:r>
            <a:r>
              <a:rPr lang="en-US" sz="2800" b="1" spc="-5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value,</a:t>
            </a:r>
            <a:r>
              <a:rPr lang="en-US" sz="2800" b="1" spc="-4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case-insensitive)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469265" lvl="1" indent="0">
              <a:lnSpc>
                <a:spcPct val="110000"/>
              </a:lnSpc>
              <a:spcBef>
                <a:spcPts val="0"/>
              </a:spcBef>
              <a:buNone/>
              <a:tabLst>
                <a:tab pos="756285" algn="l"/>
                <a:tab pos="756920" algn="l"/>
              </a:tabLst>
            </a:pPr>
            <a:r>
              <a:rPr lang="en-US" sz="2800" b="1" spc="-10" dirty="0">
                <a:latin typeface="Book Antiqua" panose="02040602050305030304" pitchFamily="18" charset="0"/>
                <a:cs typeface="Consolas"/>
              </a:rPr>
              <a:t>&lt;?</a:t>
            </a:r>
            <a:r>
              <a:rPr lang="en-US" sz="2800" b="1" spc="-10" dirty="0" err="1">
                <a:latin typeface="Book Antiqua" panose="02040602050305030304" pitchFamily="18" charset="0"/>
                <a:cs typeface="Consolas"/>
              </a:rPr>
              <a:t>php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527685" marR="255904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spc="-10" dirty="0">
                <a:latin typeface="Book Antiqua" panose="02040602050305030304" pitchFamily="18" charset="0"/>
                <a:cs typeface="Consolas"/>
              </a:rPr>
              <a:t>           define("GREETING",</a:t>
            </a:r>
            <a:r>
              <a:rPr lang="en-US" b="1" spc="30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10" dirty="0">
                <a:latin typeface="Book Antiqua" panose="02040602050305030304" pitchFamily="18" charset="0"/>
                <a:cs typeface="Consolas"/>
              </a:rPr>
              <a:t>"Welcome</a:t>
            </a:r>
            <a:r>
              <a:rPr lang="en-US" b="1" spc="-5" dirty="0">
                <a:latin typeface="Book Antiqua" panose="02040602050305030304" pitchFamily="18" charset="0"/>
                <a:cs typeface="Consolas"/>
              </a:rPr>
              <a:t> to</a:t>
            </a:r>
            <a:r>
              <a:rPr lang="en-US" b="1" spc="-15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10" dirty="0">
                <a:latin typeface="Book Antiqua" panose="02040602050305030304" pitchFamily="18" charset="0"/>
                <a:cs typeface="Consolas"/>
              </a:rPr>
              <a:t>W3Schools.com!",</a:t>
            </a:r>
            <a:r>
              <a:rPr lang="en-US" b="1" spc="20" dirty="0"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10" dirty="0">
                <a:latin typeface="Book Antiqua" panose="02040602050305030304" pitchFamily="18" charset="0"/>
                <a:cs typeface="Consolas"/>
              </a:rPr>
              <a:t>true); </a:t>
            </a:r>
            <a:r>
              <a:rPr lang="en-US" b="1" spc="-975" dirty="0"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527685" marR="255904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spc="-10" dirty="0">
                <a:latin typeface="Book Antiqua" panose="02040602050305030304" pitchFamily="18" charset="0"/>
                <a:cs typeface="Consolas"/>
              </a:rPr>
              <a:t>           echo</a:t>
            </a:r>
            <a:r>
              <a:rPr lang="en-US" b="1" spc="-20" dirty="0">
                <a:latin typeface="Book Antiqua" panose="02040602050305030304" pitchFamily="18" charset="0"/>
                <a:cs typeface="Consolas"/>
              </a:rPr>
              <a:t>   </a:t>
            </a:r>
            <a:r>
              <a:rPr lang="en-US" b="1" spc="-10" dirty="0">
                <a:latin typeface="Book Antiqua" panose="02040602050305030304" pitchFamily="18" charset="0"/>
                <a:cs typeface="Consolas"/>
              </a:rPr>
              <a:t>GREETING;</a:t>
            </a:r>
            <a:r>
              <a:rPr lang="en-US" dirty="0"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527685" marR="255904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spc="-10" dirty="0">
                <a:latin typeface="Book Antiqua" panose="02040602050305030304" pitchFamily="18" charset="0"/>
                <a:cs typeface="Consolas"/>
              </a:rPr>
              <a:t>?&gt;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36D90F2-B087-48D9-B2DB-5584453C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51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5409-1B69-8DE2-C681-91F356C1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B6188-8E9A-808F-1B8F-50ACF0C9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7D186-A8B4-6843-2791-CE25E7EF5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21667"/>
            <a:ext cx="11826240" cy="5542673"/>
          </a:xfrm>
        </p:spPr>
        <p:txBody>
          <a:bodyPr>
            <a:normAutofit/>
          </a:bodyPr>
          <a:lstStyle/>
          <a:p>
            <a:pPr marL="355600" indent="-34290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divides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operators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following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groups: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thme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spc="-1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ors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{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+, -,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*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/,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%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**}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Assignment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operators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{=, +=,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-=,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*=,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/=,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%=}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Comparison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operators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{==,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===,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!=,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&lt;&gt;,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!==,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&gt;,&lt;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..}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Increment/Decrement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operators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{++,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--}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Logical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operators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{and,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or,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6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xor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&amp;&amp;,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||,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!}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6032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operators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{.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(concatenation)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.=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(concatenation </a:t>
            </a:r>
            <a:r>
              <a:rPr lang="en-US" sz="3200" spc="-5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assignment)}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ors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{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+, =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=,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!=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&lt;&gt;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!=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}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A72F324-5E7E-A8FA-B506-8F629F44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912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9A54-1C97-FDD8-0FA4-5504AD44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430F-E298-10C1-79E3-4E235B07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Echo and 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3A234-1CBE-505A-869B-7C4F2E32D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21668"/>
            <a:ext cx="11826240" cy="1360586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there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two</a:t>
            </a:r>
            <a:r>
              <a:rPr lang="en-US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basic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ways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get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output:</a:t>
            </a:r>
            <a:r>
              <a:rPr lang="en-US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echo</a:t>
            </a:r>
            <a:r>
              <a:rPr lang="en-US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print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Singly</a:t>
            </a:r>
            <a:r>
              <a:rPr lang="en-US" sz="2800" spc="-10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quoted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strings</a:t>
            </a:r>
            <a:r>
              <a:rPr lang="en-US" sz="2800" spc="-8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treated </a:t>
            </a:r>
            <a:r>
              <a:rPr lang="en-US" sz="28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literally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28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whereas</a:t>
            </a:r>
            <a:r>
              <a:rPr lang="en-US" sz="28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doubly</a:t>
            </a:r>
            <a:r>
              <a:rPr lang="en-US" sz="2800" spc="-8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quoted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strings </a:t>
            </a:r>
            <a:r>
              <a:rPr lang="en-US" sz="28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8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epla</a:t>
            </a:r>
            <a:r>
              <a:rPr lang="en-US" sz="28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28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800" spc="-1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28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ariables</a:t>
            </a:r>
            <a:r>
              <a:rPr lang="en-US" sz="2800" spc="-10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8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72F306-2241-F5C3-87D0-F1EB0AC66039}"/>
              </a:ext>
            </a:extLst>
          </p:cNvPr>
          <p:cNvSpPr txBox="1">
            <a:spLocks/>
          </p:cNvSpPr>
          <p:nvPr/>
        </p:nvSpPr>
        <p:spPr>
          <a:xfrm>
            <a:off x="225080" y="2382254"/>
            <a:ext cx="5798308" cy="4331367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9085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ECHO</a:t>
            </a:r>
            <a:endParaRPr lang="en-US" sz="3100" dirty="0">
              <a:latin typeface="Book Antiqua" panose="02040602050305030304" pitchFamily="18" charset="0"/>
              <a:cs typeface="Constantia"/>
            </a:endParaRPr>
          </a:p>
          <a:p>
            <a:pPr marL="299085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z="34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4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eturn</a:t>
            </a:r>
            <a:r>
              <a:rPr lang="en-US" sz="34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</a:t>
            </a:r>
            <a:r>
              <a:rPr lang="en-US" sz="3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endParaRPr lang="en-US" sz="3400" dirty="0">
              <a:latin typeface="Book Antiqua" panose="02040602050305030304" pitchFamily="18" charset="0"/>
              <a:cs typeface="Constantia"/>
            </a:endParaRPr>
          </a:p>
          <a:p>
            <a:pPr marL="299085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3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4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take</a:t>
            </a:r>
            <a:r>
              <a:rPr lang="en-US" sz="34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multiple</a:t>
            </a:r>
            <a:r>
              <a:rPr lang="en-US" sz="34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parameters</a:t>
            </a:r>
            <a:endParaRPr lang="en-US" sz="3400" dirty="0">
              <a:latin typeface="Book Antiqua" panose="02040602050305030304" pitchFamily="18" charset="0"/>
              <a:cs typeface="Constantia"/>
            </a:endParaRPr>
          </a:p>
          <a:p>
            <a:pPr marL="299085" marR="142240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3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4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4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4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4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4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witho</a:t>
            </a:r>
            <a:r>
              <a:rPr lang="en-US" sz="3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 </a:t>
            </a:r>
            <a:r>
              <a:rPr lang="en-US" sz="3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parentheses: </a:t>
            </a:r>
          </a:p>
          <a:p>
            <a:pPr marL="299085" marR="142240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3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Faster than print</a:t>
            </a:r>
          </a:p>
          <a:p>
            <a:pPr marL="228600" marR="142240" lvl="1" indent="0">
              <a:lnSpc>
                <a:spcPct val="120000"/>
              </a:lnSpc>
              <a:spcBef>
                <a:spcPts val="0"/>
              </a:spcBef>
              <a:buNone/>
              <a:tabLst>
                <a:tab pos="299085" algn="l"/>
                <a:tab pos="299720" algn="l"/>
              </a:tabLst>
            </a:pP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echo "&lt;h2&gt;PHP </a:t>
            </a:r>
            <a:r>
              <a:rPr lang="en-US" sz="31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is </a:t>
            </a: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Fun!&lt;/h2&gt;";</a:t>
            </a:r>
          </a:p>
          <a:p>
            <a:pPr marL="228600" marR="142240" lvl="1" indent="0">
              <a:lnSpc>
                <a:spcPct val="120000"/>
              </a:lnSpc>
              <a:spcBef>
                <a:spcPts val="0"/>
              </a:spcBef>
              <a:buNone/>
              <a:tabLst>
                <a:tab pos="299085" algn="l"/>
                <a:tab pos="299720" algn="l"/>
              </a:tabLst>
            </a:pPr>
            <a:r>
              <a:rPr lang="en-US" sz="3100" b="1" spc="-97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echo</a:t>
            </a:r>
            <a:r>
              <a:rPr lang="en-US" sz="3100" b="1" spc="7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(</a:t>
            </a: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"Hello</a:t>
            </a:r>
            <a:r>
              <a:rPr lang="en-US" sz="3100" b="1" spc="9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world!&lt;</a:t>
            </a:r>
            <a:r>
              <a:rPr lang="en-US" sz="3100" b="1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br</a:t>
            </a: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&gt;“); </a:t>
            </a:r>
            <a:r>
              <a:rPr lang="en-US" sz="31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228600" marR="142240" lvl="1" indent="0">
              <a:lnSpc>
                <a:spcPct val="120000"/>
              </a:lnSpc>
              <a:spcBef>
                <a:spcPts val="0"/>
              </a:spcBef>
              <a:buNone/>
              <a:tabLst>
                <a:tab pos="299085" algn="l"/>
                <a:tab pos="299720" algn="l"/>
              </a:tabLst>
            </a:pP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echo</a:t>
            </a:r>
            <a:r>
              <a:rPr lang="en-US" sz="3100" b="1" spc="-2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“Hello",</a:t>
            </a:r>
            <a:r>
              <a:rPr lang="en-US" sz="3100" b="1" spc="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“World“;</a:t>
            </a: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echo</a:t>
            </a:r>
            <a:r>
              <a:rPr lang="en-US" sz="3100" b="1" spc="-6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"&lt;h2&gt;$txt1&lt;/h2&gt;";</a:t>
            </a:r>
            <a:endParaRPr lang="en-US" sz="3100" dirty="0">
              <a:latin typeface="Book Antiqua" panose="02040602050305030304" pitchFamily="18" charset="0"/>
              <a:cs typeface="Consolas"/>
            </a:endParaRPr>
          </a:p>
          <a:p>
            <a:pPr marL="228600" marR="508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1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echo </a:t>
            </a:r>
            <a:r>
              <a:rPr lang="en-US" sz="28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"Study PHP </a:t>
            </a:r>
            <a:r>
              <a:rPr lang="en-US" sz="28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at </a:t>
            </a:r>
            <a:r>
              <a:rPr lang="en-US" sz="28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$txt2&lt;</a:t>
            </a:r>
            <a:r>
              <a:rPr lang="en-US" sz="2800" b="1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br</a:t>
            </a:r>
            <a:r>
              <a:rPr lang="en-US" sz="28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&gt;"; </a:t>
            </a:r>
            <a:r>
              <a:rPr lang="en-US" sz="2800" b="1" spc="-97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echo</a:t>
            </a:r>
            <a:r>
              <a:rPr lang="en-US" sz="2800" b="1" spc="-2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$x</a:t>
            </a:r>
            <a:r>
              <a:rPr lang="en-US" sz="28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+</a:t>
            </a:r>
            <a:r>
              <a:rPr lang="en-US" sz="28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$y;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299085" marR="142240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endParaRPr lang="en-US" sz="2400" dirty="0">
              <a:latin typeface="Consolas"/>
              <a:cs typeface="Consolas"/>
            </a:endParaRPr>
          </a:p>
          <a:p>
            <a:pPr marL="299085" marR="142240" indent="-287020">
              <a:lnSpc>
                <a:spcPct val="12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endParaRPr lang="en-US" sz="2200" dirty="0">
              <a:latin typeface="Book Antiqua" panose="02040602050305030304" pitchFamily="18" charset="0"/>
              <a:cs typeface="Constantia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705C24-2DE0-2E00-E600-E928D6028847}"/>
              </a:ext>
            </a:extLst>
          </p:cNvPr>
          <p:cNvSpPr txBox="1">
            <a:spLocks/>
          </p:cNvSpPr>
          <p:nvPr/>
        </p:nvSpPr>
        <p:spPr>
          <a:xfrm>
            <a:off x="6668090" y="2382254"/>
            <a:ext cx="5376448" cy="4381593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9085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24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PRINT</a:t>
            </a:r>
            <a:endParaRPr lang="en-US" sz="2400" dirty="0">
              <a:latin typeface="Book Antiqua" panose="02040602050305030304" pitchFamily="18" charset="0"/>
              <a:cs typeface="Constantia"/>
            </a:endParaRPr>
          </a:p>
          <a:p>
            <a:pPr marL="299085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</a:rPr>
              <a:t>has a return value of 1 so it can be used in expressions</a:t>
            </a:r>
          </a:p>
          <a:p>
            <a:pPr marL="299085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</a:rPr>
              <a:t>can take one argument</a:t>
            </a:r>
          </a:p>
          <a:p>
            <a:pPr marL="299085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</a:rPr>
              <a:t>can be used with or without parentheses: print or print ().</a:t>
            </a:r>
          </a:p>
          <a:p>
            <a:pPr marL="228600" marR="142240" lvl="1" indent="0">
              <a:lnSpc>
                <a:spcPct val="100000"/>
              </a:lnSpc>
              <a:spcBef>
                <a:spcPts val="0"/>
              </a:spcBef>
              <a:buNone/>
              <a:tabLst>
                <a:tab pos="299085" algn="l"/>
                <a:tab pos="299720" algn="l"/>
              </a:tabLst>
            </a:pP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print</a:t>
            </a:r>
            <a:r>
              <a:rPr lang="en-US" b="1" spc="-2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"&lt;h2&gt;PHP</a:t>
            </a:r>
            <a:r>
              <a:rPr lang="en-US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is</a:t>
            </a:r>
            <a:r>
              <a:rPr lang="en-US" b="1" spc="-2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Fun!&lt;/h2&gt;"; </a:t>
            </a:r>
            <a:r>
              <a:rPr lang="en-US" b="1" spc="-97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print</a:t>
            </a:r>
            <a:r>
              <a:rPr lang="en-US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"Hello</a:t>
            </a:r>
            <a:r>
              <a:rPr lang="en-US" b="1" spc="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world!&lt;</a:t>
            </a:r>
            <a:r>
              <a:rPr lang="en-US" b="1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br</a:t>
            </a:r>
            <a:r>
              <a:rPr lang="en-US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&gt;";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print</a:t>
            </a:r>
            <a:r>
              <a:rPr lang="en-US" b="1" spc="-3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"&lt;h2&gt;$txt1&lt;/h2&gt;";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228600" marR="508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print</a:t>
            </a:r>
            <a:r>
              <a:rPr lang="en-US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(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"Study</a:t>
            </a:r>
            <a:r>
              <a:rPr lang="en-US" b="1" spc="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PHP </a:t>
            </a:r>
            <a:r>
              <a:rPr lang="en-US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at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$txt2&lt;</a:t>
            </a:r>
            <a:r>
              <a:rPr lang="en-US" b="1" spc="-15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br</a:t>
            </a:r>
            <a:r>
              <a:rPr lang="en-US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&gt;“); </a:t>
            </a:r>
            <a:r>
              <a:rPr lang="en-US" b="1" spc="-97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print </a:t>
            </a:r>
            <a:r>
              <a:rPr lang="en-US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$x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+</a:t>
            </a:r>
            <a:r>
              <a:rPr lang="en-US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$y;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299085" marR="142240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endParaRPr lang="en-US" sz="2400" dirty="0">
              <a:latin typeface="Book Antiqua" panose="02040602050305030304" pitchFamily="18" charset="0"/>
              <a:cs typeface="Consolas"/>
            </a:endParaRPr>
          </a:p>
          <a:p>
            <a:pPr marL="299085" marR="142240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endParaRPr lang="en-US" sz="2400" dirty="0">
              <a:latin typeface="Book Antiqua" panose="02040602050305030304" pitchFamily="18" charset="0"/>
              <a:cs typeface="Constantia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D1847E-7519-D132-69D3-7BEB34B361AA}"/>
              </a:ext>
            </a:extLst>
          </p:cNvPr>
          <p:cNvCxnSpPr>
            <a:cxnSpLocks/>
          </p:cNvCxnSpPr>
          <p:nvPr/>
        </p:nvCxnSpPr>
        <p:spPr>
          <a:xfrm>
            <a:off x="6365565" y="2395241"/>
            <a:ext cx="0" cy="432837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BAE2B59-56D8-67B9-D52A-58610A9C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3997" y="6404476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797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C56A-B227-E443-4E17-4FBBB3B6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C39A-228C-9B69-E13F-A2354491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-42846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String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D1869-7C65-768C-6CCD-2D304F549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689318"/>
            <a:ext cx="11826240" cy="6113052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Commonly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functions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manipulate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strings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  <a:tab pos="1856739" algn="l"/>
              </a:tabLst>
            </a:pP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strlen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():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returns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length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echo</a:t>
            </a:r>
            <a:r>
              <a:rPr lang="en-US" sz="3000" spc="-1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strlen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("Hello</a:t>
            </a:r>
            <a:r>
              <a:rPr lang="en-US" sz="30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world!");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str_word_count</a:t>
            </a:r>
            <a:r>
              <a:rPr lang="en-US" sz="30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():</a:t>
            </a:r>
            <a:r>
              <a:rPr lang="en-US" sz="3000" spc="-6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counts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number</a:t>
            </a:r>
            <a:r>
              <a:rPr lang="en-US" sz="30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 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words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echo</a:t>
            </a:r>
            <a:r>
              <a:rPr lang="en-US" sz="3000" spc="-1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str_word_count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("Hello</a:t>
            </a:r>
            <a:r>
              <a:rPr lang="en-US" sz="3000" spc="-8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world!");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</a:t>
            </a:r>
            <a:r>
              <a:rPr lang="en-US" sz="3000" spc="-4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</a:t>
            </a:r>
            <a:r>
              <a:rPr lang="en-US" sz="30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)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:</a:t>
            </a:r>
            <a:r>
              <a:rPr lang="en-US" sz="30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erses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echo</a:t>
            </a:r>
            <a:r>
              <a:rPr lang="en-US" sz="3000" spc="-1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strrev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("Hello</a:t>
            </a:r>
            <a:r>
              <a:rPr lang="en-US" sz="30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world!");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strpos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():</a:t>
            </a:r>
            <a:r>
              <a:rPr lang="en-US" sz="3000" spc="-5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searches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0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specific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text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within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echo</a:t>
            </a:r>
            <a:r>
              <a:rPr lang="en-US" sz="3000" spc="-1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strpos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("</a:t>
            </a:r>
            <a:r>
              <a:rPr lang="en-US" sz="3000" spc="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Helloworld</a:t>
            </a:r>
            <a:r>
              <a:rPr lang="en-US" sz="30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!",</a:t>
            </a:r>
            <a:r>
              <a:rPr lang="en-US" sz="3000" spc="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"world");</a:t>
            </a:r>
            <a:r>
              <a:rPr lang="en-US" sz="3000" spc="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//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outputs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6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str_replace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():</a:t>
            </a:r>
            <a:r>
              <a:rPr lang="en-US" sz="30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replaces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some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characters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some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other</a:t>
            </a:r>
            <a:r>
              <a:rPr lang="en-US" sz="30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characters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 </a:t>
            </a:r>
            <a:r>
              <a:rPr lang="en-US" sz="3000" spc="-5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spc="-5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echo</a:t>
            </a:r>
            <a:r>
              <a:rPr lang="en-US" sz="3000" spc="-90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 err="1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str_replace</a:t>
            </a:r>
            <a:r>
              <a:rPr lang="en-US" sz="3000" spc="-10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("world",</a:t>
            </a:r>
            <a:r>
              <a:rPr lang="en-US" sz="3000" spc="30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"Dolly",</a:t>
            </a:r>
            <a:r>
              <a:rPr lang="en-US" sz="3000" spc="35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"Hello</a:t>
            </a:r>
            <a:r>
              <a:rPr lang="en-US" sz="3000" spc="-65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world!");</a:t>
            </a:r>
            <a:r>
              <a:rPr lang="en-US" sz="3000" spc="25" dirty="0">
                <a:solidFill>
                  <a:srgbClr val="00206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//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outputs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Hello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Dolly!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18E4B47-7E22-D5C5-3E9C-0CBBB060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29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975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04DA6-9E3C-AA4D-A62E-FBC6204D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BB57E-8BEC-1913-3DFA-A790C67F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Conditional Statements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582BA-BD47-A218-4C53-0F0DCEB9C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93856"/>
            <a:ext cx="11826240" cy="5542673"/>
          </a:xfrm>
        </p:spPr>
        <p:txBody>
          <a:bodyPr>
            <a:normAutofit/>
          </a:bodyPr>
          <a:lstStyle/>
          <a:p>
            <a:pPr marL="355600" indent="-34290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have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following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conditional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statements: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748030" lvl="1" indent="-28702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200" spc="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specify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block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executed,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specified </a:t>
            </a:r>
            <a:r>
              <a:rPr lang="en-US" sz="32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condition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true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670560" lvl="1" indent="-28702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else</a:t>
            </a:r>
            <a:r>
              <a:rPr lang="en-US" sz="3200" spc="-6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specify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block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code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executed,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same </a:t>
            </a:r>
            <a:r>
              <a:rPr lang="en-US" sz="3200" spc="-48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condition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false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else</a:t>
            </a:r>
            <a:r>
              <a:rPr lang="en-US" sz="32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200" spc="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specify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new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condition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test,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first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condition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5" dirty="0"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false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916940" lvl="1" indent="-287020">
              <a:lnSpc>
                <a:spcPct val="11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switch</a:t>
            </a:r>
            <a:r>
              <a:rPr lang="en-US" sz="32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specify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many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alternative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blocks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code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 </a:t>
            </a:r>
            <a:r>
              <a:rPr lang="en-US" sz="32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executed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3372305-2CD9-F755-4B91-DB3E1158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96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5B8D9-AF37-F12D-F76E-FD4A635B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D742-CA2E-B11D-C44C-13D1E1B32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-7468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Conditional Statements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032B4-2E30-A8A7-B5D3-9FF64D154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1" y="726614"/>
            <a:ext cx="5373874" cy="593877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&lt;?</a:t>
            </a:r>
            <a:r>
              <a:rPr lang="en-US" sz="3000" b="1" spc="-5" dirty="0" err="1">
                <a:solidFill>
                  <a:srgbClr val="001F5F"/>
                </a:solidFill>
                <a:latin typeface="Book Antiqua" panose="02040602050305030304" pitchFamily="18" charset="0"/>
              </a:rPr>
              <a:t>php</a:t>
            </a:r>
            <a:endParaRPr lang="en-US" sz="3000" b="1" spc="-5" dirty="0">
              <a:solidFill>
                <a:srgbClr val="001F5F"/>
              </a:solidFill>
              <a:latin typeface="Book Antiqua" panose="02040602050305030304" pitchFamily="18" charset="0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$t = date("H");</a:t>
            </a: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if</a:t>
            </a:r>
            <a:r>
              <a:rPr lang="en-US" sz="3000" b="1" spc="-3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($t</a:t>
            </a:r>
            <a:r>
              <a:rPr lang="en-US" sz="30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</a:t>
            </a:r>
            <a:r>
              <a:rPr lang="en-US" sz="30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"10")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{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echo</a:t>
            </a: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"Have</a:t>
            </a:r>
            <a:r>
              <a:rPr lang="en-US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a</a:t>
            </a:r>
            <a:r>
              <a:rPr lang="en-US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good</a:t>
            </a:r>
            <a:r>
              <a:rPr lang="en-US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morning!";</a:t>
            </a:r>
            <a:endParaRPr lang="en-US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}</a:t>
            </a:r>
            <a:r>
              <a:rPr lang="en-US" sz="3000" b="1" spc="-3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elseif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($t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</a:t>
            </a:r>
            <a:r>
              <a:rPr lang="en-US" sz="3000" b="1" spc="-3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"20")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{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626744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echo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"Have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a</a:t>
            </a:r>
            <a:r>
              <a:rPr lang="en-US" sz="3000" b="1" spc="-2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good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day!";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}</a:t>
            </a:r>
            <a:r>
              <a:rPr lang="en-US" sz="3000" b="1" spc="-5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else</a:t>
            </a:r>
            <a:r>
              <a:rPr lang="en-US" sz="3000" b="1" spc="-4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{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626744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echo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"Have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a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good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night!";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}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?&gt;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DB9A97-53DD-620B-73EF-301A69DD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9A1E61-99B3-BFA5-915E-230C6E659628}"/>
              </a:ext>
            </a:extLst>
          </p:cNvPr>
          <p:cNvSpPr txBox="1">
            <a:spLocks/>
          </p:cNvSpPr>
          <p:nvPr/>
        </p:nvSpPr>
        <p:spPr>
          <a:xfrm>
            <a:off x="5529712" y="658374"/>
            <a:ext cx="8467641" cy="60448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&lt;?</a:t>
            </a:r>
            <a:r>
              <a:rPr lang="en-US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php</a:t>
            </a: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 $</a:t>
            </a:r>
            <a:r>
              <a:rPr lang="en-US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favcolor</a:t>
            </a:r>
            <a:r>
              <a:rPr lang="en-US" b="1" spc="-5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=</a:t>
            </a:r>
            <a:r>
              <a:rPr lang="en-US" b="1" spc="-3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"red";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switch ($</a:t>
            </a:r>
            <a:r>
              <a:rPr lang="en-US" b="1" spc="-10" dirty="0" err="1">
                <a:solidFill>
                  <a:srgbClr val="001F5F"/>
                </a:solidFill>
                <a:latin typeface="Book Antiqua" panose="02040602050305030304" pitchFamily="18" charset="0"/>
              </a:rPr>
              <a:t>favcolor</a:t>
            </a: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) {</a:t>
            </a:r>
          </a:p>
          <a:p>
            <a:pPr marL="2273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case "red":</a:t>
            </a:r>
          </a:p>
          <a:p>
            <a:pPr marL="2273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   echo "Your favorite color is red!";</a:t>
            </a:r>
          </a:p>
          <a:p>
            <a:pPr marL="2273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   break;</a:t>
            </a:r>
          </a:p>
          <a:p>
            <a:pPr marL="2273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case "blue":</a:t>
            </a:r>
          </a:p>
          <a:p>
            <a:pPr marL="2273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    echo "Your favorite color is blue!";</a:t>
            </a:r>
          </a:p>
          <a:p>
            <a:pPr marL="455930" marR="211582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 break;  </a:t>
            </a:r>
          </a:p>
          <a:p>
            <a:pPr marR="211582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case "green":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   echo "Your favorite color is green!";</a:t>
            </a:r>
          </a:p>
          <a:p>
            <a:pPr marL="455930" marR="24498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break;  </a:t>
            </a:r>
          </a:p>
          <a:p>
            <a:pPr marL="182880" marR="2449830" indent="-914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default: </a:t>
            </a:r>
          </a:p>
          <a:p>
            <a:pPr marL="182880" marR="2449830" indent="-914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  echo "Your favorite  color is  </a:t>
            </a:r>
          </a:p>
          <a:p>
            <a:pPr marL="182880" marR="2449830" indent="-914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spc="-10" dirty="0">
                <a:solidFill>
                  <a:srgbClr val="001F5F"/>
                </a:solidFill>
                <a:latin typeface="Book Antiqua" panose="02040602050305030304" pitchFamily="18" charset="0"/>
              </a:rPr>
              <a:t>  neither red, blue, nor green!"; } ?&gt;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F7F638-5FDF-608C-8A1F-EF802A56CEAC}"/>
              </a:ext>
            </a:extLst>
          </p:cNvPr>
          <p:cNvCxnSpPr>
            <a:cxnSpLocks/>
          </p:cNvCxnSpPr>
          <p:nvPr/>
        </p:nvCxnSpPr>
        <p:spPr>
          <a:xfrm>
            <a:off x="5463823" y="854424"/>
            <a:ext cx="0" cy="586723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424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DB29-041C-3A0A-7FF4-7244C089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3077-21C3-D2CD-C6F3-90ABE5C1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-1471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07410-A666-CC1F-620D-D3D2DD809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80" y="759654"/>
            <a:ext cx="11910640" cy="6056142"/>
          </a:xfrm>
        </p:spPr>
        <p:txBody>
          <a:bodyPr>
            <a:norm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supports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different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kinds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loops: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for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bloc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 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ode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numbe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times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foreach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loops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through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elements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while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loops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through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block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while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specified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condition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true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do/while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also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loops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through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block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while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specified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condition </a:t>
            </a:r>
            <a:r>
              <a:rPr lang="en-US" sz="32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true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1AA1117-1624-E638-AC5C-FA46856E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531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DC12-FC83-2631-65CC-930D7C57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E2BB-E216-9216-29DD-7F32141D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4E277-CADE-7A46-C756-C44CBB0B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017" y="997604"/>
            <a:ext cx="11826240" cy="5542673"/>
          </a:xfrm>
        </p:spPr>
        <p:txBody>
          <a:bodyPr/>
          <a:lstStyle/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4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for loop has the following syntax;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A90E2C1-8154-6DE8-F580-D81D265E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grpSp>
        <p:nvGrpSpPr>
          <p:cNvPr id="4" name="object 12">
            <a:extLst>
              <a:ext uri="{FF2B5EF4-FFF2-40B4-BE49-F238E27FC236}">
                <a16:creationId xmlns:a16="http://schemas.microsoft.com/office/drawing/2014/main" id="{A3E05683-1D5D-16E8-8072-A1BE41F5FAF0}"/>
              </a:ext>
            </a:extLst>
          </p:cNvPr>
          <p:cNvGrpSpPr/>
          <p:nvPr/>
        </p:nvGrpSpPr>
        <p:grpSpPr>
          <a:xfrm>
            <a:off x="697830" y="1708486"/>
            <a:ext cx="9504949" cy="4856506"/>
            <a:chOff x="1447800" y="2133600"/>
            <a:chExt cx="5181600" cy="3347085"/>
          </a:xfrm>
        </p:grpSpPr>
        <p:pic>
          <p:nvPicPr>
            <p:cNvPr id="6" name="object 13">
              <a:extLst>
                <a:ext uri="{FF2B5EF4-FFF2-40B4-BE49-F238E27FC236}">
                  <a16:creationId xmlns:a16="http://schemas.microsoft.com/office/drawing/2014/main" id="{A8A0479B-8E15-58EC-938F-2720145A921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4928" y="3581400"/>
              <a:ext cx="4876800" cy="1899285"/>
            </a:xfrm>
            <a:prstGeom prst="rect">
              <a:avLst/>
            </a:prstGeom>
          </p:spPr>
        </p:pic>
        <p:pic>
          <p:nvPicPr>
            <p:cNvPr id="7" name="object 14">
              <a:extLst>
                <a:ext uri="{FF2B5EF4-FFF2-40B4-BE49-F238E27FC236}">
                  <a16:creationId xmlns:a16="http://schemas.microsoft.com/office/drawing/2014/main" id="{93E3B350-70A8-554C-FE6F-0A39A7CD440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800" y="2133600"/>
              <a:ext cx="5181600" cy="1376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47988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98995-ABBF-15DC-D250-B2DACEB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2788-4821-B92A-AE3A-E993A359C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-99117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Foreach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5D884-470D-8710-1C27-9AA4FA992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756228"/>
            <a:ext cx="11826240" cy="1002597"/>
          </a:xfrm>
        </p:spPr>
        <p:txBody>
          <a:bodyPr>
            <a:noAutofit/>
          </a:bodyPr>
          <a:lstStyle/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25" dirty="0">
                <a:solidFill>
                  <a:srgbClr val="001F5F"/>
                </a:solidFill>
                <a:latin typeface="Constantia"/>
                <a:cs typeface="Constantia"/>
              </a:rPr>
              <a:t>Works</a:t>
            </a:r>
            <a:r>
              <a:rPr lang="en-US" sz="3200" spc="-17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Constantia"/>
                <a:cs typeface="Constantia"/>
              </a:rPr>
              <a:t>only</a:t>
            </a:r>
            <a:r>
              <a:rPr lang="en-US" sz="3200" spc="-15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on</a:t>
            </a:r>
            <a:r>
              <a:rPr lang="en-US" sz="3200" spc="-14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Constantia"/>
                <a:cs typeface="Constantia"/>
              </a:rPr>
              <a:t>arrays,</a:t>
            </a:r>
            <a:r>
              <a:rPr lang="en-US" sz="3200" spc="-6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and</a:t>
            </a:r>
            <a:r>
              <a:rPr lang="en-US" sz="3200" spc="-1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is</a:t>
            </a:r>
            <a:r>
              <a:rPr lang="en-US" sz="3200" spc="-10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used</a:t>
            </a:r>
            <a:r>
              <a:rPr lang="en-US" sz="3200" spc="-5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Constantia"/>
                <a:cs typeface="Constantia"/>
              </a:rPr>
              <a:t>to</a:t>
            </a:r>
            <a:r>
              <a:rPr lang="en-US" sz="3200" spc="-9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loop </a:t>
            </a:r>
            <a:r>
              <a:rPr lang="en-US" sz="3200" spc="-78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Constantia"/>
                <a:cs typeface="Constantia"/>
              </a:rPr>
              <a:t>through</a:t>
            </a:r>
            <a:r>
              <a:rPr lang="en-US" sz="3200" spc="-17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each</a:t>
            </a:r>
            <a:r>
              <a:rPr lang="en-US" sz="3200" spc="-6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Constantia"/>
                <a:cs typeface="Constantia"/>
              </a:rPr>
              <a:t>key/value</a:t>
            </a:r>
            <a:r>
              <a:rPr lang="en-US" sz="3200" spc="-14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pair</a:t>
            </a:r>
            <a:r>
              <a:rPr lang="en-US" sz="3200" spc="-13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in</a:t>
            </a:r>
            <a:r>
              <a:rPr lang="en-US" sz="3200" spc="-13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an</a:t>
            </a:r>
            <a:r>
              <a:rPr lang="en-US" sz="3200" spc="-13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75" dirty="0">
                <a:solidFill>
                  <a:srgbClr val="001F5F"/>
                </a:solidFill>
                <a:latin typeface="Constantia"/>
                <a:cs typeface="Constantia"/>
              </a:rPr>
              <a:t>array.</a:t>
            </a:r>
            <a:endParaRPr lang="en-US" sz="320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CA4CF03-886E-C953-741E-10486B8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grpSp>
        <p:nvGrpSpPr>
          <p:cNvPr id="41" name="object 13">
            <a:extLst>
              <a:ext uri="{FF2B5EF4-FFF2-40B4-BE49-F238E27FC236}">
                <a16:creationId xmlns:a16="http://schemas.microsoft.com/office/drawing/2014/main" id="{D34762B0-2D65-6FAB-9CAC-38405821D187}"/>
              </a:ext>
            </a:extLst>
          </p:cNvPr>
          <p:cNvGrpSpPr/>
          <p:nvPr/>
        </p:nvGrpSpPr>
        <p:grpSpPr>
          <a:xfrm>
            <a:off x="422031" y="1843242"/>
            <a:ext cx="10986867" cy="4962649"/>
            <a:chOff x="1050874" y="2954865"/>
            <a:chExt cx="5467731" cy="2988734"/>
          </a:xfrm>
        </p:grpSpPr>
        <p:pic>
          <p:nvPicPr>
            <p:cNvPr id="42" name="object 29">
              <a:extLst>
                <a:ext uri="{FF2B5EF4-FFF2-40B4-BE49-F238E27FC236}">
                  <a16:creationId xmlns:a16="http://schemas.microsoft.com/office/drawing/2014/main" id="{2FF4F035-5F87-F82D-7DA5-DA7F198EC60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2954865"/>
              <a:ext cx="4011525" cy="1107478"/>
            </a:xfrm>
            <a:prstGeom prst="rect">
              <a:avLst/>
            </a:prstGeom>
          </p:spPr>
        </p:pic>
        <p:pic>
          <p:nvPicPr>
            <p:cNvPr id="43" name="object 30">
              <a:extLst>
                <a:ext uri="{FF2B5EF4-FFF2-40B4-BE49-F238E27FC236}">
                  <a16:creationId xmlns:a16="http://schemas.microsoft.com/office/drawing/2014/main" id="{B74B0841-EFA9-D755-97B0-9960E4F484D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874" y="3962399"/>
              <a:ext cx="5467731" cy="1981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0050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38D0-8D88-5131-13C7-BD3717CE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AE3D-D5E3-85E6-5A34-96143BEE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41562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The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75B09-4EC4-4396-E09E-18F140502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40636"/>
            <a:ext cx="11826240" cy="1216207"/>
          </a:xfrm>
        </p:spPr>
        <p:txBody>
          <a:bodyPr>
            <a:normAutofit/>
          </a:bodyPr>
          <a:lstStyle/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while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loop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loops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through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block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</a:t>
            </a:r>
            <a:r>
              <a:rPr lang="en-US" sz="32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ie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ditio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true.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2700" marR="8255" indent="0">
              <a:lnSpc>
                <a:spcPct val="100000"/>
              </a:lnSpc>
              <a:spcBef>
                <a:spcPts val="0"/>
              </a:spcBef>
              <a:buNone/>
              <a:tabLst>
                <a:tab pos="354965" algn="l"/>
                <a:tab pos="355600" algn="l"/>
              </a:tabLst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02BA3D7-374A-8373-D0BC-DE77B021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pic>
        <p:nvPicPr>
          <p:cNvPr id="9" name="object 31">
            <a:extLst>
              <a:ext uri="{FF2B5EF4-FFF2-40B4-BE49-F238E27FC236}">
                <a16:creationId xmlns:a16="http://schemas.microsoft.com/office/drawing/2014/main" id="{6434CC06-78C7-229A-AADC-1FC780357ED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1914" y="4051494"/>
            <a:ext cx="7638017" cy="2764943"/>
          </a:xfrm>
          <a:prstGeom prst="rect">
            <a:avLst/>
          </a:prstGeom>
        </p:spPr>
      </p:pic>
      <p:pic>
        <p:nvPicPr>
          <p:cNvPr id="10" name="object 32">
            <a:extLst>
              <a:ext uri="{FF2B5EF4-FFF2-40B4-BE49-F238E27FC236}">
                <a16:creationId xmlns:a16="http://schemas.microsoft.com/office/drawing/2014/main" id="{F5570E8D-C9C7-8F0D-6569-CCDFB4EDF6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1911" y="1898675"/>
            <a:ext cx="7483642" cy="215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AA0D3-CBF6-A877-A5CE-AEC1B026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72E7-84EE-692D-C692-104559EBA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7494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The do/while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24CA9-8B51-5A36-76C6-9295D4F89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699960"/>
            <a:ext cx="11826240" cy="1432776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This</a:t>
            </a:r>
            <a:r>
              <a:rPr lang="en-US" sz="3200" spc="-9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loop</a:t>
            </a:r>
            <a:r>
              <a:rPr lang="en-US" sz="3200" spc="-14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Constantia"/>
                <a:cs typeface="Constantia"/>
              </a:rPr>
              <a:t>executes</a:t>
            </a:r>
            <a:r>
              <a:rPr lang="en-US" sz="3200" spc="-10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Constantia"/>
                <a:cs typeface="Constantia"/>
              </a:rPr>
              <a:t>the</a:t>
            </a:r>
            <a:r>
              <a:rPr lang="en-US" sz="3200" spc="-15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Constantia"/>
                <a:cs typeface="Constantia"/>
              </a:rPr>
              <a:t>code</a:t>
            </a:r>
            <a:r>
              <a:rPr lang="en-US" sz="3200" spc="-7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block</a:t>
            </a:r>
            <a:r>
              <a:rPr lang="en-US" sz="3200" spc="-9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Constantia"/>
                <a:cs typeface="Constantia"/>
              </a:rPr>
              <a:t>at</a:t>
            </a:r>
            <a:r>
              <a:rPr lang="en-US" sz="3200" spc="-7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onstantia"/>
                <a:cs typeface="Constantia"/>
              </a:rPr>
              <a:t>least</a:t>
            </a:r>
            <a:r>
              <a:rPr lang="en-US" sz="3200" spc="-14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Constantia"/>
                <a:cs typeface="Constantia"/>
              </a:rPr>
              <a:t>once</a:t>
            </a:r>
            <a:r>
              <a:rPr lang="en-US" sz="3200" spc="-10" dirty="0">
                <a:solidFill>
                  <a:srgbClr val="001F5F"/>
                </a:solidFill>
                <a:latin typeface="Constantia"/>
                <a:cs typeface="Constantia"/>
              </a:rPr>
              <a:t>,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be</a:t>
            </a:r>
            <a:r>
              <a:rPr lang="en-US" sz="3200" spc="-25" dirty="0">
                <a:solidFill>
                  <a:srgbClr val="001F5F"/>
                </a:solidFill>
                <a:latin typeface="Constantia"/>
                <a:cs typeface="Constantia"/>
              </a:rPr>
              <a:t>f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o</a:t>
            </a:r>
            <a:r>
              <a:rPr lang="en-US" sz="3200" spc="-35" dirty="0">
                <a:solidFill>
                  <a:srgbClr val="001F5F"/>
                </a:solidFill>
                <a:latin typeface="Constantia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e</a:t>
            </a:r>
            <a:r>
              <a:rPr lang="en-US" sz="3200" spc="-16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checkin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g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 i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f</a:t>
            </a:r>
            <a:r>
              <a:rPr lang="en-US" sz="3200" spc="2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t</a:t>
            </a:r>
            <a:r>
              <a:rPr lang="en-US" sz="3200" spc="-15" dirty="0">
                <a:solidFill>
                  <a:srgbClr val="001F5F"/>
                </a:solidFill>
                <a:latin typeface="Constantia"/>
                <a:cs typeface="Constantia"/>
              </a:rPr>
              <a:t>h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e</a:t>
            </a:r>
            <a:r>
              <a:rPr lang="en-US" sz="3200" spc="-13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0" dirty="0">
                <a:solidFill>
                  <a:srgbClr val="001F5F"/>
                </a:solidFill>
                <a:latin typeface="Constantia"/>
                <a:cs typeface="Constantia"/>
              </a:rPr>
              <a:t>c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on</a:t>
            </a:r>
            <a:r>
              <a:rPr lang="en-US" sz="3200" spc="5" dirty="0">
                <a:solidFill>
                  <a:srgbClr val="001F5F"/>
                </a:solidFill>
                <a:latin typeface="Constantia"/>
                <a:cs typeface="Constantia"/>
              </a:rPr>
              <a:t>d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itio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n</a:t>
            </a:r>
            <a:r>
              <a:rPr lang="en-US" sz="3200" spc="-5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i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s</a:t>
            </a:r>
            <a:r>
              <a:rPr lang="en-US" sz="3200" spc="-9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true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,</a:t>
            </a:r>
            <a:r>
              <a:rPr lang="en-US" sz="3200" spc="-3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t</a:t>
            </a:r>
            <a:r>
              <a:rPr lang="en-US" sz="3200" spc="-15" dirty="0">
                <a:solidFill>
                  <a:srgbClr val="001F5F"/>
                </a:solidFill>
                <a:latin typeface="Constantia"/>
                <a:cs typeface="Constantia"/>
              </a:rPr>
              <a:t>h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en</a:t>
            </a:r>
            <a:r>
              <a:rPr lang="en-US" sz="3200" spc="-3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i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t</a:t>
            </a:r>
            <a:r>
              <a:rPr lang="en-US" sz="3200" spc="-16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will  </a:t>
            </a:r>
            <a:r>
              <a:rPr lang="en-US" sz="3200" spc="-10" dirty="0">
                <a:solidFill>
                  <a:srgbClr val="001F5F"/>
                </a:solidFill>
                <a:latin typeface="Constantia"/>
                <a:cs typeface="Constantia"/>
              </a:rPr>
              <a:t>repeat</a:t>
            </a:r>
            <a:r>
              <a:rPr lang="en-US" sz="3200" spc="-12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Constantia"/>
                <a:cs typeface="Constantia"/>
              </a:rPr>
              <a:t>the</a:t>
            </a:r>
            <a:r>
              <a:rPr lang="en-US" sz="3200" spc="-8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loop</a:t>
            </a:r>
            <a:r>
              <a:rPr lang="en-US" sz="3200" spc="-13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as</a:t>
            </a:r>
            <a:r>
              <a:rPr lang="en-US" sz="3200" spc="-5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long</a:t>
            </a:r>
            <a:r>
              <a:rPr lang="en-US" sz="3200" spc="-5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Constantia"/>
                <a:cs typeface="Constantia"/>
              </a:rPr>
              <a:t>as</a:t>
            </a:r>
            <a:r>
              <a:rPr lang="en-US" sz="3200" spc="-9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Constantia"/>
                <a:cs typeface="Constantia"/>
              </a:rPr>
              <a:t>the</a:t>
            </a:r>
            <a:r>
              <a:rPr lang="en-US" sz="3200" spc="-14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Constantia"/>
                <a:cs typeface="Constantia"/>
              </a:rPr>
              <a:t>condition</a:t>
            </a:r>
            <a:r>
              <a:rPr lang="en-US" sz="3200" spc="-4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is</a:t>
            </a:r>
            <a:r>
              <a:rPr lang="en-US" sz="3200" spc="-11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Constantia"/>
                <a:cs typeface="Constantia"/>
              </a:rPr>
              <a:t>true.</a:t>
            </a:r>
            <a:endParaRPr lang="en-US" sz="320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074C990-2D75-4524-EA9E-E047DD55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7544DFB9-3027-2DE2-36E2-4BC72D2DDC44}"/>
              </a:ext>
            </a:extLst>
          </p:cNvPr>
          <p:cNvGrpSpPr/>
          <p:nvPr/>
        </p:nvGrpSpPr>
        <p:grpSpPr>
          <a:xfrm>
            <a:off x="379828" y="2382907"/>
            <a:ext cx="10972800" cy="4170127"/>
            <a:chOff x="381000" y="3733736"/>
            <a:chExt cx="7707249" cy="2240026"/>
          </a:xfrm>
        </p:grpSpPr>
        <p:pic>
          <p:nvPicPr>
            <p:cNvPr id="6" name="object 24">
              <a:extLst>
                <a:ext uri="{FF2B5EF4-FFF2-40B4-BE49-F238E27FC236}">
                  <a16:creationId xmlns:a16="http://schemas.microsoft.com/office/drawing/2014/main" id="{3FEB5ACD-9DB5-CF77-9B75-1DA07123A2A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3733799"/>
              <a:ext cx="3810000" cy="1447800"/>
            </a:xfrm>
            <a:prstGeom prst="rect">
              <a:avLst/>
            </a:prstGeom>
          </p:spPr>
        </p:pic>
        <p:pic>
          <p:nvPicPr>
            <p:cNvPr id="7" name="object 32">
              <a:extLst>
                <a:ext uri="{FF2B5EF4-FFF2-40B4-BE49-F238E27FC236}">
                  <a16:creationId xmlns:a16="http://schemas.microsoft.com/office/drawing/2014/main" id="{61ED5495-29B5-A99D-331A-226FD724218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9600" y="3733736"/>
              <a:ext cx="3668649" cy="22400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82731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05EC-2338-19F5-A68F-497405F9A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643D-1882-39FA-D819-726E88F65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F721B-0940-AB72-FE27-894DD84FE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90"/>
            <a:ext cx="11826240" cy="5746192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PHP,</a:t>
            </a:r>
            <a:r>
              <a:rPr lang="en-US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there</a:t>
            </a:r>
            <a:r>
              <a:rPr lang="en-US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three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types</a:t>
            </a:r>
            <a:r>
              <a:rPr lang="en-US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arrays: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Indexed</a:t>
            </a:r>
            <a:r>
              <a:rPr lang="en-US" sz="2800" b="1" spc="-114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r>
              <a:rPr lang="en-US" sz="2800" b="1" spc="-6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r>
              <a:rPr lang="en-US" sz="28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28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numeric</a:t>
            </a:r>
            <a:r>
              <a:rPr lang="en-US" sz="28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index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Using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array()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3535" algn="l"/>
              </a:tabLst>
            </a:pP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$cars</a:t>
            </a:r>
            <a:r>
              <a:rPr lang="en-US" sz="28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array("Volvo",</a:t>
            </a:r>
            <a:r>
              <a:rPr lang="en-US" sz="28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"BMW",</a:t>
            </a:r>
            <a:r>
              <a:rPr lang="en-US" sz="28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"Toyota");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  <a:tab pos="1673860" algn="l"/>
              </a:tabLst>
            </a:pP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	the</a:t>
            </a:r>
            <a:r>
              <a:rPr lang="en-US" sz="28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fly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3535" algn="l"/>
              </a:tabLst>
            </a:pPr>
            <a:r>
              <a:rPr lang="en-US" sz="28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$cars[0]=“Volvo”;</a:t>
            </a:r>
            <a:r>
              <a:rPr lang="en-US" sz="2800" spc="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$cars[1]=“BMW”;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Associative</a:t>
            </a:r>
            <a:r>
              <a:rPr lang="en-US" sz="2800" b="1" spc="-1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r>
              <a:rPr lang="en-US" sz="2800" b="1" spc="-5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r>
              <a:rPr lang="en-US" sz="28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named 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keys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Using</a:t>
            </a:r>
            <a:r>
              <a:rPr lang="en-US" sz="28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array()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3535" algn="l"/>
              </a:tabLst>
            </a:pP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$age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28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array("Peter"=&gt;"35",</a:t>
            </a:r>
            <a:r>
              <a:rPr lang="en-US" sz="28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"Ben"=&gt;"37",</a:t>
            </a:r>
            <a:r>
              <a:rPr lang="en-US" sz="28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"Joe"=&gt;"43");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  <a:tab pos="1673860" algn="l"/>
              </a:tabLst>
            </a:pP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	the</a:t>
            </a:r>
            <a:r>
              <a:rPr lang="en-US" sz="28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fly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3535" algn="l"/>
              </a:tabLst>
            </a:pP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$age['Peter']</a:t>
            </a:r>
            <a:r>
              <a:rPr lang="en-US" sz="28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28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"35";</a:t>
            </a:r>
            <a:r>
              <a:rPr lang="en-US" sz="28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$age['Ben']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28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"37";</a:t>
            </a:r>
            <a:r>
              <a:rPr lang="en-US" sz="28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$age['Joe']</a:t>
            </a:r>
            <a:r>
              <a:rPr lang="en-US" sz="28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28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"43";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Multidimensional</a:t>
            </a:r>
            <a:r>
              <a:rPr lang="en-US" sz="2800" b="1" spc="-1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r>
              <a:rPr lang="en-US" sz="2800" b="1" spc="-5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r>
              <a:rPr lang="en-US" sz="28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containing</a:t>
            </a:r>
            <a:r>
              <a:rPr lang="en-US" sz="28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one </a:t>
            </a:r>
            <a:r>
              <a:rPr lang="en-US" sz="2800" spc="-6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28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more</a:t>
            </a:r>
            <a:r>
              <a:rPr lang="en-US" sz="28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$cars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=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r>
              <a:rPr lang="en-US" sz="28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(array("Volvo",22,18),</a:t>
            </a:r>
            <a:r>
              <a:rPr lang="en-US" sz="28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array("BMW",15,13));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9FC6BEF-8C51-3953-E0BA-BE68DB30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556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0913-3B4F-BFBC-64CE-87B45E6C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6BAC-BE32-FB83-60B8-980F1178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41937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Array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B3F47-1176-5ABA-9DA1-7F718A3A4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756975"/>
            <a:ext cx="11826240" cy="493640"/>
          </a:xfrm>
        </p:spPr>
        <p:txBody>
          <a:bodyPr>
            <a:noAutofit/>
          </a:bodyPr>
          <a:lstStyle/>
          <a:p>
            <a:pPr marL="355600" marR="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count()</a:t>
            </a:r>
            <a:r>
              <a:rPr lang="en-US" sz="30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return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length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D6021B3-32C7-3624-26B4-F21D8603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D71980-54F3-A6CD-B14E-8A0EC7DEF7E9}"/>
              </a:ext>
            </a:extLst>
          </p:cNvPr>
          <p:cNvGrpSpPr/>
          <p:nvPr/>
        </p:nvGrpSpPr>
        <p:grpSpPr>
          <a:xfrm>
            <a:off x="673768" y="1250615"/>
            <a:ext cx="10708106" cy="5397008"/>
            <a:chOff x="76200" y="1524000"/>
            <a:chExt cx="8997261" cy="5333999"/>
          </a:xfrm>
        </p:grpSpPr>
        <p:pic>
          <p:nvPicPr>
            <p:cNvPr id="19" name="object 13">
              <a:extLst>
                <a:ext uri="{FF2B5EF4-FFF2-40B4-BE49-F238E27FC236}">
                  <a16:creationId xmlns:a16="http://schemas.microsoft.com/office/drawing/2014/main" id="{173D9A98-DAAE-9879-C061-DE4C714150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7779" y="1524000"/>
              <a:ext cx="6942679" cy="1295400"/>
            </a:xfrm>
            <a:prstGeom prst="rect">
              <a:avLst/>
            </a:prstGeom>
          </p:spPr>
        </p:pic>
        <p:pic>
          <p:nvPicPr>
            <p:cNvPr id="20" name="object 14">
              <a:extLst>
                <a:ext uri="{FF2B5EF4-FFF2-40B4-BE49-F238E27FC236}">
                  <a16:creationId xmlns:a16="http://schemas.microsoft.com/office/drawing/2014/main" id="{CCC0449C-FA5F-FCAB-978B-700167548AB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2743200"/>
              <a:ext cx="6323714" cy="2209800"/>
            </a:xfrm>
            <a:prstGeom prst="rect">
              <a:avLst/>
            </a:prstGeom>
          </p:spPr>
        </p:pic>
        <p:pic>
          <p:nvPicPr>
            <p:cNvPr id="21" name="object 15">
              <a:extLst>
                <a:ext uri="{FF2B5EF4-FFF2-40B4-BE49-F238E27FC236}">
                  <a16:creationId xmlns:a16="http://schemas.microsoft.com/office/drawing/2014/main" id="{862FAD73-03F4-0499-D5DE-03252563EE7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1753" y="4164963"/>
              <a:ext cx="5205136" cy="2693034"/>
            </a:xfrm>
            <a:prstGeom prst="rect">
              <a:avLst/>
            </a:prstGeom>
          </p:spPr>
        </p:pic>
        <p:sp>
          <p:nvSpPr>
            <p:cNvPr id="22" name="object 16">
              <a:extLst>
                <a:ext uri="{FF2B5EF4-FFF2-40B4-BE49-F238E27FC236}">
                  <a16:creationId xmlns:a16="http://schemas.microsoft.com/office/drawing/2014/main" id="{1F1CFDC2-7E38-0A5A-F7D0-8EEFE38D06BB}"/>
                </a:ext>
              </a:extLst>
            </p:cNvPr>
            <p:cNvSpPr/>
            <p:nvPr/>
          </p:nvSpPr>
          <p:spPr>
            <a:xfrm>
              <a:off x="3855181" y="4158614"/>
              <a:ext cx="5218280" cy="2699385"/>
            </a:xfrm>
            <a:custGeom>
              <a:avLst/>
              <a:gdLst/>
              <a:ahLst/>
              <a:cxnLst/>
              <a:rect l="l" t="t" r="r" b="b"/>
              <a:pathLst>
                <a:path w="5041900" h="2699384">
                  <a:moveTo>
                    <a:pt x="5041900" y="2699384"/>
                  </a:moveTo>
                  <a:lnTo>
                    <a:pt x="5041900" y="0"/>
                  </a:lnTo>
                  <a:lnTo>
                    <a:pt x="0" y="0"/>
                  </a:lnTo>
                  <a:lnTo>
                    <a:pt x="0" y="269938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751277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041AD-830B-D0A2-89F3-A5B995C26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3FDBE-4820-1B98-164C-9E2D29BE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14126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Some PHP Array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1A805-1085-53B6-D39C-EB83BFE02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781037"/>
            <a:ext cx="11826240" cy="5956648"/>
          </a:xfrm>
        </p:spPr>
        <p:txBody>
          <a:bodyPr>
            <a:noAutofit/>
          </a:bodyPr>
          <a:lstStyle/>
          <a:p>
            <a:pPr marL="355600" marR="107315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sort()</a:t>
            </a:r>
            <a:r>
              <a:rPr lang="en-US" sz="30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sort</a:t>
            </a:r>
            <a:r>
              <a:rPr lang="en-US" sz="30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ascending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order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rsort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0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sort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 </a:t>
            </a:r>
            <a:r>
              <a:rPr lang="en-US" sz="30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descending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order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asort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0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sort</a:t>
            </a:r>
            <a:r>
              <a:rPr lang="en-US" sz="30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associative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ascending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order,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according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value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</a:t>
            </a:r>
            <a:r>
              <a:rPr lang="en-US" sz="3000" spc="-4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ra</a:t>
            </a:r>
            <a:r>
              <a:rPr lang="en-US" sz="30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y_</a:t>
            </a:r>
            <a:r>
              <a:rPr lang="en-US" sz="3000" spc="-5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k</a:t>
            </a:r>
            <a:r>
              <a:rPr lang="en-US" sz="300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3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000" spc="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000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)</a:t>
            </a:r>
            <a:r>
              <a:rPr lang="en-US" sz="30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r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eturns</a:t>
            </a:r>
            <a:r>
              <a:rPr lang="en-US" sz="30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 an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ra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array_multisort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000" spc="-5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sorts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multiple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multi-dimensional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arrays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array_push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0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inserts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one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more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elements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end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</a:t>
            </a:r>
            <a:r>
              <a:rPr lang="en-US" sz="3000" spc="-4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ra</a:t>
            </a:r>
            <a:r>
              <a:rPr lang="en-US" sz="30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y_</a:t>
            </a:r>
            <a:r>
              <a:rPr lang="en-US" sz="3000" spc="-2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4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00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erse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0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eturns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ra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erse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der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array_search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0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searches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0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given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returns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key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array_sum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0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returns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sum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values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array_unique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0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removes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duplicate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values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shuffle()</a:t>
            </a:r>
            <a:r>
              <a:rPr lang="en-US" sz="30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shuffles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array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4AC357A-A7E1-7D63-EEAC-D76727C9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39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44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B561-BA38-3C22-10F2-385B5102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5613-F68C-14EF-214A-AA1FE6465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0A0DE-FB69-97D8-7C6E-2A27920A3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Besides</a:t>
            </a:r>
            <a:r>
              <a:rPr lang="en-US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built-in</a:t>
            </a:r>
            <a:r>
              <a:rPr lang="en-US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functions,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our</a:t>
            </a:r>
            <a:r>
              <a:rPr lang="en-US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own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functions.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ll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ecu</a:t>
            </a:r>
            <a:r>
              <a:rPr lang="en-US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immedia</a:t>
            </a:r>
            <a:r>
              <a:rPr lang="en-US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hen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</a:t>
            </a:r>
            <a:r>
              <a:rPr lang="en-US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ead w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ll</a:t>
            </a: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ecu</a:t>
            </a:r>
            <a:r>
              <a:rPr lang="en-US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ed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cal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t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2800" b="1" i="1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functionName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(){  </a:t>
            </a:r>
            <a:r>
              <a:rPr lang="en-US" sz="2800" b="1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be</a:t>
            </a:r>
            <a:r>
              <a:rPr lang="en-US" sz="2800" b="1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executed;</a:t>
            </a:r>
            <a:r>
              <a:rPr lang="en-US" sz="2800" b="1" i="1" spc="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}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parameters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2800" b="1" i="1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functionName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($param1,</a:t>
            </a:r>
            <a:r>
              <a:rPr lang="en-US" sz="2800" b="1" i="1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$param2){</a:t>
            </a:r>
            <a:r>
              <a:rPr lang="en-US" sz="2800" b="1" i="1" spc="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2800" b="1" i="1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800" b="1" i="1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2800" b="1" i="1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executed;</a:t>
            </a:r>
            <a:r>
              <a:rPr lang="en-US" sz="2800" b="1" i="1" spc="39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}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default</a:t>
            </a:r>
            <a:r>
              <a:rPr lang="en-US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argument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2800" b="1" i="1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functionName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($param1=5,</a:t>
            </a:r>
            <a:r>
              <a:rPr lang="en-US" sz="2800" b="1" i="1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$param2){</a:t>
            </a:r>
            <a:r>
              <a:rPr lang="en-US" sz="2800" b="1" i="1" spc="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2800" b="1" i="1" spc="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be</a:t>
            </a:r>
            <a:r>
              <a:rPr lang="en-US" sz="2800" b="1" i="1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executed;</a:t>
            </a:r>
            <a:r>
              <a:rPr lang="en-US" sz="2800" b="1" i="1" spc="39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}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Returning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values</a:t>
            </a:r>
            <a:endParaRPr lang="en-US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2800" b="1" i="1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functionName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(){</a:t>
            </a:r>
            <a:r>
              <a:rPr lang="en-US" sz="2800" b="1" i="1" spc="3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2800" b="1" i="1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be</a:t>
            </a:r>
            <a:r>
              <a:rPr lang="en-US" sz="2800" b="1" i="1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executed;</a:t>
            </a:r>
            <a:r>
              <a:rPr lang="en-US" sz="2800" b="1" i="1" spc="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return</a:t>
            </a:r>
            <a:r>
              <a:rPr lang="en-US" sz="2800" b="1" i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$value;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}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414BFC-E9D8-8B3A-64AC-A0C24FA9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175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5187E-A6B1-B513-AF8D-41894827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2DB431D-F2CD-5564-6195-52124864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E48B37-F59A-E87F-5C83-DE2D9E335717}"/>
              </a:ext>
            </a:extLst>
          </p:cNvPr>
          <p:cNvGrpSpPr/>
          <p:nvPr/>
        </p:nvGrpSpPr>
        <p:grpSpPr>
          <a:xfrm>
            <a:off x="264693" y="216567"/>
            <a:ext cx="11189368" cy="6721475"/>
            <a:chOff x="0" y="0"/>
            <a:chExt cx="9150350" cy="6864350"/>
          </a:xfrm>
        </p:grpSpPr>
        <p:grpSp>
          <p:nvGrpSpPr>
            <p:cNvPr id="9" name="object 2">
              <a:extLst>
                <a:ext uri="{FF2B5EF4-FFF2-40B4-BE49-F238E27FC236}">
                  <a16:creationId xmlns:a16="http://schemas.microsoft.com/office/drawing/2014/main" id="{ACAD8A19-E3DC-073F-B49E-DD9E63901E4B}"/>
                </a:ext>
              </a:extLst>
            </p:cNvPr>
            <p:cNvGrpSpPr/>
            <p:nvPr/>
          </p:nvGrpSpPr>
          <p:grpSpPr>
            <a:xfrm>
              <a:off x="825500" y="0"/>
              <a:ext cx="4749800" cy="2457450"/>
              <a:chOff x="825500" y="0"/>
              <a:chExt cx="4749800" cy="2457450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2EF363A7-6F18-3E83-BCBC-78FE064917D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38200" y="0"/>
                <a:ext cx="4724400" cy="2438400"/>
              </a:xfrm>
              <a:prstGeom prst="rect">
                <a:avLst/>
              </a:prstGeom>
            </p:spPr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42B16081-451D-F7DB-9AB2-F964ACC710B9}"/>
                  </a:ext>
                </a:extLst>
              </p:cNvPr>
              <p:cNvSpPr/>
              <p:nvPr/>
            </p:nvSpPr>
            <p:spPr>
              <a:xfrm>
                <a:off x="831850" y="0"/>
                <a:ext cx="4737100" cy="2444750"/>
              </a:xfrm>
              <a:custGeom>
                <a:avLst/>
                <a:gdLst/>
                <a:ahLst/>
                <a:cxnLst/>
                <a:rect l="l" t="t" r="r" b="b"/>
                <a:pathLst>
                  <a:path w="4737100" h="2444750">
                    <a:moveTo>
                      <a:pt x="0" y="2444750"/>
                    </a:moveTo>
                    <a:lnTo>
                      <a:pt x="4737100" y="2444750"/>
                    </a:lnTo>
                    <a:lnTo>
                      <a:pt x="4737100" y="0"/>
                    </a:lnTo>
                  </a:path>
                  <a:path w="4737100" h="2444750">
                    <a:moveTo>
                      <a:pt x="0" y="0"/>
                    </a:moveTo>
                    <a:lnTo>
                      <a:pt x="0" y="2444750"/>
                    </a:lnTo>
                  </a:path>
                </a:pathLst>
              </a:custGeom>
              <a:ln w="12700">
                <a:solidFill>
                  <a:srgbClr val="E7DE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2" name="object 5">
              <a:extLst>
                <a:ext uri="{FF2B5EF4-FFF2-40B4-BE49-F238E27FC236}">
                  <a16:creationId xmlns:a16="http://schemas.microsoft.com/office/drawing/2014/main" id="{C4FEC64F-7B9B-153E-E986-DDB3E7E39E04}"/>
                </a:ext>
              </a:extLst>
            </p:cNvPr>
            <p:cNvGrpSpPr/>
            <p:nvPr/>
          </p:nvGrpSpPr>
          <p:grpSpPr>
            <a:xfrm>
              <a:off x="0" y="2514600"/>
              <a:ext cx="9150350" cy="4349750"/>
              <a:chOff x="0" y="2514600"/>
              <a:chExt cx="9150350" cy="4349750"/>
            </a:xfrm>
          </p:grpSpPr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844F925C-881C-790D-9097-9C419703D92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0" y="2514600"/>
                <a:ext cx="5917687" cy="2895600"/>
              </a:xfrm>
              <a:prstGeom prst="rect">
                <a:avLst/>
              </a:prstGeom>
            </p:spPr>
          </p:pic>
          <p:pic>
            <p:nvPicPr>
              <p:cNvPr id="14" name="object 7">
                <a:extLst>
                  <a:ext uri="{FF2B5EF4-FFF2-40B4-BE49-F238E27FC236}">
                    <a16:creationId xmlns:a16="http://schemas.microsoft.com/office/drawing/2014/main" id="{1B6358A9-2595-6630-B010-C4A90EAD3AF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001515" y="4229100"/>
                <a:ext cx="5142483" cy="2628896"/>
              </a:xfrm>
              <a:prstGeom prst="rect">
                <a:avLst/>
              </a:prstGeom>
            </p:spPr>
          </p:pic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424FB5D0-C301-F13B-DEBA-1F8AF2DD8FC4}"/>
                  </a:ext>
                </a:extLst>
              </p:cNvPr>
              <p:cNvSpPr/>
              <p:nvPr/>
            </p:nvSpPr>
            <p:spPr>
              <a:xfrm>
                <a:off x="3995165" y="4222749"/>
                <a:ext cx="5149215" cy="2635250"/>
              </a:xfrm>
              <a:custGeom>
                <a:avLst/>
                <a:gdLst/>
                <a:ahLst/>
                <a:cxnLst/>
                <a:rect l="l" t="t" r="r" b="b"/>
                <a:pathLst>
                  <a:path w="5149215" h="2635250">
                    <a:moveTo>
                      <a:pt x="5148834" y="0"/>
                    </a:moveTo>
                    <a:lnTo>
                      <a:pt x="0" y="0"/>
                    </a:lnTo>
                    <a:lnTo>
                      <a:pt x="0" y="2635249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4326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9CFF-E20D-F1DF-8888-51706651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1225-E7FA-A217-E63E-8EF6521B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86315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Global Variables -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Superglobals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725C9-7F9F-26A3-A272-5447964AD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Superglobal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built-in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always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available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scopes,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marR="8255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accessed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any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function,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class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without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having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0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anything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special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Some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superglobal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r>
              <a:rPr lang="en-US" sz="3000" spc="4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are: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marR="50800" lvl="2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5700" algn="l"/>
                <a:tab pos="1156335" algn="l"/>
              </a:tabLst>
            </a:pP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$GLOBALS</a:t>
            </a:r>
            <a:r>
              <a:rPr lang="en-US" sz="30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:</a:t>
            </a:r>
            <a:r>
              <a:rPr lang="en-US" sz="3000" spc="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access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anywhere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 </a:t>
            </a:r>
            <a:r>
              <a:rPr lang="en-US" sz="3000" spc="-4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5700" algn="l"/>
                <a:tab pos="1156335" algn="l"/>
              </a:tabLst>
            </a:pPr>
            <a:r>
              <a:rPr lang="en-US" sz="30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$_SERVER: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holds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information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about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headers,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paths,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locations.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5700" algn="l"/>
                <a:tab pos="1156335" algn="l"/>
              </a:tabLst>
            </a:pPr>
            <a:r>
              <a:rPr lang="en-US" sz="30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$_REQUEST:</a:t>
            </a:r>
            <a:r>
              <a:rPr lang="en-US" sz="30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collect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after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submitting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HTML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form.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5700" algn="l"/>
                <a:tab pos="1156335" algn="l"/>
              </a:tabLst>
            </a:pPr>
            <a:r>
              <a:rPr lang="en-US" sz="30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$_POST,</a:t>
            </a:r>
            <a:r>
              <a:rPr lang="en-US" sz="30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$_GET,</a:t>
            </a:r>
            <a:r>
              <a:rPr lang="en-US" sz="30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$_FILES,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$_ENV,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$_COOKIE, 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$_SESSION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2AEB3FC-E9E2-E432-C411-B7C39301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967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AD5E4-45F6-F86A-1A25-A039AEDDE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9619-E4AA-A39A-91DE-3AAB15CD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$_SERVER </a:t>
            </a:r>
            <a:r>
              <a:rPr lang="en-US" sz="5000" b="1" dirty="0">
                <a:latin typeface="Book Antiqua" panose="02040602050305030304" pitchFamily="18" charset="0"/>
              </a:rPr>
              <a:t>Super global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4CEC8-D7A0-3743-97B8-F5B467F81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1138773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$_SERVER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holds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information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about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headers,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paths,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 </a:t>
            </a:r>
            <a:r>
              <a:rPr lang="en-US" sz="3200" spc="-6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locations.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1DB9A1-6DEE-6318-852E-A5D4AED6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pic>
        <p:nvPicPr>
          <p:cNvPr id="4" name="object 13">
            <a:extLst>
              <a:ext uri="{FF2B5EF4-FFF2-40B4-BE49-F238E27FC236}">
                <a16:creationId xmlns:a16="http://schemas.microsoft.com/office/drawing/2014/main" id="{EB1C7451-A72B-84F6-457F-59E3FCD6F5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629" y="2150076"/>
            <a:ext cx="10580735" cy="423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438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9E12-7661-00FC-BE55-853AE64E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439C-CEDA-D8D9-84AF-A204C701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11522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$_POST</a:t>
            </a:r>
            <a:r>
              <a:rPr lang="en-US" sz="5000" b="1" dirty="0">
                <a:latin typeface="Book Antiqua" panose="02040602050305030304" pitchFamily="18" charset="0"/>
              </a:rPr>
              <a:t> Super global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B4F52-6C0A-D8D3-BE95-D9A9125A5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63019"/>
            <a:ext cx="11826240" cy="1064633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$_POST</a:t>
            </a:r>
            <a:r>
              <a:rPr lang="en-US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to</a:t>
            </a:r>
            <a:r>
              <a:rPr lang="en-US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collect</a:t>
            </a:r>
            <a:r>
              <a:rPr lang="en-US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after</a:t>
            </a:r>
            <a:r>
              <a:rPr lang="en-US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submitting </a:t>
            </a:r>
            <a:r>
              <a:rPr lang="en-US" spc="-6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HTML</a:t>
            </a:r>
            <a:r>
              <a:rPr lang="en-US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method="post”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E9CF360-45A2-D27A-B783-5051666B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pic>
        <p:nvPicPr>
          <p:cNvPr id="4" name="object 13">
            <a:extLst>
              <a:ext uri="{FF2B5EF4-FFF2-40B4-BE49-F238E27FC236}">
                <a16:creationId xmlns:a16="http://schemas.microsoft.com/office/drawing/2014/main" id="{29703E71-B787-79E6-32F2-C0DE94C07D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276" y="1771211"/>
            <a:ext cx="9380835" cy="513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037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1E98-1602-88B7-11B0-20FE3305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CFA2-9FB4-2545-4577-CCDCF0AD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$_GET</a:t>
            </a:r>
            <a:r>
              <a:rPr lang="en-US" sz="5000" b="1" dirty="0">
                <a:latin typeface="Book Antiqua" panose="02040602050305030304" pitchFamily="18" charset="0"/>
              </a:rPr>
              <a:t> Super global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D17F-E04B-B879-93D8-EC3C46B65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1336481"/>
          </a:xfrm>
        </p:spPr>
        <p:txBody>
          <a:bodyPr>
            <a:noAutofit/>
          </a:bodyPr>
          <a:lstStyle/>
          <a:p>
            <a:pPr marL="355600" marR="5080" indent="-342900"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$_GET</a:t>
            </a:r>
            <a:r>
              <a:rPr lang="en-US" sz="3000" spc="-1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collect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30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after</a:t>
            </a:r>
            <a:r>
              <a:rPr lang="en-US" sz="30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submitting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 </a:t>
            </a:r>
            <a:r>
              <a:rPr lang="en-US" sz="3000" spc="-6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HTML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method="get“</a:t>
            </a:r>
          </a:p>
          <a:p>
            <a:pPr marL="355600" marR="5080" indent="-342900"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$_GET</a:t>
            </a:r>
            <a:r>
              <a:rPr lang="en-US" sz="3000" spc="-1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also</a:t>
            </a:r>
            <a:r>
              <a:rPr lang="en-US" sz="30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collect</a:t>
            </a:r>
            <a:r>
              <a:rPr lang="en-US" sz="30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sent</a:t>
            </a:r>
            <a:r>
              <a:rPr lang="en-US" sz="3000" spc="-1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along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URL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7FB02DE-FF57-0C3E-FD59-21DF65C9D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E0FE37-2FC2-DE7F-A13D-D2DED523D6C8}"/>
              </a:ext>
            </a:extLst>
          </p:cNvPr>
          <p:cNvSpPr txBox="1">
            <a:spLocks/>
          </p:cNvSpPr>
          <p:nvPr/>
        </p:nvSpPr>
        <p:spPr>
          <a:xfrm>
            <a:off x="617197" y="2397212"/>
            <a:ext cx="11047581" cy="2211861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&lt;html&gt;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&lt;body&gt;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       &lt;a </a:t>
            </a:r>
            <a:r>
              <a:rPr lang="en-US" b="1" spc="-5" dirty="0" err="1">
                <a:solidFill>
                  <a:srgbClr val="001F5F"/>
                </a:solidFill>
                <a:latin typeface="Book Antiqua" panose="02040602050305030304" pitchFamily="18" charset="0"/>
              </a:rPr>
              <a:t>href</a:t>
            </a: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=“test_get.php?num1=2&amp;num2=3”&gt; Test $GET &lt;/a&gt;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&lt;/body&gt;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&lt;/html&gt;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71FAAB-5AD3-468E-7C50-ACD50EADF330}"/>
              </a:ext>
            </a:extLst>
          </p:cNvPr>
          <p:cNvSpPr txBox="1">
            <a:spLocks/>
          </p:cNvSpPr>
          <p:nvPr/>
        </p:nvSpPr>
        <p:spPr>
          <a:xfrm>
            <a:off x="695455" y="4724414"/>
            <a:ext cx="10969323" cy="2211861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&lt;html&gt;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&lt;body&gt;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</a:rPr>
              <a:t>      &lt;? </a:t>
            </a:r>
            <a:r>
              <a:rPr lang="en-US" b="1" spc="-5" dirty="0" err="1">
                <a:solidFill>
                  <a:srgbClr val="FF0000"/>
                </a:solidFill>
                <a:latin typeface="Book Antiqua" panose="02040602050305030304" pitchFamily="18" charset="0"/>
              </a:rPr>
              <a:t>php</a:t>
            </a:r>
            <a:r>
              <a:rPr lang="en-US" b="1" spc="-5" dirty="0">
                <a:solidFill>
                  <a:srgbClr val="FF0000"/>
                </a:solidFill>
                <a:latin typeface="Book Antiqua" panose="02040602050305030304" pitchFamily="18" charset="0"/>
              </a:rPr>
              <a:t>   echo  “Product= “. $_GET[‘num1’]*$_GET[‘num2’]; ?&gt;</a:t>
            </a:r>
            <a:endParaRPr lang="en-US" b="1" spc="-5" dirty="0">
              <a:solidFill>
                <a:srgbClr val="001F5F"/>
              </a:solidFill>
              <a:latin typeface="Book Antiqua" panose="0204060205030503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&lt;/body&gt;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b="1" spc="-5" dirty="0">
                <a:solidFill>
                  <a:srgbClr val="001F5F"/>
                </a:solidFill>
                <a:latin typeface="Book Antiqua" panose="02040602050305030304" pitchFamily="18" charset="0"/>
              </a:rPr>
              <a:t>&lt;/html&gt;</a:t>
            </a:r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F964F63F-9B28-7A29-0358-06135F357C32}"/>
              </a:ext>
            </a:extLst>
          </p:cNvPr>
          <p:cNvSpPr txBox="1"/>
          <p:nvPr/>
        </p:nvSpPr>
        <p:spPr>
          <a:xfrm>
            <a:off x="9094580" y="4889676"/>
            <a:ext cx="2347784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latin typeface="Book Antiqua" panose="02040602050305030304" pitchFamily="18" charset="0"/>
                <a:cs typeface="Calibri"/>
              </a:rPr>
              <a:t>test_get.php</a:t>
            </a:r>
            <a:endParaRPr sz="3000" dirty="0">
              <a:latin typeface="Book Antiqua" panose="02040602050305030304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8985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C856B-EDA2-4289-FA12-68524ACDF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907F-3923-A51C-0A97-D020BB54D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Date and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BA285-1352-EFCC-8823-B75255904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date()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formats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timestamp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more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readable da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date(</a:t>
            </a:r>
            <a:r>
              <a:rPr lang="en-US" sz="32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format,timestamp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)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5700" algn="l"/>
                <a:tab pos="1156335" algn="l"/>
              </a:tabLst>
            </a:pP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format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Required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28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Specifies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format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800" spc="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timestamp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Represents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day</a:t>
            </a:r>
            <a:r>
              <a:rPr lang="en-US" sz="2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6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month</a:t>
            </a: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(01</a:t>
            </a:r>
            <a:r>
              <a:rPr lang="en-US" sz="2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31)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2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Represents</a:t>
            </a:r>
            <a:r>
              <a:rPr lang="en-US" sz="2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month</a:t>
            </a: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(01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12)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Represents</a:t>
            </a:r>
            <a:r>
              <a:rPr lang="en-US" sz="2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6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year</a:t>
            </a:r>
            <a:r>
              <a:rPr lang="en-US" sz="2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(in</a:t>
            </a:r>
            <a:r>
              <a:rPr lang="en-US" sz="2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four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digits)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(lowercase</a:t>
            </a:r>
            <a:r>
              <a:rPr lang="en-US" sz="2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'L')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Represents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day</a:t>
            </a:r>
            <a:r>
              <a:rPr lang="en-US" sz="2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6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week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5700" algn="l"/>
                <a:tab pos="1156335" algn="l"/>
              </a:tabLst>
            </a:pP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timestamp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Optional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Specifies</a:t>
            </a:r>
            <a:r>
              <a:rPr lang="en-US" sz="2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timestamp:</a:t>
            </a:r>
            <a:r>
              <a:rPr lang="en-US" sz="2600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which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sequence</a:t>
            </a:r>
            <a:r>
              <a:rPr lang="en-US" sz="2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6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characters,</a:t>
            </a: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denoting</a:t>
            </a:r>
            <a:r>
              <a:rPr lang="en-US" sz="26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date</a:t>
            </a:r>
            <a:r>
              <a:rPr lang="en-US" sz="2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and/or time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which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certain</a:t>
            </a:r>
            <a:r>
              <a:rPr lang="en-US" sz="2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event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occurred.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Default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current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date</a:t>
            </a:r>
            <a:r>
              <a:rPr lang="en-US" sz="2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time</a:t>
            </a:r>
            <a:endParaRPr lang="en-US" sz="26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61D5B25-5710-4648-7306-6138C3C2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4517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1D5F-3E11-74F2-388C-A783B892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E28A-98F1-F35D-CD22-FF2AA87D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11522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Date Examples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FDDB7E3-015C-5F1F-20BA-C2E0D1BE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420F225B-5292-5C47-1416-63BE271A27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508" y="970286"/>
            <a:ext cx="10031028" cy="575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447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482B-1A9A-095D-2242-1E5600BA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2BFA-10E7-AC70-8CE2-0DBC1F32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3738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Include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75180-975D-D515-C621-924DBB4D2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788877"/>
            <a:ext cx="11826240" cy="5908173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Include</a:t>
            </a:r>
            <a:r>
              <a:rPr lang="en-US" sz="30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&amp;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Require</a:t>
            </a:r>
            <a:r>
              <a:rPr lang="en-US" sz="30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Statements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insert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content</a:t>
            </a:r>
            <a:r>
              <a:rPr lang="en-US" sz="30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one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into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another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 </a:t>
            </a:r>
            <a:r>
              <a:rPr lang="en-US" sz="30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(bef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0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ecu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it)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include</a:t>
            </a:r>
            <a:r>
              <a:rPr lang="en-US" sz="3000" b="1" i="1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b="1" i="1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'filename'; </a:t>
            </a:r>
            <a:r>
              <a:rPr lang="en-US" sz="3000" b="1" i="1" spc="3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000" spc="8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b="1" i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require</a:t>
            </a:r>
            <a:r>
              <a:rPr lang="en-US" sz="3000" b="1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b="1" i="1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'filename';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marR="273050" indent="-342900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include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require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statements</a:t>
            </a:r>
            <a:r>
              <a:rPr lang="en-US" sz="30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identical,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except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upon </a:t>
            </a:r>
            <a:r>
              <a:rPr lang="en-US" sz="3000" spc="-5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failure: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marR="25400" lvl="1" indent="-287020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920" algn="l"/>
              </a:tabLst>
            </a:pP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not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found </a:t>
            </a:r>
            <a:r>
              <a:rPr lang="en-US" sz="3000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require</a:t>
            </a:r>
            <a:r>
              <a:rPr lang="en-US" sz="3000" b="1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produce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fatal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error</a:t>
            </a:r>
            <a:r>
              <a:rPr lang="en-US" sz="30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stop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0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whereas</a:t>
            </a:r>
            <a:r>
              <a:rPr lang="en-US" sz="3000" spc="4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include</a:t>
            </a:r>
            <a:r>
              <a:rPr lang="en-US" sz="3000" b="1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only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produce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warning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 </a:t>
            </a:r>
            <a:r>
              <a:rPr lang="en-US" sz="30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continue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So,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you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want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execution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go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show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users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output,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even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 the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include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missing,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include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statement.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1195985-B070-BFF9-3EEC-0C3C2388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7397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7D8A-5678-9F6F-4E2D-5968D448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0D99-7258-5483-EFC8-0C4618B50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include &amp; require</a:t>
            </a:r>
            <a:r>
              <a:rPr lang="en-US" sz="5000" b="1" dirty="0">
                <a:latin typeface="Book Antiqua" panose="02040602050305030304" pitchFamily="18" charset="0"/>
              </a:rPr>
              <a:t> Examples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BF6071B-24AB-A500-9423-C3BCB8EA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49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6612FDF-DB1E-4853-CD7F-3666AAFE0A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1371600"/>
            <a:ext cx="1837797" cy="1133475"/>
          </a:xfrm>
          <a:prstGeom prst="rect">
            <a:avLst/>
          </a:prstGeom>
        </p:spPr>
      </p:pic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EF3472B1-9D92-033D-C527-4A469C0F3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022043"/>
              </p:ext>
            </p:extLst>
          </p:nvPr>
        </p:nvGraphicFramePr>
        <p:xfrm>
          <a:off x="4940299" y="1224717"/>
          <a:ext cx="3832997" cy="128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683">
                <a:tc gridSpan="2"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891A7"/>
                      </a:solidFill>
                      <a:prstDash val="solid"/>
                    </a:lnL>
                    <a:lnR w="12700">
                      <a:solidFill>
                        <a:srgbClr val="3891A7"/>
                      </a:solidFill>
                      <a:prstDash val="solid"/>
                    </a:lnR>
                    <a:lnT w="12700">
                      <a:solidFill>
                        <a:srgbClr val="3891A7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891A7"/>
                      </a:solidFill>
                      <a:prstDash val="solid"/>
                    </a:lnL>
                    <a:lnB w="28575">
                      <a:solidFill>
                        <a:srgbClr val="3891A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891A7"/>
                      </a:solidFill>
                      <a:prstDash val="solid"/>
                    </a:lnL>
                    <a:lnR w="28575">
                      <a:solidFill>
                        <a:srgbClr val="3891A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3891A7"/>
                      </a:solidFill>
                      <a:prstDash val="solid"/>
                    </a:lnL>
                    <a:lnR w="12700">
                      <a:solidFill>
                        <a:srgbClr val="3891A7"/>
                      </a:solidFill>
                      <a:prstDash val="solid"/>
                    </a:lnR>
                    <a:lnT w="28575">
                      <a:solidFill>
                        <a:srgbClr val="3891A7"/>
                      </a:solidFill>
                      <a:prstDash val="solid"/>
                    </a:lnT>
                    <a:lnB w="28575">
                      <a:solidFill>
                        <a:srgbClr val="3891A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php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3891A7"/>
                      </a:solidFill>
                      <a:prstDash val="solid"/>
                    </a:lnL>
                    <a:lnR w="28575">
                      <a:solidFill>
                        <a:srgbClr val="3891A7"/>
                      </a:solidFill>
                      <a:prstDash val="solid"/>
                    </a:lnR>
                    <a:lnT w="28575">
                      <a:solidFill>
                        <a:srgbClr val="3891A7"/>
                      </a:solidFill>
                      <a:prstDash val="solid"/>
                    </a:lnT>
                    <a:lnB w="28575">
                      <a:solidFill>
                        <a:srgbClr val="3891A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109">
                <a:tc gridSpan="2"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891A7"/>
                      </a:solidFill>
                      <a:prstDash val="solid"/>
                    </a:lnL>
                    <a:lnR w="12700">
                      <a:solidFill>
                        <a:srgbClr val="3891A7"/>
                      </a:solidFill>
                      <a:prstDash val="solid"/>
                    </a:lnR>
                    <a:lnB w="12700">
                      <a:solidFill>
                        <a:srgbClr val="3891A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891A7"/>
                      </a:solidFill>
                      <a:prstDash val="solid"/>
                    </a:lnL>
                    <a:lnT w="28575">
                      <a:solidFill>
                        <a:srgbClr val="3891A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350682D4-F45E-A6E3-5E23-70A44FF08A95}"/>
              </a:ext>
            </a:extLst>
          </p:cNvPr>
          <p:cNvGrpSpPr/>
          <p:nvPr/>
        </p:nvGrpSpPr>
        <p:grpSpPr>
          <a:xfrm>
            <a:off x="4946650" y="2660650"/>
            <a:ext cx="5729588" cy="1841500"/>
            <a:chOff x="4946650" y="2660650"/>
            <a:chExt cx="4197350" cy="1841500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61DD99CD-A39C-C8AB-2BC2-A314AE44EAF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0" y="2705501"/>
              <a:ext cx="4181230" cy="1761423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9E89927-69B4-3FF7-8F1B-FFDB44E51223}"/>
                </a:ext>
              </a:extLst>
            </p:cNvPr>
            <p:cNvSpPr/>
            <p:nvPr/>
          </p:nvSpPr>
          <p:spPr>
            <a:xfrm>
              <a:off x="4946650" y="2660650"/>
              <a:ext cx="4197350" cy="1841500"/>
            </a:xfrm>
            <a:custGeom>
              <a:avLst/>
              <a:gdLst/>
              <a:ahLst/>
              <a:cxnLst/>
              <a:rect l="l" t="t" r="r" b="b"/>
              <a:pathLst>
                <a:path w="4197350" h="1841500">
                  <a:moveTo>
                    <a:pt x="0" y="1841500"/>
                  </a:moveTo>
                  <a:lnTo>
                    <a:pt x="4197350" y="1841500"/>
                  </a:lnTo>
                </a:path>
                <a:path w="4197350" h="1841500">
                  <a:moveTo>
                    <a:pt x="4197350" y="0"/>
                  </a:moveTo>
                  <a:lnTo>
                    <a:pt x="0" y="0"/>
                  </a:lnTo>
                  <a:lnTo>
                    <a:pt x="0" y="1841500"/>
                  </a:lnTo>
                </a:path>
              </a:pathLst>
            </a:custGeom>
            <a:ln w="12700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2626CD-59A3-FD60-4216-B46586E64F90}"/>
              </a:ext>
            </a:extLst>
          </p:cNvPr>
          <p:cNvGrpSpPr/>
          <p:nvPr/>
        </p:nvGrpSpPr>
        <p:grpSpPr>
          <a:xfrm>
            <a:off x="4946649" y="4718050"/>
            <a:ext cx="5729587" cy="2139950"/>
            <a:chOff x="4946650" y="4718050"/>
            <a:chExt cx="4197350" cy="2139950"/>
          </a:xfrm>
        </p:grpSpPr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42816A98-3CD8-AD35-8758-0F9184F660F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3000" y="4745014"/>
              <a:ext cx="4161963" cy="2061447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FD1FD843-DCE1-E423-986B-AA2AD9DB7F11}"/>
                </a:ext>
              </a:extLst>
            </p:cNvPr>
            <p:cNvSpPr/>
            <p:nvPr/>
          </p:nvSpPr>
          <p:spPr>
            <a:xfrm>
              <a:off x="4946650" y="4718050"/>
              <a:ext cx="4197350" cy="2139950"/>
            </a:xfrm>
            <a:custGeom>
              <a:avLst/>
              <a:gdLst/>
              <a:ahLst/>
              <a:cxnLst/>
              <a:rect l="l" t="t" r="r" b="b"/>
              <a:pathLst>
                <a:path w="4197350" h="2139950">
                  <a:moveTo>
                    <a:pt x="4197350" y="0"/>
                  </a:moveTo>
                  <a:lnTo>
                    <a:pt x="0" y="0"/>
                  </a:lnTo>
                  <a:lnTo>
                    <a:pt x="0" y="2139947"/>
                  </a:lnTo>
                </a:path>
              </a:pathLst>
            </a:custGeom>
            <a:ln w="12700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>
            <a:extLst>
              <a:ext uri="{FF2B5EF4-FFF2-40B4-BE49-F238E27FC236}">
                <a16:creationId xmlns:a16="http://schemas.microsoft.com/office/drawing/2014/main" id="{ECC05CF1-F4E3-C570-6668-373B7849A74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3850" y="1358900"/>
            <a:ext cx="4067175" cy="467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9165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F0EF-0E53-7A01-C024-8D80910A2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2316F-EEBF-79EF-ED27-B7B36500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Manipulating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0025F-2FDA-D2F3-C5FD-5E9C478B9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marR="12782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several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200" spc="-1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creating, </a:t>
            </a:r>
            <a:r>
              <a:rPr lang="en-US" sz="3200" spc="-7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reading,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uploading,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editing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files.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fopen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(filename,</a:t>
            </a:r>
            <a:r>
              <a:rPr lang="en-US" sz="3200" spc="-8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openingMode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):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opens a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file,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 a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does not exist,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it, </a:t>
            </a:r>
            <a:r>
              <a:rPr lang="en-US" sz="3200" spc="-5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given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opened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writing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(w)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appending </a:t>
            </a:r>
            <a:r>
              <a:rPr lang="en-US" sz="3200" spc="-5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(a).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fclose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</a:t>
            </a:r>
            <a:r>
              <a:rPr lang="en-US" sz="3200" spc="-1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pointerToOpenedFile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):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close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open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feof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</a:t>
            </a:r>
            <a:r>
              <a:rPr lang="en-US" sz="3200" spc="-1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pointerToOpenedFile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):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checks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"end-of-file"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(EOF)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been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reached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8062D5B-D12B-914D-E2AB-CB5A9560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8101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E22B-3A1F-FFFB-60AF-2D31B689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81BC-F7DD-DEDB-E5BD-BB434E19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11522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File Opening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C4EE-2161-D70F-7631-6A7D5EE07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788877"/>
            <a:ext cx="11826240" cy="601969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6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spc="3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only.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pointer</a:t>
            </a:r>
            <a:r>
              <a:rPr lang="en-US" sz="2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start</a:t>
            </a:r>
            <a:r>
              <a:rPr lang="en-US" sz="26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6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6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r+</a:t>
            </a:r>
            <a:r>
              <a:rPr lang="en-US" sz="26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Read/Write.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pointer</a:t>
            </a:r>
            <a:r>
              <a:rPr lang="en-US" sz="2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start</a:t>
            </a:r>
            <a:r>
              <a:rPr lang="en-US" sz="2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6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6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26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spc="-1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2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6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w+</a:t>
            </a:r>
            <a:r>
              <a:rPr lang="en-US" sz="26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Read/Write.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Overwrites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6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600" spc="-9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Append.</a:t>
            </a:r>
            <a:r>
              <a:rPr lang="en-US" sz="2600" spc="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2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pointer</a:t>
            </a:r>
            <a:r>
              <a:rPr lang="en-US" sz="2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end</a:t>
            </a:r>
            <a:r>
              <a:rPr lang="en-US" sz="2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6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file.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doesn't</a:t>
            </a:r>
            <a:r>
              <a:rPr lang="en-US" sz="2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exist,</a:t>
            </a:r>
            <a:r>
              <a:rPr lang="en-US" sz="26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fopen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</a:t>
            </a:r>
            <a:r>
              <a:rPr lang="en-US" sz="26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try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6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a+</a:t>
            </a:r>
            <a:r>
              <a:rPr lang="en-US" sz="26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ead/</a:t>
            </a: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ppend.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po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2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end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6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e.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6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x</a:t>
            </a:r>
            <a:r>
              <a:rPr lang="en-US" sz="2600" spc="-5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2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open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2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spc="-1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poin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2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beginnin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6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e.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26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already</a:t>
            </a:r>
            <a:r>
              <a:rPr lang="en-US" sz="2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exists,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fopen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call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fail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generate</a:t>
            </a:r>
            <a:r>
              <a:rPr lang="en-US" sz="26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2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error.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26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does</a:t>
            </a:r>
            <a:r>
              <a:rPr lang="en-US" sz="2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not exist,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6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x</a:t>
            </a:r>
            <a:r>
              <a:rPr lang="en-US" sz="26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+</a:t>
            </a:r>
            <a:r>
              <a:rPr lang="en-US" sz="26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2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open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2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ead/wri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e.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poin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2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beginnin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26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e.</a:t>
            </a:r>
            <a:endParaRPr lang="en-US" sz="26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already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exists,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fopen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2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call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fail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generate</a:t>
            </a:r>
            <a:r>
              <a:rPr lang="en-US" sz="2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2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error.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</a:p>
          <a:p>
            <a:pPr marL="469265" marR="5080" lvl="1" indent="0">
              <a:lnSpc>
                <a:spcPct val="100000"/>
              </a:lnSpc>
              <a:spcBef>
                <a:spcPts val="0"/>
              </a:spcBef>
              <a:buNone/>
              <a:tabLst>
                <a:tab pos="756285" algn="l"/>
                <a:tab pos="756920" algn="l"/>
              </a:tabLst>
            </a:pP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  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26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2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does</a:t>
            </a:r>
            <a:r>
              <a:rPr lang="en-US" sz="2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not </a:t>
            </a:r>
            <a:r>
              <a:rPr lang="en-US" sz="2600" spc="-3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exist,</a:t>
            </a:r>
            <a:r>
              <a:rPr lang="en-US" sz="2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try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2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</a:t>
            </a:r>
            <a:r>
              <a:rPr lang="en-US" sz="2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endParaRPr lang="en-US" sz="26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3D54EB5-C06B-6D63-A349-8AEBDB8B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0115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02602-D62F-DC40-CE9E-ABB2553F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08DE-B17E-0F60-0EA4-834AA2B9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Read from File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1B80-ECAE-7BF3-E0B7-155FADFD0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readfile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(filename):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reads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writes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buffer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fread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(param1,</a:t>
            </a:r>
            <a:r>
              <a:rPr lang="en-US" sz="3200" spc="-9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param2):</a:t>
            </a:r>
            <a:r>
              <a:rPr lang="en-US" sz="3200" spc="-9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open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1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param1: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contains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 from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1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2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: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eci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ead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2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fgets</a:t>
            </a:r>
            <a:r>
              <a:rPr lang="en-US" sz="32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</a:t>
            </a:r>
            <a:r>
              <a:rPr lang="en-US" sz="3200" spc="-2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pointerToOpenedFile</a:t>
            </a:r>
            <a:r>
              <a:rPr lang="en-US" sz="32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)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single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line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2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fgetc</a:t>
            </a:r>
            <a:r>
              <a:rPr lang="en-US" sz="32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</a:t>
            </a:r>
            <a:r>
              <a:rPr lang="en-US" sz="3200" spc="-2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pointerToOpenedFile</a:t>
            </a:r>
            <a:r>
              <a:rPr lang="en-US" sz="32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)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single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character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from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C584163-A5BE-E569-E72D-7BC34C070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3804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588C-807B-DF9D-EA77-57AFF3AB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A56EC72-0D91-B7FD-0BB4-101B4AD6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5B87185-C40D-DB99-82B0-496FEE6E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692" y="2139946"/>
            <a:ext cx="5841308" cy="2228022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PHP File Manipulation Examples</a:t>
            </a:r>
          </a:p>
        </p:txBody>
      </p:sp>
      <p:grpSp>
        <p:nvGrpSpPr>
          <p:cNvPr id="10" name="object 2">
            <a:extLst>
              <a:ext uri="{FF2B5EF4-FFF2-40B4-BE49-F238E27FC236}">
                <a16:creationId xmlns:a16="http://schemas.microsoft.com/office/drawing/2014/main" id="{618E7FF4-EFD8-45A7-3390-1B5208727A4D}"/>
              </a:ext>
            </a:extLst>
          </p:cNvPr>
          <p:cNvGrpSpPr/>
          <p:nvPr/>
        </p:nvGrpSpPr>
        <p:grpSpPr>
          <a:xfrm>
            <a:off x="69674" y="2450414"/>
            <a:ext cx="5803900" cy="1942268"/>
            <a:chOff x="292100" y="2425700"/>
            <a:chExt cx="5173980" cy="1410970"/>
          </a:xfrm>
        </p:grpSpPr>
        <p:pic>
          <p:nvPicPr>
            <p:cNvPr id="11" name="object 3">
              <a:extLst>
                <a:ext uri="{FF2B5EF4-FFF2-40B4-BE49-F238E27FC236}">
                  <a16:creationId xmlns:a16="http://schemas.microsoft.com/office/drawing/2014/main" id="{E81F3504-F1AD-A056-5947-3B64BC77F35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2438400"/>
              <a:ext cx="5148199" cy="1385443"/>
            </a:xfrm>
            <a:prstGeom prst="rect">
              <a:avLst/>
            </a:prstGeom>
          </p:spPr>
        </p:pic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867C3BE8-F290-F8FF-73DA-C763807D06CA}"/>
                </a:ext>
              </a:extLst>
            </p:cNvPr>
            <p:cNvSpPr/>
            <p:nvPr/>
          </p:nvSpPr>
          <p:spPr>
            <a:xfrm>
              <a:off x="298450" y="2432050"/>
              <a:ext cx="5161280" cy="1398270"/>
            </a:xfrm>
            <a:custGeom>
              <a:avLst/>
              <a:gdLst/>
              <a:ahLst/>
              <a:cxnLst/>
              <a:rect l="l" t="t" r="r" b="b"/>
              <a:pathLst>
                <a:path w="5161280" h="1398270">
                  <a:moveTo>
                    <a:pt x="0" y="1398143"/>
                  </a:moveTo>
                  <a:lnTo>
                    <a:pt x="5160899" y="1398143"/>
                  </a:lnTo>
                  <a:lnTo>
                    <a:pt x="5160899" y="0"/>
                  </a:lnTo>
                  <a:lnTo>
                    <a:pt x="0" y="0"/>
                  </a:lnTo>
                  <a:lnTo>
                    <a:pt x="0" y="1398143"/>
                  </a:lnTo>
                  <a:close/>
                </a:path>
              </a:pathLst>
            </a:custGeom>
            <a:ln w="12700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5">
            <a:extLst>
              <a:ext uri="{FF2B5EF4-FFF2-40B4-BE49-F238E27FC236}">
                <a16:creationId xmlns:a16="http://schemas.microsoft.com/office/drawing/2014/main" id="{2D5BF29B-D616-6573-1429-1209D6BADF10}"/>
              </a:ext>
            </a:extLst>
          </p:cNvPr>
          <p:cNvGrpSpPr/>
          <p:nvPr/>
        </p:nvGrpSpPr>
        <p:grpSpPr>
          <a:xfrm>
            <a:off x="63500" y="4483062"/>
            <a:ext cx="9017000" cy="2374938"/>
            <a:chOff x="63500" y="4483062"/>
            <a:chExt cx="9017000" cy="2087880"/>
          </a:xfrm>
        </p:grpSpPr>
        <p:pic>
          <p:nvPicPr>
            <p:cNvPr id="14" name="object 6">
              <a:extLst>
                <a:ext uri="{FF2B5EF4-FFF2-40B4-BE49-F238E27FC236}">
                  <a16:creationId xmlns:a16="http://schemas.microsoft.com/office/drawing/2014/main" id="{61E5776A-6D27-5732-142C-7DF6F1852C7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4495762"/>
              <a:ext cx="8991600" cy="2062480"/>
            </a:xfrm>
            <a:prstGeom prst="rect">
              <a:avLst/>
            </a:prstGeom>
          </p:spPr>
        </p:pic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8BE6BF7F-0AEE-5F1B-7915-8A34312B52C3}"/>
                </a:ext>
              </a:extLst>
            </p:cNvPr>
            <p:cNvSpPr/>
            <p:nvPr/>
          </p:nvSpPr>
          <p:spPr>
            <a:xfrm>
              <a:off x="69850" y="4489412"/>
              <a:ext cx="9004300" cy="2075180"/>
            </a:xfrm>
            <a:custGeom>
              <a:avLst/>
              <a:gdLst/>
              <a:ahLst/>
              <a:cxnLst/>
              <a:rect l="l" t="t" r="r" b="b"/>
              <a:pathLst>
                <a:path w="9004300" h="2075179">
                  <a:moveTo>
                    <a:pt x="0" y="2075180"/>
                  </a:moveTo>
                  <a:lnTo>
                    <a:pt x="9004300" y="2075180"/>
                  </a:lnTo>
                  <a:lnTo>
                    <a:pt x="9004300" y="0"/>
                  </a:lnTo>
                  <a:lnTo>
                    <a:pt x="0" y="0"/>
                  </a:lnTo>
                  <a:lnTo>
                    <a:pt x="0" y="2075180"/>
                  </a:lnTo>
                  <a:close/>
                </a:path>
              </a:pathLst>
            </a:custGeom>
            <a:ln w="12699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8">
            <a:extLst>
              <a:ext uri="{FF2B5EF4-FFF2-40B4-BE49-F238E27FC236}">
                <a16:creationId xmlns:a16="http://schemas.microsoft.com/office/drawing/2014/main" id="{F92820E7-FF4D-CDED-B20C-C30A265109FA}"/>
              </a:ext>
            </a:extLst>
          </p:cNvPr>
          <p:cNvGrpSpPr/>
          <p:nvPr/>
        </p:nvGrpSpPr>
        <p:grpSpPr>
          <a:xfrm>
            <a:off x="66649" y="49428"/>
            <a:ext cx="6118225" cy="2368588"/>
            <a:chOff x="66649" y="0"/>
            <a:chExt cx="6118225" cy="1924050"/>
          </a:xfrm>
        </p:grpSpPr>
        <p:pic>
          <p:nvPicPr>
            <p:cNvPr id="17" name="object 9">
              <a:extLst>
                <a:ext uri="{FF2B5EF4-FFF2-40B4-BE49-F238E27FC236}">
                  <a16:creationId xmlns:a16="http://schemas.microsoft.com/office/drawing/2014/main" id="{52014113-7818-67A8-3777-60D48F1BB04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837" y="0"/>
              <a:ext cx="6061337" cy="1905000"/>
            </a:xfrm>
            <a:prstGeom prst="rect">
              <a:avLst/>
            </a:prstGeom>
          </p:spPr>
        </p:pic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CC76ED23-D860-D6EB-5827-2DB5DA882D37}"/>
                </a:ext>
              </a:extLst>
            </p:cNvPr>
            <p:cNvSpPr/>
            <p:nvPr/>
          </p:nvSpPr>
          <p:spPr>
            <a:xfrm>
              <a:off x="72999" y="0"/>
              <a:ext cx="6105525" cy="1911350"/>
            </a:xfrm>
            <a:custGeom>
              <a:avLst/>
              <a:gdLst/>
              <a:ahLst/>
              <a:cxnLst/>
              <a:rect l="l" t="t" r="r" b="b"/>
              <a:pathLst>
                <a:path w="6105525" h="1911350">
                  <a:moveTo>
                    <a:pt x="0" y="1911350"/>
                  </a:moveTo>
                  <a:lnTo>
                    <a:pt x="6105525" y="1911350"/>
                  </a:lnTo>
                  <a:lnTo>
                    <a:pt x="6105525" y="0"/>
                  </a:lnTo>
                </a:path>
                <a:path w="6105525" h="1911350">
                  <a:moveTo>
                    <a:pt x="0" y="0"/>
                  </a:moveTo>
                  <a:lnTo>
                    <a:pt x="0" y="1911350"/>
                  </a:lnTo>
                </a:path>
              </a:pathLst>
            </a:custGeom>
            <a:ln w="12700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136426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DD47-7659-3439-A305-CCE8F591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6A4DBC7-0E1D-04B4-B891-BB25DEEB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grpSp>
        <p:nvGrpSpPr>
          <p:cNvPr id="2" name="object 2">
            <a:extLst>
              <a:ext uri="{FF2B5EF4-FFF2-40B4-BE49-F238E27FC236}">
                <a16:creationId xmlns:a16="http://schemas.microsoft.com/office/drawing/2014/main" id="{487CEBDC-8FA4-EAAB-DCE4-31086AF32B11}"/>
              </a:ext>
            </a:extLst>
          </p:cNvPr>
          <p:cNvGrpSpPr/>
          <p:nvPr/>
        </p:nvGrpSpPr>
        <p:grpSpPr>
          <a:xfrm>
            <a:off x="172998" y="4483099"/>
            <a:ext cx="9144000" cy="2374900"/>
            <a:chOff x="0" y="4483099"/>
            <a:chExt cx="9144000" cy="23749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933DE6D-7A2B-6EA9-4844-A788DEE724B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495799"/>
              <a:ext cx="9047747" cy="2362197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20D0BC6-DFE6-BE9E-673D-87FD81E50673}"/>
                </a:ext>
              </a:extLst>
            </p:cNvPr>
            <p:cNvSpPr/>
            <p:nvPr/>
          </p:nvSpPr>
          <p:spPr>
            <a:xfrm>
              <a:off x="0" y="4489449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914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5">
            <a:extLst>
              <a:ext uri="{FF2B5EF4-FFF2-40B4-BE49-F238E27FC236}">
                <a16:creationId xmlns:a16="http://schemas.microsoft.com/office/drawing/2014/main" id="{7B444A33-AC73-AFC9-61AF-388950533962}"/>
              </a:ext>
            </a:extLst>
          </p:cNvPr>
          <p:cNvGrpSpPr/>
          <p:nvPr/>
        </p:nvGrpSpPr>
        <p:grpSpPr>
          <a:xfrm>
            <a:off x="172998" y="1926208"/>
            <a:ext cx="9144000" cy="2430145"/>
            <a:chOff x="0" y="1926208"/>
            <a:chExt cx="9144000" cy="2430145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40D477F-F642-C3C8-0BEF-0B560F1AB3A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38908"/>
              <a:ext cx="9102436" cy="2404491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539DBB7-DBBE-1614-D6B2-11EE379E6C62}"/>
                </a:ext>
              </a:extLst>
            </p:cNvPr>
            <p:cNvSpPr/>
            <p:nvPr/>
          </p:nvSpPr>
          <p:spPr>
            <a:xfrm>
              <a:off x="0" y="1932558"/>
              <a:ext cx="9144000" cy="2417445"/>
            </a:xfrm>
            <a:custGeom>
              <a:avLst/>
              <a:gdLst/>
              <a:ahLst/>
              <a:cxnLst/>
              <a:rect l="l" t="t" r="r" b="b"/>
              <a:pathLst>
                <a:path w="9144000" h="2417445">
                  <a:moveTo>
                    <a:pt x="0" y="2417191"/>
                  </a:moveTo>
                  <a:lnTo>
                    <a:pt x="9144000" y="2417191"/>
                  </a:lnTo>
                </a:path>
                <a:path w="9144000" h="2417445">
                  <a:moveTo>
                    <a:pt x="914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8">
            <a:extLst>
              <a:ext uri="{FF2B5EF4-FFF2-40B4-BE49-F238E27FC236}">
                <a16:creationId xmlns:a16="http://schemas.microsoft.com/office/drawing/2014/main" id="{62BB1F64-9BAC-33FE-3468-96AE2FF7A608}"/>
              </a:ext>
            </a:extLst>
          </p:cNvPr>
          <p:cNvGrpSpPr/>
          <p:nvPr/>
        </p:nvGrpSpPr>
        <p:grpSpPr>
          <a:xfrm>
            <a:off x="166648" y="292100"/>
            <a:ext cx="8961120" cy="1549400"/>
            <a:chOff x="-6350" y="292100"/>
            <a:chExt cx="8961120" cy="1549400"/>
          </a:xfrm>
        </p:grpSpPr>
        <p:pic>
          <p:nvPicPr>
            <p:cNvPr id="20" name="object 9">
              <a:extLst>
                <a:ext uri="{FF2B5EF4-FFF2-40B4-BE49-F238E27FC236}">
                  <a16:creationId xmlns:a16="http://schemas.microsoft.com/office/drawing/2014/main" id="{DD1E35EF-0902-1213-9F78-C6E6D0E6FCE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04800"/>
              <a:ext cx="8860768" cy="1524000"/>
            </a:xfrm>
            <a:prstGeom prst="rect">
              <a:avLst/>
            </a:prstGeom>
          </p:spPr>
        </p:pic>
        <p:sp>
          <p:nvSpPr>
            <p:cNvPr id="21" name="object 10">
              <a:extLst>
                <a:ext uri="{FF2B5EF4-FFF2-40B4-BE49-F238E27FC236}">
                  <a16:creationId xmlns:a16="http://schemas.microsoft.com/office/drawing/2014/main" id="{1CA58AF1-3A9C-81E1-D010-5E4C875EBD7A}"/>
                </a:ext>
              </a:extLst>
            </p:cNvPr>
            <p:cNvSpPr/>
            <p:nvPr/>
          </p:nvSpPr>
          <p:spPr>
            <a:xfrm>
              <a:off x="0" y="298450"/>
              <a:ext cx="8948420" cy="1536700"/>
            </a:xfrm>
            <a:custGeom>
              <a:avLst/>
              <a:gdLst/>
              <a:ahLst/>
              <a:cxnLst/>
              <a:rect l="l" t="t" r="r" b="b"/>
              <a:pathLst>
                <a:path w="8948420" h="1536700">
                  <a:moveTo>
                    <a:pt x="0" y="1536700"/>
                  </a:moveTo>
                  <a:lnTo>
                    <a:pt x="8948039" y="1536700"/>
                  </a:lnTo>
                  <a:lnTo>
                    <a:pt x="8948039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DE2ED19E-1A8B-FFDC-0F6F-25C98423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551" y="2485942"/>
            <a:ext cx="6977449" cy="2228022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PHP File Manipulation Examples</a:t>
            </a:r>
          </a:p>
        </p:txBody>
      </p:sp>
    </p:spTree>
    <p:extLst>
      <p:ext uri="{BB962C8B-B14F-4D97-AF65-F5344CB8AC3E}">
        <p14:creationId xmlns:p14="http://schemas.microsoft.com/office/powerpoint/2010/main" val="15953497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AEF55-668D-1AC4-2E3E-07BBE85A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087E-C0C2-C105-D020-74EB1AA3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Write to File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B5B8-B594-99E8-36E0-82CC9995B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90"/>
            <a:ext cx="11826240" cy="1682470"/>
          </a:xfrm>
        </p:spPr>
        <p:txBody>
          <a:bodyPr>
            <a:no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fwrite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(param1,</a:t>
            </a:r>
            <a:r>
              <a:rPr lang="en-US" sz="3200" spc="-6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param2)</a:t>
            </a:r>
            <a:r>
              <a:rPr lang="en-US" sz="32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to </a:t>
            </a:r>
            <a:r>
              <a:rPr lang="en-US" sz="3200" spc="-7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write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612900" lvl="1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3535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param1: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contains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612900" lvl="1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3535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param2: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is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written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9176DC2-C2A3-657E-AE6A-29D9362A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pic>
        <p:nvPicPr>
          <p:cNvPr id="14" name="object 13">
            <a:extLst>
              <a:ext uri="{FF2B5EF4-FFF2-40B4-BE49-F238E27FC236}">
                <a16:creationId xmlns:a16="http://schemas.microsoft.com/office/drawing/2014/main" id="{241993DF-19A3-C872-EA31-6222F5575C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844" y="2669060"/>
            <a:ext cx="11022226" cy="397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810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847D2-B930-BE2F-9C25-74189A58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BA05-A7B4-426F-5646-6970FFA9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2597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Locking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F040-C6E6-C84C-F2C7-A4B976C62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1624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1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locking</a:t>
            </a:r>
            <a:r>
              <a:rPr lang="en-US" sz="3200" spc="-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mechanisms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1" indent="-22923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many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users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accessing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your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scripts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same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time,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your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files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could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quickly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become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corrupt.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indent="-28702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flock()</a:t>
            </a:r>
            <a:r>
              <a:rPr lang="en-US" sz="3200" spc="-7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marR="417195" lvl="1" indent="-228600">
              <a:lnSpc>
                <a:spcPct val="100000"/>
              </a:lnSpc>
              <a:spcBef>
                <a:spcPts val="555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ks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il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’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oth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esses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 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while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current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process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running.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836930" lvl="1" indent="-367665">
              <a:lnSpc>
                <a:spcPct val="100000"/>
              </a:lnSpc>
              <a:spcBef>
                <a:spcPts val="655"/>
              </a:spcBef>
              <a:buClr>
                <a:srgbClr val="001F5F"/>
              </a:buClr>
              <a:buFont typeface="Wingdings"/>
              <a:buChar char=""/>
              <a:tabLst>
                <a:tab pos="836930" algn="l"/>
                <a:tab pos="837565" algn="l"/>
              </a:tabLst>
            </a:pPr>
            <a:r>
              <a:rPr lang="en-US" sz="3000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flock(</a:t>
            </a:r>
            <a:r>
              <a:rPr lang="en-US" sz="3000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pointerToOpenedFile</a:t>
            </a:r>
            <a:r>
              <a:rPr lang="en-US" sz="3000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,</a:t>
            </a:r>
            <a:r>
              <a:rPr lang="en-US" sz="3000" i="1" spc="-5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i="1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lockingMode</a:t>
            </a:r>
            <a:r>
              <a:rPr lang="en-US" sz="3000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)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56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i="1" spc="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flock($fp1,</a:t>
            </a:r>
            <a:r>
              <a:rPr lang="en-US" sz="3000" i="1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1);</a:t>
            </a:r>
            <a:r>
              <a:rPr lang="en-US" i="1" spc="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//shared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lock</a:t>
            </a:r>
            <a:r>
              <a:rPr lang="en-US" sz="24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–</a:t>
            </a:r>
            <a:r>
              <a:rPr lang="en-US" sz="24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allows</a:t>
            </a:r>
            <a:r>
              <a:rPr lang="en-US" sz="24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read,</a:t>
            </a:r>
            <a:r>
              <a:rPr lang="en-US" sz="24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doesn’t</a:t>
            </a:r>
            <a:r>
              <a:rPr lang="en-US" sz="24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allow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write</a:t>
            </a:r>
            <a:endParaRPr lang="en-US" sz="24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i="1" spc="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flock($fp2,</a:t>
            </a:r>
            <a:r>
              <a:rPr lang="en-US" sz="3000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2);</a:t>
            </a:r>
            <a:r>
              <a:rPr lang="en-US" sz="3000" i="1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//exclusive</a:t>
            </a:r>
            <a:r>
              <a:rPr lang="en-US" sz="24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lock</a:t>
            </a:r>
            <a:r>
              <a:rPr lang="en-US" sz="24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–</a:t>
            </a:r>
            <a:r>
              <a:rPr lang="en-US" sz="24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doesn’t</a:t>
            </a:r>
            <a:r>
              <a:rPr lang="en-US" sz="24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allow</a:t>
            </a:r>
            <a:r>
              <a:rPr lang="en-US" sz="24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neither</a:t>
            </a:r>
            <a:r>
              <a:rPr lang="en-US" sz="2400" dirty="0"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ead,</a:t>
            </a:r>
            <a:r>
              <a:rPr lang="en-US" sz="24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24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wri</a:t>
            </a:r>
            <a:r>
              <a:rPr lang="en-US" sz="24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endParaRPr lang="en-US" sz="2400" dirty="0">
              <a:latin typeface="Book Antiqua" panose="02040602050305030304" pitchFamily="18" charset="0"/>
              <a:cs typeface="Constantia"/>
            </a:endParaRPr>
          </a:p>
          <a:p>
            <a:pPr marL="1155700" marR="898525" lvl="2" indent="-228600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000" i="1" spc="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flock($fp3,</a:t>
            </a:r>
            <a:r>
              <a:rPr lang="en-US" sz="3000" i="1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3);</a:t>
            </a:r>
            <a:r>
              <a:rPr lang="en-US" sz="3000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//release</a:t>
            </a:r>
            <a:r>
              <a:rPr lang="en-US" sz="24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lock</a:t>
            </a:r>
            <a:r>
              <a:rPr lang="en-US" sz="24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–</a:t>
            </a:r>
            <a:r>
              <a:rPr lang="en-US" sz="24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releases</a:t>
            </a:r>
            <a:r>
              <a:rPr lang="en-US" sz="24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4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shared</a:t>
            </a:r>
            <a:r>
              <a:rPr lang="en-US" sz="24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 </a:t>
            </a:r>
            <a:r>
              <a:rPr lang="en-US" sz="2400" spc="-5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exclusive</a:t>
            </a:r>
            <a:r>
              <a:rPr lang="en-US" sz="24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lock</a:t>
            </a:r>
            <a:endParaRPr lang="en-US" sz="24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7A62A7-168B-134E-961D-2B983C1D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0655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C24D-D2B6-0287-6042-82074087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87553-18B5-450B-B6A7-0F11A5F0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Locking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EC773-4062-949A-C6C1-6E24A2B1E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&lt;?</a:t>
            </a:r>
            <a:r>
              <a:rPr lang="en-US" sz="30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php</a:t>
            </a:r>
            <a:endParaRPr lang="en-US" sz="3000" dirty="0">
              <a:latin typeface="Book Antiqua" panose="02040602050305030304" pitchFamily="18" charset="0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$file</a:t>
            </a:r>
            <a:r>
              <a:rPr lang="en-US" sz="3000" b="1" spc="-2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=</a:t>
            </a:r>
            <a:r>
              <a:rPr lang="en-US" sz="3000" b="1" spc="-1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fopen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("</a:t>
            </a:r>
            <a:r>
              <a:rPr lang="en-US" sz="30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test.txt","w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+");</a:t>
            </a:r>
            <a:endParaRPr lang="en-US" sz="3000" dirty="0">
              <a:latin typeface="Book Antiqua" panose="02040602050305030304" pitchFamily="18" charset="0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//</a:t>
            </a:r>
            <a:r>
              <a:rPr lang="en-US" sz="3000" b="1" spc="-2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exclusive</a:t>
            </a:r>
            <a:r>
              <a:rPr lang="en-US" sz="3000" b="1" spc="-3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lock</a:t>
            </a:r>
            <a:endParaRPr lang="en-US" sz="3000" dirty="0">
              <a:latin typeface="Book Antiqua" panose="02040602050305030304" pitchFamily="18" charset="0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if</a:t>
            </a:r>
            <a:r>
              <a:rPr lang="en-US" sz="3000" b="1" spc="-6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(flock($</a:t>
            </a:r>
            <a:r>
              <a:rPr lang="en-US" sz="30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file,LOCK_EX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)){</a:t>
            </a:r>
            <a:endParaRPr lang="en-US" sz="3000" dirty="0">
              <a:latin typeface="Book Antiqua" panose="02040602050305030304" pitchFamily="18" charset="0"/>
              <a:cs typeface="Calibri"/>
            </a:endParaRPr>
          </a:p>
          <a:p>
            <a:pPr marL="77724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fwrite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($</a:t>
            </a:r>
            <a:r>
              <a:rPr lang="en-US" sz="30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file,"Write</a:t>
            </a:r>
            <a:r>
              <a:rPr lang="en-US" sz="3000" b="1" spc="-1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something");</a:t>
            </a:r>
            <a:endParaRPr lang="en-US" sz="3000" dirty="0">
              <a:latin typeface="Book Antiqua" panose="02040602050305030304" pitchFamily="18" charset="0"/>
              <a:cs typeface="Calibri"/>
            </a:endParaRPr>
          </a:p>
          <a:p>
            <a:pPr marL="0" marR="28295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 //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release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lock </a:t>
            </a:r>
            <a:r>
              <a:rPr lang="en-US" sz="3000" b="1" spc="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flock(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$</a:t>
            </a:r>
            <a:r>
              <a:rPr lang="en-US" sz="30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fi</a:t>
            </a:r>
            <a:r>
              <a:rPr lang="en-US" sz="30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l</a:t>
            </a:r>
            <a:r>
              <a:rPr lang="en-US" sz="30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e</a:t>
            </a:r>
            <a:r>
              <a:rPr lang="en-US" sz="3000" b="1" spc="5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,</a:t>
            </a:r>
            <a:r>
              <a:rPr lang="en-US" sz="3000" b="1" spc="-35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L</a:t>
            </a:r>
            <a:r>
              <a:rPr lang="en-US" sz="30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OCK_U</a:t>
            </a:r>
            <a:r>
              <a:rPr lang="en-US" sz="3000" b="1" spc="20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N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);</a:t>
            </a:r>
            <a:endParaRPr lang="en-US" sz="3000" dirty="0">
              <a:latin typeface="Book Antiqua" panose="02040602050305030304" pitchFamily="18" charset="0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}</a:t>
            </a:r>
            <a:endParaRPr lang="en-US" sz="3000" dirty="0">
              <a:latin typeface="Book Antiqua" panose="02040602050305030304" pitchFamily="18" charset="0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731520" algn="l"/>
              </a:tabLst>
            </a:pP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731520" algn="l"/>
              </a:tabLst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{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731520" algn="l"/>
              </a:tabLst>
            </a:pP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 echo</a:t>
            </a:r>
            <a:r>
              <a:rPr lang="en-US" sz="3000" b="1" spc="-3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"Error</a:t>
            </a:r>
            <a:r>
              <a:rPr lang="en-US" sz="3000" b="1" spc="-3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locking</a:t>
            </a:r>
            <a:r>
              <a:rPr lang="en-US" sz="3000" b="1" spc="-3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spc="-5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file!";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731520" algn="l"/>
              </a:tabLst>
            </a:pPr>
            <a:r>
              <a:rPr lang="en-US" sz="3000" spc="-5" dirty="0">
                <a:latin typeface="Book Antiqua" panose="02040602050305030304" pitchFamily="18" charset="0"/>
                <a:cs typeface="Calibri"/>
              </a:rPr>
              <a:t>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}</a:t>
            </a:r>
            <a:endParaRPr lang="en-US" sz="3000" dirty="0">
              <a:latin typeface="Book Antiqua" panose="02040602050305030304" pitchFamily="18" charset="0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fclose</a:t>
            </a:r>
            <a:r>
              <a:rPr lang="en-US" sz="3000" b="1" spc="-10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($file); </a:t>
            </a:r>
            <a:r>
              <a:rPr lang="en-US" sz="3000" b="1" dirty="0">
                <a:solidFill>
                  <a:srgbClr val="001F5F"/>
                </a:solidFill>
                <a:latin typeface="Book Antiqua" panose="02040602050305030304" pitchFamily="18" charset="0"/>
                <a:cs typeface="Calibri"/>
              </a:rPr>
              <a:t>?&gt;</a:t>
            </a:r>
            <a:endParaRPr lang="en-US" sz="3000" dirty="0">
              <a:latin typeface="Book Antiqua" panose="02040602050305030304" pitchFamily="18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9108367-B733-7402-AA3F-8C5BB758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9226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FCCB6-3184-D993-CF30-653CD97E6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9E7F-163E-04AA-373A-C311B18EE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File Manipulation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7DAC6-13A8-E2EB-76EC-027C70211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marR="38735" indent="-342900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has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lot</a:t>
            </a:r>
            <a:r>
              <a:rPr lang="en-US" sz="3200" spc="-1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buil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 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processing.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</a:p>
          <a:p>
            <a:pPr marL="355600" marR="38735" indent="-342900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Some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them </a:t>
            </a:r>
            <a:r>
              <a:rPr lang="en-US" sz="3200" spc="-7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1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spc="-2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file_exists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()”,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spc="-2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is_file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()”, 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spc="-3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is_dir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()”,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spc="-2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is_readable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()”,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9271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spc="-2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is_writeable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()”,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spc="-1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is_executable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()”;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01752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920" algn="l"/>
              </a:tabLst>
            </a:pP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functions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return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information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files: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1155700" lvl="1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spc="-2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filesize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()”,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spc="-2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fileatime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()”,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spc="-2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filemtime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()”,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</a:t>
            </a:r>
            <a:r>
              <a:rPr lang="en-US" sz="320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filectime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()”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937894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920" algn="l"/>
              </a:tabLst>
            </a:pPr>
            <a:r>
              <a:rPr lang="en-US" sz="3600" i="1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copy(),</a:t>
            </a:r>
            <a:r>
              <a:rPr lang="en-US" sz="3600" i="1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i="1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delete(),</a:t>
            </a:r>
            <a:r>
              <a:rPr lang="en-US" sz="3600" i="1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i="1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filetype(),</a:t>
            </a:r>
            <a:r>
              <a:rPr lang="en-US" sz="3600" i="1" spc="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i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fseek</a:t>
            </a:r>
            <a:r>
              <a:rPr lang="en-US" sz="3600" i="1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(),</a:t>
            </a:r>
            <a:r>
              <a:rPr lang="en-US" sz="3600" i="1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i="1" spc="-1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ftell</a:t>
            </a:r>
            <a:r>
              <a:rPr lang="en-US" sz="3600" i="1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(), </a:t>
            </a:r>
            <a:r>
              <a:rPr lang="en-US" sz="3600" i="1" spc="-6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i="1" spc="-2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mkdir</a:t>
            </a:r>
            <a:r>
              <a:rPr lang="en-US" sz="3600" i="1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EA482FC-9AF2-B13A-1B81-BA9D8E8F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3351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39E53-ECCA-1D65-FB7C-66B93D4C1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C90E-5F86-5BD1-2005-10AF03109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Cookes and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81703-289F-AA4B-965B-7DBFD9BB9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HTTP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stateless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–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does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not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keep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track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6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client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between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requests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marR="49149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But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sometimes</a:t>
            </a:r>
            <a:r>
              <a:rPr lang="en-US" sz="3200" spc="-1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need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keep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track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 </a:t>
            </a:r>
            <a:r>
              <a:rPr lang="en-US" sz="3200" spc="-6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information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Shopping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cart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“Remember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me”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login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sites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2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solutions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issue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Cookies</a:t>
            </a:r>
            <a:r>
              <a:rPr lang="en-US" sz="32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–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small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stored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client-side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Sessions</a:t>
            </a:r>
            <a:r>
              <a:rPr lang="en-US" sz="3200" spc="-5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–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relevant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stored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86A77B3-BF7B-C638-4DE8-E6BD83E0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59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7247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5885A-B8D9-748E-027D-ADFFB9E88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7E36-0F73-EC0B-5E28-D549AA4FC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Cookies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CE5D9-CF0E-CE6E-A0F1-ADC168955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cookie</a:t>
            </a:r>
            <a:r>
              <a:rPr lang="en-US" sz="3200" spc="-4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small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stores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user's </a:t>
            </a:r>
            <a:r>
              <a:rPr lang="en-US" sz="3200" spc="-6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computer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tracking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purposes.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marR="32893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There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three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steps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involved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identifying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returning </a:t>
            </a:r>
            <a:r>
              <a:rPr lang="en-US" sz="3200" spc="-6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users: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sends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set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cookies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browser.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example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name,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age,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identification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number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etc.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224154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Browser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stores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information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local machine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future </a:t>
            </a:r>
            <a:r>
              <a:rPr lang="en-US" sz="3200" spc="-5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521970" lvl="1" indent="-287020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When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next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time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browser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sends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any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request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 </a:t>
            </a:r>
            <a:r>
              <a:rPr lang="en-US" sz="3200" spc="-5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then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sends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those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cookies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information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 </a:t>
            </a:r>
            <a:r>
              <a:rPr lang="en-US" sz="3200" spc="-5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2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orm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ion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spc="-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79EB698-6995-FE57-1E33-4B5A45CF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2891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8DC07-8EE4-C060-D3C5-A5AA1B8D9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6C59-EB36-DFE1-6357-A9987A71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Create Cookies with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E9619-158A-D9CB-B67A-22A851D98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756285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created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setcookie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1155700" lvl="1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b="1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setcookie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(name,</a:t>
            </a:r>
            <a:r>
              <a:rPr lang="en-US" sz="2800" b="1" i="1" spc="6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value,</a:t>
            </a:r>
            <a:r>
              <a:rPr lang="en-US" sz="2800" b="1" i="1" spc="6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expire,</a:t>
            </a:r>
            <a:r>
              <a:rPr lang="en-US" sz="2800" b="1" i="1" spc="6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path,</a:t>
            </a:r>
            <a:r>
              <a:rPr lang="en-US" sz="2800" b="1" i="1" spc="5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domain,</a:t>
            </a:r>
            <a:r>
              <a:rPr lang="en-US" sz="2800" b="1" i="1" spc="6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secure);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1155700" lvl="1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Only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8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</a:t>
            </a:r>
            <a:r>
              <a:rPr lang="en-US" sz="28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parameter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28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required.</a:t>
            </a:r>
            <a:r>
              <a:rPr lang="en-US" sz="28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</a:t>
            </a:r>
            <a:r>
              <a:rPr lang="en-US" sz="28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other</a:t>
            </a:r>
            <a:r>
              <a:rPr lang="en-US" sz="28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parameters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28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optional.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1155700" lvl="1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b="1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setcook</a:t>
            </a:r>
            <a:r>
              <a:rPr lang="en-US" sz="2800" b="1" i="1" spc="5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i</a:t>
            </a:r>
            <a:r>
              <a:rPr lang="en-US" sz="2800" b="1" i="1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</a:t>
            </a:r>
            <a:r>
              <a:rPr lang="en-US" sz="2800" b="1" i="1" spc="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(</a:t>
            </a:r>
            <a:r>
              <a:rPr lang="en-US" sz="28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)</a:t>
            </a:r>
            <a:r>
              <a:rPr lang="en-US" sz="2800" b="1" i="1" spc="-53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io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28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mus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ap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ear</a:t>
            </a:r>
            <a:r>
              <a:rPr lang="en-US" sz="28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 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&lt;html&gt;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8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$_COOKIE[]</a:t>
            </a:r>
            <a:r>
              <a:rPr lang="en-US" sz="3600" b="1" i="1" spc="4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6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retrieve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3600" spc="-6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2800" b="1" i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$_COOKIE[</a:t>
            </a:r>
            <a:r>
              <a:rPr lang="en-US" sz="2800" b="1" i="1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cookieName</a:t>
            </a:r>
            <a:r>
              <a:rPr lang="en-US" sz="2800" b="1" i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]</a:t>
            </a:r>
            <a:endParaRPr lang="en-US" sz="2800" dirty="0">
              <a:latin typeface="Book Antiqua" panose="02040602050305030304" pitchFamily="18" charset="0"/>
              <a:cs typeface="Consolas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Always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check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 </a:t>
            </a:r>
            <a:r>
              <a:rPr lang="en-US" sz="3200" b="1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isset</a:t>
            </a:r>
            <a:r>
              <a:rPr lang="en-US" sz="32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($_COOKIE[$</a:t>
            </a:r>
            <a:r>
              <a:rPr lang="en-US" sz="3200" b="1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cookie_name</a:t>
            </a:r>
            <a:r>
              <a:rPr lang="en-US" sz="32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])</a:t>
            </a:r>
            <a:r>
              <a:rPr lang="en-US" sz="3200" b="1" i="1" spc="5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before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52768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ooki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’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alue</a:t>
            </a:r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C892BA9-AF04-8296-70C5-F0C4B09E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9731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2103-3454-F1B0-3749-69E4E74A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CF3C-F6BB-DC1D-87BB-3A237D1CA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3738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Cookies Example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DDA26D5-60A6-DF4C-A639-546B835A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pic>
        <p:nvPicPr>
          <p:cNvPr id="4" name="object 13">
            <a:extLst>
              <a:ext uri="{FF2B5EF4-FFF2-40B4-BE49-F238E27FC236}">
                <a16:creationId xmlns:a16="http://schemas.microsoft.com/office/drawing/2014/main" id="{CD81C48D-A089-FF05-1256-C0ADDA0208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661" y="743454"/>
            <a:ext cx="10831988" cy="4953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D9A3B5-C4C4-3E37-1F09-9766BE645412}"/>
              </a:ext>
            </a:extLst>
          </p:cNvPr>
          <p:cNvSpPr txBox="1"/>
          <p:nvPr/>
        </p:nvSpPr>
        <p:spPr>
          <a:xfrm>
            <a:off x="412661" y="5770596"/>
            <a:ext cx="110195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2900"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4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example</a:t>
            </a:r>
            <a:r>
              <a:rPr lang="en-US" sz="24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creates</a:t>
            </a:r>
            <a:r>
              <a:rPr lang="en-US" sz="24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24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</a:t>
            </a:r>
            <a:r>
              <a:rPr lang="en-US" sz="24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named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"user"</a:t>
            </a:r>
            <a:r>
              <a:rPr lang="en-US" sz="24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24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4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</a:t>
            </a:r>
            <a:r>
              <a:rPr lang="en-US" sz="24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"John</a:t>
            </a:r>
            <a:r>
              <a:rPr lang="en-US" sz="24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Doe".</a:t>
            </a:r>
            <a:r>
              <a:rPr lang="en-US" sz="24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4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</a:t>
            </a:r>
            <a:r>
              <a:rPr lang="en-US" sz="24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 </a:t>
            </a:r>
            <a:r>
              <a:rPr lang="en-US" sz="2400" spc="-43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expire</a:t>
            </a:r>
            <a:r>
              <a:rPr lang="en-US" sz="24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after</a:t>
            </a:r>
            <a:r>
              <a:rPr lang="en-US" sz="24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1</a:t>
            </a:r>
            <a:r>
              <a:rPr lang="en-US" sz="24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day(86400).</a:t>
            </a:r>
            <a:r>
              <a:rPr lang="en-US" sz="24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4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"/"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means</a:t>
            </a:r>
            <a:r>
              <a:rPr lang="en-US" sz="24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24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24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</a:t>
            </a:r>
            <a:r>
              <a:rPr lang="en-US" sz="24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24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available</a:t>
            </a:r>
            <a:r>
              <a:rPr lang="en-US" sz="24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24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entire</a:t>
            </a:r>
            <a:r>
              <a:rPr lang="en-US" sz="24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24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website</a:t>
            </a:r>
            <a:endParaRPr lang="en-US" sz="2400" dirty="0">
              <a:latin typeface="Book Antiqua" panose="02040602050305030304" pitchFamily="18" charset="0"/>
              <a:cs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36987557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C6B1-CAAD-8D42-7BC9-D13DE8C0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6731-8A30-8E9F-E4B8-53CACFFA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Setting Cookies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59E9C-F9E3-8E77-1572-168637760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90"/>
            <a:ext cx="11826240" cy="858764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Cookies</a:t>
            </a:r>
            <a:r>
              <a:rPr lang="en-US" sz="3600" spc="-1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6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usually</a:t>
            </a:r>
            <a:r>
              <a:rPr lang="en-US" sz="36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set</a:t>
            </a:r>
            <a:r>
              <a:rPr lang="en-US" sz="3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6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HTTP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header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602F454-DE82-9BD6-F00B-265ACBCA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701D5-C633-DEF7-3F7C-3EE7AA0E8A5D}"/>
              </a:ext>
            </a:extLst>
          </p:cNvPr>
          <p:cNvSpPr txBox="1"/>
          <p:nvPr/>
        </p:nvSpPr>
        <p:spPr>
          <a:xfrm>
            <a:off x="225080" y="5194030"/>
            <a:ext cx="11826240" cy="1575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2900">
              <a:lnSpc>
                <a:spcPct val="14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 a </a:t>
            </a:r>
            <a:r>
              <a:rPr lang="en-US" sz="3600" spc="-2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browser </a:t>
            </a:r>
            <a:r>
              <a:rPr lang="en-US" sz="3600" spc="-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 </a:t>
            </a:r>
            <a:r>
              <a:rPr lang="en-US" sz="3600" spc="-1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configured </a:t>
            </a:r>
            <a:r>
              <a:rPr lang="en-US" sz="3600" spc="-3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600" spc="-2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 </a:t>
            </a:r>
            <a:r>
              <a:rPr lang="en-US" sz="3600" spc="-1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cookies, </a:t>
            </a:r>
            <a:r>
              <a:rPr lang="en-US" sz="3600" spc="-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 </a:t>
            </a:r>
            <a:r>
              <a:rPr lang="en-US" sz="360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will</a:t>
            </a:r>
            <a:r>
              <a:rPr lang="en-US" sz="3600" spc="-6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then</a:t>
            </a:r>
            <a:r>
              <a:rPr lang="en-US" sz="3600" spc="-5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keep</a:t>
            </a:r>
            <a:r>
              <a:rPr lang="en-US" sz="3600" spc="-13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</a:t>
            </a:r>
            <a:r>
              <a:rPr lang="en-US" sz="3600" spc="-7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information</a:t>
            </a:r>
            <a:r>
              <a:rPr lang="en-US" sz="3600" spc="-8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until</a:t>
            </a:r>
            <a:r>
              <a:rPr lang="en-US" sz="3600" spc="-3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16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expiry </a:t>
            </a:r>
            <a:r>
              <a:rPr lang="en-US" sz="3600" spc="-74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date.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57E86D-DE6B-C589-7D51-7276B73CA0AD}"/>
              </a:ext>
            </a:extLst>
          </p:cNvPr>
          <p:cNvSpPr txBox="1"/>
          <p:nvPr/>
        </p:nvSpPr>
        <p:spPr>
          <a:xfrm>
            <a:off x="253308" y="1647152"/>
            <a:ext cx="11716266" cy="4075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000" b="1" dirty="0">
                <a:latin typeface="Consolas" panose="020B0609020204030204" pitchFamily="49" charset="0"/>
                <a:cs typeface="Consolas"/>
              </a:rPr>
              <a:t>HTTP/1.1</a:t>
            </a:r>
            <a:r>
              <a:rPr lang="en-US" sz="3000" b="1" spc="-7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200</a:t>
            </a:r>
            <a:r>
              <a:rPr lang="en-US" sz="3000" b="1" spc="-3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OK</a:t>
            </a:r>
            <a:endParaRPr lang="en-US" sz="30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Date:</a:t>
            </a:r>
            <a:r>
              <a:rPr lang="en-US" sz="3000" b="1" spc="-35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Fri,</a:t>
            </a:r>
            <a:r>
              <a:rPr lang="en-US" sz="3000" b="1" spc="-20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04</a:t>
            </a:r>
            <a:r>
              <a:rPr lang="en-US" sz="3000" b="1" spc="-10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Feb</a:t>
            </a:r>
            <a:r>
              <a:rPr lang="en-US" sz="3000" b="1" spc="-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2000</a:t>
            </a:r>
            <a:r>
              <a:rPr lang="en-US" sz="3000" b="1" spc="-2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21:03:38</a:t>
            </a:r>
            <a:r>
              <a:rPr lang="en-US" sz="3000" b="1" spc="-3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GMT</a:t>
            </a:r>
            <a:endParaRPr lang="en-US" sz="30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Server:</a:t>
            </a:r>
            <a:r>
              <a:rPr lang="en-US" sz="3000" b="1" spc="-55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Apache/1.3.9</a:t>
            </a:r>
            <a:r>
              <a:rPr lang="en-US" sz="3000" b="1" spc="-5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(UNIX)</a:t>
            </a:r>
            <a:r>
              <a:rPr lang="en-US" sz="3000" b="1" spc="-2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PHP/4.0b3</a:t>
            </a:r>
          </a:p>
          <a:p>
            <a:pPr marL="1841500" marR="5080" indent="-1829435">
              <a:lnSpc>
                <a:spcPct val="100000"/>
              </a:lnSpc>
              <a:spcBef>
                <a:spcPts val="105"/>
              </a:spcBef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Set-Cookie:</a:t>
            </a:r>
            <a:r>
              <a:rPr lang="en-US" sz="3000" b="1" spc="-50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name=</a:t>
            </a:r>
            <a:r>
              <a:rPr lang="en-US" sz="3000" b="1" dirty="0" err="1">
                <a:latin typeface="Consolas" panose="020B0609020204030204" pitchFamily="49" charset="0"/>
                <a:cs typeface="Consolas"/>
              </a:rPr>
              <a:t>xyz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;</a:t>
            </a:r>
            <a:r>
              <a:rPr lang="en-US" sz="3000" b="1" spc="-2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expires=Friday,</a:t>
            </a:r>
            <a:r>
              <a:rPr lang="en-US" sz="3000" b="1" spc="-50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04-Feb-07</a:t>
            </a:r>
            <a:r>
              <a:rPr lang="en-US" sz="3000" b="1" spc="-2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22:03:38 </a:t>
            </a:r>
            <a:r>
              <a:rPr lang="en-US" sz="3000" b="1" spc="-1085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GMT;</a:t>
            </a:r>
            <a:r>
              <a:rPr lang="en-US" sz="3000" b="1" spc="-40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path=/;</a:t>
            </a:r>
            <a:r>
              <a:rPr lang="en-US" sz="3000" b="1" spc="-20" dirty="0"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domain=tutorialspoint.com</a:t>
            </a:r>
            <a:endParaRPr lang="en-US" sz="3000" dirty="0">
              <a:latin typeface="Consolas" panose="020B0609020204030204" pitchFamily="49" charset="0"/>
              <a:cs typeface="Consolas"/>
            </a:endParaRPr>
          </a:p>
          <a:p>
            <a:pPr marL="12700" marR="4614545">
              <a:lnSpc>
                <a:spcPct val="100000"/>
              </a:lnSpc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Connection: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close </a:t>
            </a:r>
            <a:r>
              <a:rPr lang="en-US" sz="3000" b="1" spc="5" dirty="0">
                <a:latin typeface="Consolas" panose="020B0609020204030204" pitchFamily="49" charset="0"/>
                <a:cs typeface="Consolas"/>
              </a:rPr>
              <a:t> </a:t>
            </a:r>
          </a:p>
          <a:p>
            <a:pPr marL="12700" marR="4614545">
              <a:lnSpc>
                <a:spcPct val="100000"/>
              </a:lnSpc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Content-Type:</a:t>
            </a:r>
            <a:r>
              <a:rPr lang="en-US" sz="3000" b="1" spc="-114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lang="en-US" sz="3000" b="1" dirty="0">
                <a:latin typeface="Consolas" panose="020B0609020204030204" pitchFamily="49" charset="0"/>
                <a:cs typeface="Consolas"/>
              </a:rPr>
              <a:t>text/html</a:t>
            </a:r>
            <a:endParaRPr lang="en-US" sz="30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</a:pPr>
            <a:endParaRPr lang="en-US" sz="1800" dirty="0">
              <a:latin typeface="Consolas"/>
              <a:cs typeface="Consolas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625B7151-6645-F909-326E-DE75450787DD}"/>
              </a:ext>
            </a:extLst>
          </p:cNvPr>
          <p:cNvSpPr txBox="1"/>
          <p:nvPr/>
        </p:nvSpPr>
        <p:spPr>
          <a:xfrm>
            <a:off x="7858902" y="1812482"/>
            <a:ext cx="4330444" cy="893193"/>
          </a:xfrm>
          <a:prstGeom prst="rect">
            <a:avLst/>
          </a:prstGeom>
          <a:ln w="25400">
            <a:solidFill>
              <a:srgbClr val="FDB809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2800" b="1" spc="5" dirty="0">
                <a:latin typeface="Book Antiqua" panose="02040602050305030304" pitchFamily="18" charset="0"/>
                <a:cs typeface="Calibri"/>
              </a:rPr>
              <a:t>HTTP</a:t>
            </a:r>
            <a:r>
              <a:rPr sz="2800" b="1" spc="-30" dirty="0">
                <a:latin typeface="Book Antiqua" panose="02040602050305030304" pitchFamily="18" charset="0"/>
                <a:cs typeface="Calibri"/>
              </a:rPr>
              <a:t> </a:t>
            </a:r>
            <a:r>
              <a:rPr sz="2800" b="1" spc="-5" dirty="0">
                <a:latin typeface="Book Antiqua" panose="02040602050305030304" pitchFamily="18" charset="0"/>
                <a:cs typeface="Calibri"/>
              </a:rPr>
              <a:t>response</a:t>
            </a:r>
            <a:r>
              <a:rPr sz="2800" b="1" spc="-65" dirty="0">
                <a:latin typeface="Book Antiqua" panose="02040602050305030304" pitchFamily="18" charset="0"/>
                <a:cs typeface="Calibri"/>
              </a:rPr>
              <a:t> </a:t>
            </a:r>
            <a:r>
              <a:rPr sz="2800" b="1" spc="-10" dirty="0">
                <a:latin typeface="Book Antiqua" panose="02040602050305030304" pitchFamily="18" charset="0"/>
                <a:cs typeface="Calibri"/>
              </a:rPr>
              <a:t>message:</a:t>
            </a:r>
            <a:endParaRPr sz="2800" dirty="0">
              <a:latin typeface="Book Antiqua" panose="02040602050305030304" pitchFamily="18" charset="0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2800" b="1" spc="-10" dirty="0">
                <a:latin typeface="Book Antiqua" panose="02040602050305030304" pitchFamily="18" charset="0"/>
                <a:cs typeface="Calibri"/>
              </a:rPr>
              <a:t>From</a:t>
            </a:r>
            <a:r>
              <a:rPr sz="2800" b="1" spc="-15" dirty="0">
                <a:latin typeface="Book Antiqua" panose="02040602050305030304" pitchFamily="18" charset="0"/>
                <a:cs typeface="Calibri"/>
              </a:rPr>
              <a:t> </a:t>
            </a:r>
            <a:r>
              <a:rPr sz="2800" b="1" spc="-5" dirty="0">
                <a:latin typeface="Book Antiqua" panose="02040602050305030304" pitchFamily="18" charset="0"/>
                <a:cs typeface="Calibri"/>
              </a:rPr>
              <a:t>Server</a:t>
            </a:r>
            <a:r>
              <a:rPr sz="2800" b="1" spc="-40" dirty="0">
                <a:latin typeface="Book Antiqua" panose="02040602050305030304" pitchFamily="18" charset="0"/>
                <a:cs typeface="Calibri"/>
              </a:rPr>
              <a:t> </a:t>
            </a:r>
            <a:r>
              <a:rPr sz="2800" b="1" spc="-10" dirty="0">
                <a:latin typeface="Book Antiqua" panose="02040602050305030304" pitchFamily="18" charset="0"/>
                <a:cs typeface="Calibri"/>
              </a:rPr>
              <a:t>to</a:t>
            </a:r>
            <a:r>
              <a:rPr sz="2800" b="1" spc="-25" dirty="0">
                <a:latin typeface="Book Antiqua" panose="02040602050305030304" pitchFamily="18" charset="0"/>
                <a:cs typeface="Calibri"/>
              </a:rPr>
              <a:t> </a:t>
            </a:r>
            <a:r>
              <a:rPr sz="2800" b="1" spc="-5" dirty="0">
                <a:latin typeface="Book Antiqua" panose="02040602050305030304" pitchFamily="18" charset="0"/>
                <a:cs typeface="Calibri"/>
              </a:rPr>
              <a:t>Browser</a:t>
            </a:r>
            <a:endParaRPr sz="2800" dirty="0">
              <a:latin typeface="Book Antiqua" panose="02040602050305030304" pitchFamily="18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42172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8D3D6-0433-3723-C15E-41EDE87E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A33A-9571-2B00-FBE1-2ACD8087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Sending Cookies Back to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9B701-3194-BBB9-0D74-68EA2EB93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90"/>
            <a:ext cx="11826240" cy="1608330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points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wser</a:t>
            </a:r>
            <a:r>
              <a:rPr lang="en-US" sz="3200" spc="-1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 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matches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path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domain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cookie,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it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 </a:t>
            </a:r>
            <a:r>
              <a:rPr lang="en-US" sz="3200" spc="-6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resend the cookie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server.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browser's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headers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might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look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something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like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C056EEE-C4A9-462E-3012-B93BDB9F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B0AF13-E345-BC90-7CD6-52375B52E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910050"/>
              </p:ext>
            </p:extLst>
          </p:nvPr>
        </p:nvGraphicFramePr>
        <p:xfrm>
          <a:off x="225080" y="2676866"/>
          <a:ext cx="11826240" cy="3961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1969">
                  <a:extLst>
                    <a:ext uri="{9D8B030D-6E8A-4147-A177-3AD203B41FA5}">
                      <a16:colId xmlns:a16="http://schemas.microsoft.com/office/drawing/2014/main" val="1710846138"/>
                    </a:ext>
                  </a:extLst>
                </a:gridCol>
                <a:gridCol w="4249073">
                  <a:extLst>
                    <a:ext uri="{9D8B030D-6E8A-4147-A177-3AD203B41FA5}">
                      <a16:colId xmlns:a16="http://schemas.microsoft.com/office/drawing/2014/main" val="3596236174"/>
                    </a:ext>
                  </a:extLst>
                </a:gridCol>
                <a:gridCol w="215198">
                  <a:extLst>
                    <a:ext uri="{9D8B030D-6E8A-4147-A177-3AD203B41FA5}">
                      <a16:colId xmlns:a16="http://schemas.microsoft.com/office/drawing/2014/main" val="1390736441"/>
                    </a:ext>
                  </a:extLst>
                </a:gridCol>
              </a:tblGrid>
              <a:tr h="1219187">
                <a:tc gridSpan="2">
                  <a:txBody>
                    <a:bodyPr/>
                    <a:lstStyle/>
                    <a:p>
                      <a:pPr marL="91440" marR="2159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5" dirty="0">
                          <a:latin typeface="Consolas" panose="020B0609020204030204" pitchFamily="49" charset="0"/>
                          <a:cs typeface="Consolas"/>
                        </a:rPr>
                        <a:t>GET</a:t>
                      </a:r>
                      <a:r>
                        <a:rPr sz="2800" b="1" spc="-50" dirty="0"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dirty="0">
                          <a:latin typeface="Consolas" panose="020B0609020204030204" pitchFamily="49" charset="0"/>
                          <a:cs typeface="Consolas"/>
                        </a:rPr>
                        <a:t>/</a:t>
                      </a:r>
                      <a:r>
                        <a:rPr sz="2800" b="1" spc="-40" dirty="0"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5" dirty="0">
                          <a:latin typeface="Consolas" panose="020B0609020204030204" pitchFamily="49" charset="0"/>
                          <a:cs typeface="Consolas"/>
                        </a:rPr>
                        <a:t>HTTP/1.0</a:t>
                      </a:r>
                      <a:endParaRPr sz="2800" dirty="0">
                        <a:latin typeface="Consolas" panose="020B0609020204030204" pitchFamily="49" charset="0"/>
                        <a:cs typeface="Consolas"/>
                      </a:endParaRPr>
                    </a:p>
                    <a:p>
                      <a:pPr marL="91440" marR="2159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Connection:</a:t>
                      </a:r>
                      <a:r>
                        <a:rPr sz="2800" b="1" spc="-5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Keep-Alive</a:t>
                      </a:r>
                      <a:endParaRPr sz="2800" dirty="0">
                        <a:latin typeface="Consolas" panose="020B0609020204030204" pitchFamily="49" charset="0"/>
                        <a:cs typeface="Consolas"/>
                      </a:endParaRPr>
                    </a:p>
                    <a:p>
                      <a:pPr marL="91440" marR="32575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User-Agent:</a:t>
                      </a:r>
                      <a:r>
                        <a:rPr sz="2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Mozilla/4.6</a:t>
                      </a:r>
                      <a:r>
                        <a:rPr sz="2800" b="1" spc="30" dirty="0"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(X11;</a:t>
                      </a:r>
                      <a:r>
                        <a:rPr sz="2800" b="1" spc="5" dirty="0"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5" dirty="0">
                          <a:latin typeface="Consolas" panose="020B0609020204030204" pitchFamily="49" charset="0"/>
                          <a:cs typeface="Consolas"/>
                        </a:rPr>
                        <a:t>I;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 Linux 2.2.6-15apmac</a:t>
                      </a:r>
                      <a:r>
                        <a:rPr sz="2800" b="1" spc="30" dirty="0"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ppc) </a:t>
                      </a:r>
                      <a:r>
                        <a:rPr sz="2800" b="1" spc="-975" dirty="0"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endParaRPr lang="en-US" sz="2800" b="1" spc="-975" dirty="0">
                        <a:latin typeface="Consolas" panose="020B0609020204030204" pitchFamily="49" charset="0"/>
                        <a:cs typeface="Consolas"/>
                      </a:endParaRPr>
                    </a:p>
                    <a:p>
                      <a:pPr marL="91440" marR="32575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Host: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zink.demon.co.uk:1126</a:t>
                      </a:r>
                      <a:endParaRPr sz="2800" dirty="0">
                        <a:latin typeface="Consolas" panose="020B0609020204030204" pitchFamily="49" charset="0"/>
                        <a:cs typeface="Consolas"/>
                      </a:endParaRPr>
                    </a:p>
                  </a:txBody>
                  <a:tcPr marL="0" marR="0" marT="33019" marB="0">
                    <a:lnL w="28575">
                      <a:solidFill>
                        <a:srgbClr val="FDB809"/>
                      </a:solidFill>
                      <a:prstDash val="solid"/>
                    </a:lnL>
                    <a:lnR w="28575">
                      <a:solidFill>
                        <a:srgbClr val="FDB809"/>
                      </a:solidFill>
                      <a:prstDash val="solid"/>
                    </a:lnR>
                    <a:lnT w="28575">
                      <a:solidFill>
                        <a:srgbClr val="FDB80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DB809"/>
                      </a:solidFill>
                      <a:prstDash val="solid"/>
                    </a:lnL>
                    <a:lnB w="28575">
                      <a:solidFill>
                        <a:srgbClr val="FDB80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678745"/>
                  </a:ext>
                </a:extLst>
              </a:tr>
              <a:tr h="64632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Accept:</a:t>
                      </a:r>
                      <a:r>
                        <a:rPr sz="2800" b="1" spc="-4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image/gif,</a:t>
                      </a:r>
                      <a:r>
                        <a:rPr sz="2800" b="1" spc="5" dirty="0"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*/*</a:t>
                      </a:r>
                      <a:endParaRPr sz="2800" dirty="0">
                        <a:latin typeface="Consolas" panose="020B0609020204030204" pitchFamily="49" charset="0"/>
                        <a:cs typeface="Consolas"/>
                      </a:endParaRPr>
                    </a:p>
                    <a:p>
                      <a:pPr marL="91440" marR="229870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Accept-Encoding: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gzip </a:t>
                      </a:r>
                      <a:r>
                        <a:rPr sz="2800" b="1" spc="-975" dirty="0"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Accept-Language:</a:t>
                      </a:r>
                      <a:r>
                        <a:rPr sz="2800" b="1" spc="5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en</a:t>
                      </a:r>
                      <a:endParaRPr sz="2800" dirty="0">
                        <a:latin typeface="Consolas" panose="020B0609020204030204" pitchFamily="49" charset="0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DB809"/>
                      </a:solidFill>
                      <a:prstDash val="solid"/>
                    </a:lnL>
                    <a:lnR w="28575">
                      <a:solidFill>
                        <a:srgbClr val="FDB80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085" indent="-2076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800" b="1" dirty="0">
                          <a:latin typeface="Book Antiqua" panose="02040602050305030304" pitchFamily="18" charset="0"/>
                          <a:cs typeface="Calibri"/>
                        </a:rPr>
                        <a:t>HTTP </a:t>
                      </a:r>
                      <a:r>
                        <a:rPr sz="2800" b="1" spc="-10" dirty="0">
                          <a:latin typeface="Book Antiqua" panose="02040602050305030304" pitchFamily="18" charset="0"/>
                          <a:cs typeface="Calibri"/>
                        </a:rPr>
                        <a:t>request </a:t>
                      </a:r>
                      <a:r>
                        <a:rPr sz="2800" b="1" spc="-5" dirty="0">
                          <a:latin typeface="Book Antiqua" panose="02040602050305030304" pitchFamily="18" charset="0"/>
                          <a:cs typeface="Calibri"/>
                        </a:rPr>
                        <a:t>message: </a:t>
                      </a:r>
                      <a:r>
                        <a:rPr sz="2800" b="1" dirty="0"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latin typeface="Book Antiqua" panose="02040602050305030304" pitchFamily="18" charset="0"/>
                          <a:cs typeface="Calibri"/>
                        </a:rPr>
                        <a:t>From</a:t>
                      </a:r>
                      <a:r>
                        <a:rPr sz="2800" b="1" spc="-20" dirty="0"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latin typeface="Book Antiqua" panose="02040602050305030304" pitchFamily="18" charset="0"/>
                          <a:cs typeface="Calibri"/>
                        </a:rPr>
                        <a:t>Browser</a:t>
                      </a:r>
                      <a:r>
                        <a:rPr sz="2800" b="1" spc="-45" dirty="0"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latin typeface="Book Antiqua" panose="02040602050305030304" pitchFamily="18" charset="0"/>
                          <a:cs typeface="Calibri"/>
                        </a:rPr>
                        <a:t>to</a:t>
                      </a:r>
                      <a:r>
                        <a:rPr sz="2800" b="1" spc="-30" dirty="0"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latin typeface="Book Antiqua" panose="02040602050305030304" pitchFamily="18" charset="0"/>
                          <a:cs typeface="Calibri"/>
                        </a:rPr>
                        <a:t>Server</a:t>
                      </a:r>
                      <a:endParaRPr sz="28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FDB809"/>
                      </a:solidFill>
                      <a:prstDash val="solid"/>
                    </a:lnL>
                    <a:lnR w="28575">
                      <a:solidFill>
                        <a:srgbClr val="FDB809"/>
                      </a:solidFill>
                      <a:prstDash val="solid"/>
                    </a:lnR>
                    <a:lnT w="28575">
                      <a:solidFill>
                        <a:srgbClr val="FDB809"/>
                      </a:solidFill>
                      <a:prstDash val="solid"/>
                    </a:lnT>
                    <a:lnB w="28575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DB809"/>
                      </a:solidFill>
                      <a:prstDash val="solid"/>
                    </a:lnL>
                    <a:lnR w="28575">
                      <a:solidFill>
                        <a:srgbClr val="FDB809"/>
                      </a:solidFill>
                      <a:prstDash val="solid"/>
                    </a:lnR>
                    <a:lnT w="28575">
                      <a:solidFill>
                        <a:srgbClr val="FDB809"/>
                      </a:solidFill>
                      <a:prstDash val="solid"/>
                    </a:lnT>
                    <a:lnB w="28575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74417"/>
                  </a:ext>
                </a:extLst>
              </a:tr>
              <a:tr h="719823">
                <a:tc gridSpan="2">
                  <a:txBody>
                    <a:bodyPr/>
                    <a:lstStyle/>
                    <a:p>
                      <a:pPr marL="91440" marR="2159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Accept-Charset:</a:t>
                      </a:r>
                      <a:r>
                        <a:rPr sz="2800" b="1" spc="2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iso-8859-1,*,utf-8</a:t>
                      </a:r>
                      <a:endParaRPr sz="2800" dirty="0">
                        <a:latin typeface="Consolas" panose="020B0609020204030204" pitchFamily="49" charset="0"/>
                        <a:cs typeface="Consolas"/>
                      </a:endParaRPr>
                    </a:p>
                    <a:p>
                      <a:pPr marL="91440" marR="2159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Cookie:</a:t>
                      </a:r>
                      <a:r>
                        <a:rPr sz="2800" b="1" spc="-65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/>
                        </a:rPr>
                        <a:t> </a:t>
                      </a:r>
                      <a:r>
                        <a:rPr sz="2800" b="1" spc="-10" dirty="0">
                          <a:latin typeface="Consolas" panose="020B0609020204030204" pitchFamily="49" charset="0"/>
                          <a:cs typeface="Consolas"/>
                        </a:rPr>
                        <a:t>name=xyz</a:t>
                      </a:r>
                      <a:endParaRPr sz="2800" dirty="0">
                        <a:latin typeface="Consolas" panose="020B0609020204030204" pitchFamily="49" charset="0"/>
                        <a:cs typeface="Consolas"/>
                      </a:endParaRPr>
                    </a:p>
                  </a:txBody>
                  <a:tcPr marL="0" marR="0" marT="88265" marB="0">
                    <a:lnL w="28575">
                      <a:solidFill>
                        <a:srgbClr val="FDB809"/>
                      </a:solidFill>
                      <a:prstDash val="solid"/>
                    </a:lnL>
                    <a:lnR w="28575">
                      <a:solidFill>
                        <a:srgbClr val="FDB809"/>
                      </a:solidFill>
                      <a:prstDash val="solid"/>
                    </a:lnR>
                    <a:lnB w="28575">
                      <a:solidFill>
                        <a:srgbClr val="FDB80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DB809"/>
                      </a:solidFill>
                      <a:prstDash val="solid"/>
                    </a:lnL>
                    <a:lnT w="28575">
                      <a:solidFill>
                        <a:srgbClr val="FDB80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174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4178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A6A5-41D3-9D84-0E48-9870C5EE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F8AC-CEE8-C565-0C64-7894AE07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62094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Manipulating cookies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FADC6-1F06-C269-F3D7-09F51B6CC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63019"/>
            <a:ext cx="11826240" cy="5994981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  <a:tab pos="1574165" algn="l"/>
              </a:tabLst>
            </a:pPr>
            <a:r>
              <a:rPr lang="en-US" sz="3000" spc="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Modify	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8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Cookie</a:t>
            </a:r>
            <a:r>
              <a:rPr lang="en-US" sz="3000" spc="-1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Value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marR="89916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2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0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ookie,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jus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set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(aga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)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ookie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 </a:t>
            </a:r>
            <a:r>
              <a:rPr lang="en-US" sz="3000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setcookie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Dele</a:t>
            </a:r>
            <a:r>
              <a:rPr lang="en-US" sz="30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ookie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marR="982344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2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dele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ookie,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000" spc="-3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spc="-5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ookie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 funct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  e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pi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0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past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52768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&lt;?</a:t>
            </a:r>
            <a:r>
              <a:rPr lang="en-US" sz="3000" b="1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php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52768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//</a:t>
            </a:r>
            <a:r>
              <a:rPr lang="en-US" sz="3000" b="1" spc="-1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set</a:t>
            </a:r>
            <a:r>
              <a:rPr lang="en-US" sz="3000" b="1" spc="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the</a:t>
            </a:r>
            <a:r>
              <a:rPr lang="en-US" sz="3000" b="1" spc="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expiration</a:t>
            </a:r>
            <a:r>
              <a:rPr lang="en-US" sz="3000" b="1" spc="3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date</a:t>
            </a:r>
            <a:r>
              <a:rPr lang="en-US" sz="3000" b="1" spc="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to</a:t>
            </a:r>
            <a:r>
              <a:rPr lang="en-US" sz="3000" b="1" spc="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one</a:t>
            </a:r>
            <a:r>
              <a:rPr lang="en-US" sz="3000" b="1" spc="-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hour</a:t>
            </a:r>
            <a:r>
              <a:rPr lang="en-US" sz="3000" b="1" spc="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ago </a:t>
            </a:r>
            <a:r>
              <a:rPr lang="en-US" sz="3000" b="1" spc="-130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setcookie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("user",</a:t>
            </a:r>
            <a:r>
              <a:rPr lang="en-US" sz="3000" b="1" spc="4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"", time()</a:t>
            </a:r>
            <a:r>
              <a:rPr lang="en-US" sz="3000" b="1" spc="35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- 3600);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52768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?&gt;</a:t>
            </a:r>
            <a:endParaRPr lang="en-US" sz="3000" dirty="0">
              <a:latin typeface="Book Antiqua" panose="02040602050305030304" pitchFamily="18" charset="0"/>
              <a:cs typeface="Consolas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2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mai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isa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anta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r>
              <a:rPr lang="en-US" sz="30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 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ooki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Limited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size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by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browser</a:t>
            </a:r>
            <a:endParaRPr lang="en-US" sz="30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Stored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client-side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users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/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malicious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people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change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932C3BC-BC75-E32D-5B8A-CBA780C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1184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8B50-7491-2A5C-D483-6F32C475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D827-7011-4458-FC63-BD89EE52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31E39-CF2B-0BD4-BAB6-D0B65872E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35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US" sz="3200" spc="-1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ain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disa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ooki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Limited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size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by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browser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Stored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client-side</a:t>
            </a:r>
            <a:r>
              <a:rPr lang="en-US" sz="3200" spc="4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users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/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malicious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people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change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35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2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Limi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ed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spa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Cannot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modified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by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35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potential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downside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they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expire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when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 the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browser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closed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marR="5080" indent="-3435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Sessions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identified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by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id: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often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small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cookie! </a:t>
            </a:r>
            <a:r>
              <a:rPr lang="en-US" sz="3200" spc="-5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But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rest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still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stored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</a:t>
            </a:r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C63A62-8737-5971-397A-6DE267D6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2299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777FB-94CF-DB54-7747-09374731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FCFE-92A4-EB05-A2BF-DB456CD53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66" y="16095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Sessions cont’d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FA029-7C15-A113-A7A8-5CFC45DAA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24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alternative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way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make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accessible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across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various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 pages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entire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website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marR="18859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session</a:t>
            </a:r>
            <a:r>
              <a:rPr lang="en-US" sz="3200" spc="-1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temporary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directory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where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registered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their</a:t>
            </a:r>
            <a:r>
              <a:rPr lang="en-US" sz="3200" spc="-1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values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stored.</a:t>
            </a:r>
          </a:p>
          <a:p>
            <a:pPr marL="355600" marR="18859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This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data will be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available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pages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site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during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 </a:t>
            </a:r>
            <a:r>
              <a:rPr lang="en-US" sz="3200" spc="-5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visit.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location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temporary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determined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by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setting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 the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php.ini</a:t>
            </a:r>
            <a:r>
              <a:rPr lang="en-US" sz="32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called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session.save_path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4BA333B-8F4B-5082-E00A-660F95C0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472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CA6A6-0C22-1E46-F820-922F2A91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695FC-F020-44FF-BE6E-C1734CC9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Sessions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99A0E-6033-3222-5A9A-B231C5AEF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When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started,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following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actions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take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place: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26606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first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creates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unique</a:t>
            </a:r>
            <a:r>
              <a:rPr lang="en-US" sz="3200" spc="-4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identifier</a:t>
            </a:r>
            <a:r>
              <a:rPr lang="en-US" sz="3200" spc="-9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that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particular</a:t>
            </a:r>
            <a:r>
              <a:rPr lang="en-US" sz="3200" spc="-12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session </a:t>
            </a:r>
            <a:r>
              <a:rPr lang="en-US" sz="3200" spc="-484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which is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random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string of 32 hexadecimal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numbers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such as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3c7foj34c3jj973hjkop2fc937e3443.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31750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cookie</a:t>
            </a:r>
            <a:r>
              <a:rPr lang="en-US" sz="3200" spc="-1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called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PHPSESSID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automatically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sent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user's </a:t>
            </a:r>
            <a:r>
              <a:rPr lang="en-US" sz="3200" spc="-48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omp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uni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q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sion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identi</a:t>
            </a:r>
            <a:r>
              <a:rPr lang="en-US" sz="3200" spc="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icat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strin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3200" spc="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file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 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automatically 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created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on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server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 the designated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temporary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directory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bears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name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unique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identifier </a:t>
            </a:r>
            <a:r>
              <a:rPr lang="en-US" sz="32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prefixed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by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_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sess_3c7foj34c3jj973hjkop2fc937e3443.</a:t>
            </a:r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82C2966-6EBC-77DE-7A47-88DDD5D4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01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1963-0B51-B001-C0FE-70D4B9D6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EF73-7D03-F312-EDC1-C554E533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62094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Starting a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CF828-4EC6-F342-35C8-CF1BED937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1489" y="813591"/>
            <a:ext cx="6126293" cy="5907884"/>
          </a:xfrm>
        </p:spPr>
        <p:txBody>
          <a:bodyPr>
            <a:noAutofit/>
          </a:bodyPr>
          <a:lstStyle/>
          <a:p>
            <a:pPr marL="355600" marR="46609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b="1" i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session_start</a:t>
            </a:r>
            <a:r>
              <a:rPr lang="en-US" sz="3200" b="1" i="1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</a:t>
            </a:r>
            <a:r>
              <a:rPr lang="en-US" sz="3200" b="1" i="1" spc="-6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used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 </a:t>
            </a:r>
            <a:r>
              <a:rPr lang="en-US" sz="3200" spc="-4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esu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sion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b="1" i="1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session_start</a:t>
            </a:r>
            <a:r>
              <a:rPr lang="en-US" sz="3200" b="1" i="1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()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 </a:t>
            </a:r>
            <a:r>
              <a:rPr lang="en-US" sz="3200" spc="-4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mus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irs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thi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  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doc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ment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  HTML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tags</a:t>
            </a:r>
          </a:p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set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 </a:t>
            </a:r>
            <a:r>
              <a:rPr lang="en-US" sz="3200" spc="-48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 $_SESSION</a:t>
            </a:r>
          </a:p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ll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sion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ari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alues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 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stored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global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270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i="1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 $_SESSION</a:t>
            </a:r>
            <a:r>
              <a:rPr lang="en-US" sz="3200" b="1" i="1" spc="-8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355600">
              <a:lnSpc>
                <a:spcPct val="100000"/>
              </a:lnSpc>
              <a:spcBef>
                <a:spcPts val="960"/>
              </a:spcBef>
            </a:pPr>
            <a:endParaRPr lang="en-US" sz="1800" dirty="0">
              <a:latin typeface="Constantia"/>
              <a:cs typeface="Constantia"/>
            </a:endParaRPr>
          </a:p>
          <a:p>
            <a:pPr marL="756285" marR="5080" lvl="1" indent="-287020">
              <a:lnSpc>
                <a:spcPct val="140000"/>
              </a:lnSpc>
              <a:spcBef>
                <a:spcPts val="47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endParaRPr lang="en-US" sz="1800" dirty="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D490C41-08D4-F2E0-79F6-90792ECF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69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5">
            <a:extLst>
              <a:ext uri="{FF2B5EF4-FFF2-40B4-BE49-F238E27FC236}">
                <a16:creationId xmlns:a16="http://schemas.microsoft.com/office/drawing/2014/main" id="{E5106C97-8326-9DB0-B2CB-E1D77842CD9E}"/>
              </a:ext>
            </a:extLst>
          </p:cNvPr>
          <p:cNvSpPr txBox="1"/>
          <p:nvPr/>
        </p:nvSpPr>
        <p:spPr>
          <a:xfrm>
            <a:off x="5906531" y="334571"/>
            <a:ext cx="6623220" cy="6433813"/>
          </a:xfrm>
          <a:prstGeom prst="rect">
            <a:avLst/>
          </a:prstGeom>
          <a:ln w="25400">
            <a:solidFill>
              <a:srgbClr val="FFC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&lt;?php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 marR="1967864">
              <a:lnSpc>
                <a:spcPct val="100000"/>
              </a:lnSpc>
              <a:spcBef>
                <a:spcPts val="5"/>
              </a:spcBef>
            </a:pPr>
            <a:r>
              <a:rPr sz="2600" b="1" spc="-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// </a:t>
            </a: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Start the session </a:t>
            </a:r>
            <a:r>
              <a:rPr sz="2600" b="1" spc="-97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session_start();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?&gt;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&lt;!DOCTYPE</a:t>
            </a:r>
            <a:r>
              <a:rPr sz="2600" b="1" spc="-5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html&gt;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&lt;html&gt;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&lt;body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&lt;?php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//</a:t>
            </a:r>
            <a:r>
              <a:rPr sz="2600" b="1" spc="-4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Set</a:t>
            </a:r>
            <a:r>
              <a:rPr sz="2600" b="1" spc="-2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session</a:t>
            </a:r>
            <a:r>
              <a:rPr sz="2600" b="1" spc="-1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variables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10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$_SESSION["favcolor"]</a:t>
            </a:r>
            <a:r>
              <a:rPr sz="2600" b="1" spc="15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=</a:t>
            </a:r>
            <a:r>
              <a:rPr sz="2600" b="1" spc="-15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5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"green";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 marR="212090">
              <a:lnSpc>
                <a:spcPct val="100000"/>
              </a:lnSpc>
              <a:spcBef>
                <a:spcPts val="5"/>
              </a:spcBef>
            </a:pPr>
            <a:r>
              <a:rPr sz="2600" b="1" spc="-10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$_SESSION["favanimal"]</a:t>
            </a:r>
            <a:r>
              <a:rPr sz="2600" b="1" spc="35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=</a:t>
            </a:r>
            <a:r>
              <a:rPr sz="2600" b="1" spc="-15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5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"cat"; </a:t>
            </a:r>
            <a:r>
              <a:rPr sz="2600" b="1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echo</a:t>
            </a:r>
            <a:r>
              <a:rPr sz="2600" b="1" spc="-3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"Session</a:t>
            </a:r>
            <a:r>
              <a:rPr sz="2600" b="1" spc="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variables</a:t>
            </a:r>
            <a:r>
              <a:rPr sz="2600" b="1" spc="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are</a:t>
            </a:r>
            <a:r>
              <a:rPr sz="2600" b="1" spc="-2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set.";</a:t>
            </a:r>
            <a:endParaRPr lang="en-US" sz="2600" b="1" spc="-10" dirty="0">
              <a:solidFill>
                <a:srgbClr val="001F5F"/>
              </a:solidFill>
              <a:latin typeface="Consolas" panose="020B0609020204030204" pitchFamily="49" charset="0"/>
              <a:cs typeface="Consolas"/>
            </a:endParaRPr>
          </a:p>
          <a:p>
            <a:pPr marL="92075" marR="212090">
              <a:lnSpc>
                <a:spcPct val="100000"/>
              </a:lnSpc>
              <a:spcBef>
                <a:spcPts val="5"/>
              </a:spcBef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echo</a:t>
            </a:r>
            <a:r>
              <a:rPr sz="2600" b="1" spc="-2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onsolas" panose="020B0609020204030204" pitchFamily="49" charset="0"/>
                <a:cs typeface="Consolas"/>
              </a:rPr>
              <a:t>$_SESSION["favcolor"];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?&gt;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&lt;/body&gt;</a:t>
            </a:r>
            <a:endParaRPr sz="2600" dirty="0">
              <a:latin typeface="Consolas" panose="020B0609020204030204" pitchFamily="49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26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&lt;/html&gt;</a:t>
            </a:r>
            <a:endParaRPr sz="2600" dirty="0">
              <a:latin typeface="Consolas" panose="020B0609020204030204" pitchFamily="49" charset="0"/>
              <a:cs typeface="Consola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EC8251-D678-75F6-CBD7-49569CB010A8}"/>
              </a:ext>
            </a:extLst>
          </p:cNvPr>
          <p:cNvCxnSpPr/>
          <p:nvPr/>
        </p:nvCxnSpPr>
        <p:spPr>
          <a:xfrm>
            <a:off x="12121660" y="323558"/>
            <a:ext cx="0" cy="6468257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EBC115A-0761-E005-0846-07934AC21534}"/>
              </a:ext>
            </a:extLst>
          </p:cNvPr>
          <p:cNvSpPr/>
          <p:nvPr/>
        </p:nvSpPr>
        <p:spPr>
          <a:xfrm>
            <a:off x="12149350" y="176701"/>
            <a:ext cx="1087898" cy="6693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033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1E905-FE09-C1F1-BC6B-BF3BEC43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0C0F-4A3B-0127-6C30-02682846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8680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Destroy a PHP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C00D8-8297-2F98-B77B-42AC57DD8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4396347" cy="5770255"/>
          </a:xfrm>
        </p:spPr>
        <p:txBody>
          <a:bodyPr>
            <a:noAutofit/>
          </a:bodyPr>
          <a:lstStyle/>
          <a:p>
            <a:pPr marL="44704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446405" algn="l"/>
                <a:tab pos="447040" algn="l"/>
              </a:tabLst>
            </a:pPr>
            <a:r>
              <a:rPr lang="en-US" sz="3600" spc="-2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6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all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</a:p>
          <a:p>
            <a:pPr marL="104140" indent="0">
              <a:lnSpc>
                <a:spcPct val="100000"/>
              </a:lnSpc>
              <a:spcBef>
                <a:spcPts val="0"/>
              </a:spcBef>
              <a:buNone/>
              <a:tabLst>
                <a:tab pos="446405" algn="l"/>
                <a:tab pos="447040" algn="l"/>
              </a:tabLst>
            </a:pP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lobal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218440" marR="30416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variables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and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destroy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session, use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b="1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session_unset</a:t>
            </a:r>
            <a:r>
              <a:rPr lang="en-US" sz="36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 </a:t>
            </a:r>
            <a:r>
              <a:rPr lang="en-US" sz="3600" b="1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 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b="1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6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b="1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ssion_d</a:t>
            </a:r>
            <a:r>
              <a:rPr lang="en-US" sz="36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b="1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600" b="1" spc="-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600" b="1" spc="-4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ro</a:t>
            </a:r>
            <a:r>
              <a:rPr lang="en-US" sz="3600" b="1" spc="10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600" b="1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()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4FDAC9E-D4AD-A34B-25EA-E2D57B2D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EC91BA0F-4977-9556-8BD3-E06F095F06C2}"/>
              </a:ext>
            </a:extLst>
          </p:cNvPr>
          <p:cNvSpPr txBox="1"/>
          <p:nvPr/>
        </p:nvSpPr>
        <p:spPr>
          <a:xfrm>
            <a:off x="4670855" y="912447"/>
            <a:ext cx="7429893" cy="5942010"/>
          </a:xfrm>
          <a:prstGeom prst="rect">
            <a:avLst/>
          </a:prstGeom>
          <a:ln w="25400">
            <a:solidFill>
              <a:srgbClr val="3891A7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075" marR="2472055">
              <a:lnSpc>
                <a:spcPct val="100000"/>
              </a:lnSpc>
              <a:spcBef>
                <a:spcPts val="254"/>
              </a:spcBef>
            </a:pP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&lt;?php </a:t>
            </a:r>
            <a:r>
              <a:rPr sz="32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sz="3200" b="1" spc="-10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session_star</a:t>
            </a:r>
            <a:r>
              <a:rPr sz="3200" b="1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t</a:t>
            </a:r>
            <a:r>
              <a:rPr sz="32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();</a:t>
            </a:r>
            <a:r>
              <a:rPr lang="en-US" sz="32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lang="en-US"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?&gt;</a:t>
            </a:r>
            <a:endParaRPr lang="en-US" sz="3200" dirty="0">
              <a:latin typeface="Book Antiqua" panose="02040602050305030304" pitchFamily="18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&lt;!DOCTYPE</a:t>
            </a:r>
            <a:r>
              <a:rPr sz="3200" b="1" spc="-5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html&gt;</a:t>
            </a:r>
            <a:endParaRPr sz="3200" dirty="0">
              <a:latin typeface="Book Antiqua" panose="02040602050305030304" pitchFamily="18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&lt;html&gt;</a:t>
            </a:r>
            <a:endParaRPr sz="3200" dirty="0">
              <a:latin typeface="Book Antiqua" panose="02040602050305030304" pitchFamily="18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&lt;body&gt;</a:t>
            </a:r>
            <a:endParaRPr sz="3200" dirty="0">
              <a:latin typeface="Book Antiqua" panose="02040602050305030304" pitchFamily="18" charset="0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&lt;?php</a:t>
            </a:r>
            <a:endParaRPr sz="3200" dirty="0">
              <a:latin typeface="Book Antiqua" panose="02040602050305030304" pitchFamily="18" charset="0"/>
              <a:cs typeface="Consolas"/>
            </a:endParaRPr>
          </a:p>
          <a:p>
            <a:pPr marL="92075" marR="590550">
              <a:lnSpc>
                <a:spcPct val="100000"/>
              </a:lnSpc>
            </a:pPr>
            <a:r>
              <a:rPr sz="32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// </a:t>
            </a: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remove all session variables </a:t>
            </a:r>
            <a:r>
              <a:rPr sz="3200" b="1" spc="-97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session_unset();</a:t>
            </a:r>
            <a:endParaRPr sz="3200" dirty="0">
              <a:latin typeface="Book Antiqua" panose="02040602050305030304" pitchFamily="18" charset="0"/>
              <a:cs typeface="Consolas"/>
            </a:endParaRPr>
          </a:p>
          <a:p>
            <a:pPr marL="92075" marR="1717675">
              <a:lnSpc>
                <a:spcPct val="100000"/>
              </a:lnSpc>
            </a:pPr>
            <a:r>
              <a:rPr sz="3200" b="1" spc="-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// </a:t>
            </a: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destroy the session </a:t>
            </a:r>
            <a:r>
              <a:rPr sz="3200" b="1" spc="-975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Book Antiqua" panose="02040602050305030304" pitchFamily="18" charset="0"/>
                <a:cs typeface="Consolas"/>
              </a:rPr>
              <a:t>session_destroy();</a:t>
            </a:r>
            <a:endParaRPr sz="3200" dirty="0">
              <a:latin typeface="Book Antiqua" panose="02040602050305030304" pitchFamily="18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?&gt;</a:t>
            </a:r>
            <a:endParaRPr sz="3200" dirty="0">
              <a:latin typeface="Book Antiqua" panose="02040602050305030304" pitchFamily="18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&lt;/body&gt;</a:t>
            </a:r>
            <a:endParaRPr sz="3200" dirty="0">
              <a:latin typeface="Book Antiqua" panose="02040602050305030304" pitchFamily="18" charset="0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3200" b="1" spc="-10" dirty="0">
                <a:solidFill>
                  <a:srgbClr val="001F5F"/>
                </a:solidFill>
                <a:latin typeface="Book Antiqua" panose="02040602050305030304" pitchFamily="18" charset="0"/>
                <a:cs typeface="Consolas"/>
              </a:rPr>
              <a:t>&lt;/html&gt;</a:t>
            </a:r>
            <a:endParaRPr sz="3200" dirty="0">
              <a:latin typeface="Book Antiqua" panose="02040602050305030304" pitchFamily="18" charset="0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308079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C2514-85E2-79F8-FAA1-61AAC1E4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A125-4700-FD27-B6C5-B4E8C869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52" y="-61476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Cookies vs Sessions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EA2F6A3-C0C4-E076-1305-4C652E20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596122B9-7D86-33DB-B77D-E56C7A3CD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832905"/>
              </p:ext>
            </p:extLst>
          </p:nvPr>
        </p:nvGraphicFramePr>
        <p:xfrm>
          <a:off x="120740" y="698432"/>
          <a:ext cx="11930580" cy="6216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7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8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8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3200">
                        <a:latin typeface="Book Antiqua" panose="020406020503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5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Cookies</a:t>
                      </a:r>
                      <a:endParaRPr sz="28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800" b="1" spc="-5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Sessions</a:t>
                      </a:r>
                      <a:endParaRPr sz="28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951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Where</a:t>
                      </a:r>
                      <a:r>
                        <a:rPr sz="2600" b="1" spc="-4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is</a:t>
                      </a:r>
                      <a:r>
                        <a:rPr sz="2600" b="1" spc="-1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data</a:t>
                      </a:r>
                      <a:r>
                        <a:rPr sz="2600" b="1" spc="-4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stored?</a:t>
                      </a:r>
                      <a:endParaRPr sz="26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Locally</a:t>
                      </a:r>
                      <a:r>
                        <a:rPr sz="2600" b="1" spc="-5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on</a:t>
                      </a:r>
                      <a:r>
                        <a:rPr sz="2600" b="1" spc="-3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client</a:t>
                      </a:r>
                      <a:endParaRPr sz="260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Remotely</a:t>
                      </a:r>
                      <a:r>
                        <a:rPr sz="2600" b="1" spc="-7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on</a:t>
                      </a:r>
                      <a:r>
                        <a:rPr sz="2600" b="1" spc="-1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server</a:t>
                      </a:r>
                      <a:endParaRPr sz="260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8190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Expiration?</a:t>
                      </a:r>
                      <a:endParaRPr sz="26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4201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1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Variable</a:t>
                      </a:r>
                      <a:r>
                        <a:rPr sz="2600" b="1" spc="-3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–</a:t>
                      </a:r>
                      <a:r>
                        <a:rPr sz="2600" b="1" spc="-5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determined </a:t>
                      </a:r>
                      <a:r>
                        <a:rPr sz="2600" b="1" spc="-39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when</a:t>
                      </a:r>
                      <a:r>
                        <a:rPr sz="2600" b="1" spc="-5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cookie</a:t>
                      </a:r>
                      <a:r>
                        <a:rPr sz="2600" b="1" spc="-3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is</a:t>
                      </a:r>
                      <a:r>
                        <a:rPr sz="2600" b="1" spc="-2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set</a:t>
                      </a:r>
                      <a:endParaRPr sz="26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1755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Session is 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destroyed </a:t>
                      </a:r>
                      <a:r>
                        <a:rPr sz="2600" b="1" spc="-39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when</a:t>
                      </a:r>
                      <a:r>
                        <a:rPr sz="2600" b="1" spc="-7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the</a:t>
                      </a:r>
                      <a:r>
                        <a:rPr sz="2600" b="1" spc="-3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browser</a:t>
                      </a:r>
                      <a:r>
                        <a:rPr sz="2600" b="1" spc="-70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is </a:t>
                      </a:r>
                      <a:r>
                        <a:rPr sz="2600" b="1" spc="-39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closed</a:t>
                      </a:r>
                      <a:endParaRPr sz="260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0468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Size</a:t>
                      </a:r>
                      <a:r>
                        <a:rPr sz="2600" b="1" spc="-6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limit?</a:t>
                      </a:r>
                      <a:endParaRPr sz="260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Depends</a:t>
                      </a:r>
                      <a:r>
                        <a:rPr sz="2600" b="1" spc="-7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on</a:t>
                      </a:r>
                      <a:r>
                        <a:rPr sz="2600" b="1" spc="-2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browser</a:t>
                      </a:r>
                      <a:endParaRPr sz="26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1148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Depends</a:t>
                      </a:r>
                      <a:r>
                        <a:rPr sz="2600" b="1" spc="-6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only</a:t>
                      </a:r>
                      <a:r>
                        <a:rPr sz="2600" b="1" spc="-4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on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server </a:t>
                      </a:r>
                      <a:r>
                        <a:rPr sz="2600" b="1" spc="-390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(practically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no 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size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limit)</a:t>
                      </a:r>
                      <a:endParaRPr sz="260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815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Accessing</a:t>
                      </a:r>
                      <a:r>
                        <a:rPr sz="2600" b="1" spc="-7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information?</a:t>
                      </a:r>
                      <a:endParaRPr sz="260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5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$_COOKIE</a:t>
                      </a:r>
                      <a:endParaRPr sz="26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5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$_SESSION</a:t>
                      </a:r>
                      <a:endParaRPr sz="260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320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General</a:t>
                      </a:r>
                      <a:r>
                        <a:rPr sz="2600" b="1" spc="-4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use?</a:t>
                      </a:r>
                      <a:endParaRPr sz="26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2136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Remember</a:t>
                      </a:r>
                      <a:r>
                        <a:rPr sz="2600" b="1" spc="-6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small</a:t>
                      </a:r>
                      <a:r>
                        <a:rPr sz="2600" b="1" spc="-4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things </a:t>
                      </a:r>
                      <a:r>
                        <a:rPr sz="2600" b="1" spc="-39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about the </a:t>
                      </a:r>
                      <a:r>
                        <a:rPr sz="2600" b="1" spc="-3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user,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such as </a:t>
                      </a:r>
                      <a:r>
                        <a:rPr sz="2600" b="1" spc="-39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login name.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Remember </a:t>
                      </a:r>
                      <a:r>
                        <a:rPr sz="2600" b="1" spc="-39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things 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after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re-opening </a:t>
                      </a:r>
                      <a:r>
                        <a:rPr sz="2600" b="1" spc="-39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browser</a:t>
                      </a:r>
                      <a:endParaRPr sz="26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64515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Remembering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varying </a:t>
                      </a:r>
                      <a:r>
                        <a:rPr sz="2600" b="1" spc="-40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amount</a:t>
                      </a:r>
                      <a:r>
                        <a:rPr sz="2600" b="1" spc="-5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of</a:t>
                      </a:r>
                      <a:r>
                        <a:rPr sz="2600" b="1" spc="-2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data</a:t>
                      </a:r>
                      <a:r>
                        <a:rPr sz="2600" b="1" spc="-3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about </a:t>
                      </a:r>
                      <a:r>
                        <a:rPr sz="2600" b="1" spc="-39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the</a:t>
                      </a:r>
                      <a:r>
                        <a:rPr sz="2600" b="1" spc="-2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user</a:t>
                      </a:r>
                      <a:r>
                        <a:rPr sz="2600" b="1" spc="-3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in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one</a:t>
                      </a:r>
                      <a:r>
                        <a:rPr lang="en-US" sz="2600" b="1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browsing</a:t>
                      </a:r>
                      <a:r>
                        <a:rPr sz="2600" b="1" spc="-9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2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“session”.</a:t>
                      </a:r>
                      <a:endParaRPr sz="2600" dirty="0">
                        <a:latin typeface="Book Antiqua" panose="02040602050305030304" pitchFamily="18" charset="0"/>
                        <a:cs typeface="Calibri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More</a:t>
                      </a:r>
                      <a:r>
                        <a:rPr sz="2600" b="1" spc="-3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sensitive</a:t>
                      </a:r>
                      <a:r>
                        <a:rPr sz="2600" b="1" spc="-6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001F5F"/>
                          </a:solidFill>
                          <a:latin typeface="Book Antiqua" panose="02040602050305030304" pitchFamily="18" charset="0"/>
                          <a:cs typeface="Calibri"/>
                        </a:rPr>
                        <a:t>info.</a:t>
                      </a:r>
                      <a:endParaRPr sz="2600" dirty="0">
                        <a:latin typeface="Book Antiqua" panose="02040602050305030304" pitchFamily="18" charset="0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5870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4FB3-DF3A-CFDB-16B7-38268248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3219-A269-E27A-9893-4808AF48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62094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Header() </a:t>
            </a:r>
            <a:r>
              <a:rPr lang="en-US" sz="5000" b="1" dirty="0">
                <a:latin typeface="Book Antiqua" panose="02040602050305030304" pitchFamily="18" charset="0"/>
              </a:rPr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9DB4-0B1A-F862-9E9B-57BF0D18F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40" y="838305"/>
            <a:ext cx="11905866" cy="5957601"/>
          </a:xfrm>
        </p:spPr>
        <p:txBody>
          <a:bodyPr>
            <a:no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header()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sends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raw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HTTP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header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 </a:t>
            </a:r>
            <a:r>
              <a:rPr lang="en-US" sz="3200" spc="-6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client.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marR="4572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header()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must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called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before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any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actual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output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sent </a:t>
            </a:r>
            <a:r>
              <a:rPr lang="en-US" sz="3200" spc="-5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client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header(string,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replace,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 err="1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http_response_code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)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612900" lvl="3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eq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ui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ed.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ie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der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end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612900" marR="571500" lvl="3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32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la</a:t>
            </a:r>
            <a:r>
              <a:rPr lang="en-US" sz="32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6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tional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ica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es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her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der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hould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la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previous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add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second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header.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Default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TRUE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(will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replace). </a:t>
            </a:r>
            <a:r>
              <a:rPr lang="en-US" sz="3200" spc="-409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FALSE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(allows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multiple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headers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of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same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type)</a:t>
            </a:r>
            <a:endParaRPr lang="en-US" sz="3200" dirty="0">
              <a:latin typeface="Book Antiqua" panose="02040602050305030304" pitchFamily="18" charset="0"/>
              <a:cs typeface="Constantia"/>
            </a:endParaRPr>
          </a:p>
          <a:p>
            <a:pPr marL="1612900" marR="79375" lvl="3" indent="-2286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612900" algn="l"/>
                <a:tab pos="1613535" algn="l"/>
              </a:tabLst>
            </a:pPr>
            <a:r>
              <a:rPr lang="en-US" sz="3200" spc="-5" dirty="0" err="1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http_response_code</a:t>
            </a:r>
            <a:r>
              <a:rPr lang="en-US" sz="3200" spc="-7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Optional.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Forces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HTTP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response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code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200" spc="-409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specified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value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7AE5CF0-4B82-C643-7485-4C2A7853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3352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F309-2BF8-5ABD-0C20-B7A70CD3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0032-CCB4-235B-29F0-D0EDBD4B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Header() </a:t>
            </a:r>
            <a:r>
              <a:rPr lang="en-US" sz="5000" b="1" dirty="0">
                <a:latin typeface="Book Antiqua" panose="02040602050305030304" pitchFamily="18" charset="0"/>
              </a:rPr>
              <a:t>Function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433F5-6F51-4CE9-AA99-15BD74051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90"/>
            <a:ext cx="11826240" cy="4573952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ent</a:t>
            </a:r>
            <a:r>
              <a:rPr lang="en-US" sz="36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pa</a:t>
            </a:r>
            <a:r>
              <a:rPr lang="en-US" sz="36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1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cachin</a:t>
            </a:r>
            <a:r>
              <a:rPr lang="en-US" sz="3600" spc="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:</a:t>
            </a:r>
            <a:endParaRPr lang="en-US" sz="28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>
              <a:latin typeface="Book Antiqua" panose="0204060205030503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>
              <a:latin typeface="Book Antiqua" panose="0204060205030503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>
              <a:latin typeface="Book Antiqua" panose="0204060205030503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dirty="0">
              <a:latin typeface="Book Antiqua" panose="0204060205030503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</a:rPr>
              <a:t>Redirect browser to another page</a:t>
            </a: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9FB1A8E-D28C-4183-6954-2E7E1B96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5">
            <a:extLst>
              <a:ext uri="{FF2B5EF4-FFF2-40B4-BE49-F238E27FC236}">
                <a16:creationId xmlns:a16="http://schemas.microsoft.com/office/drawing/2014/main" id="{AC77DFAC-924F-1273-226B-F08D72E09208}"/>
              </a:ext>
            </a:extLst>
          </p:cNvPr>
          <p:cNvSpPr txBox="1"/>
          <p:nvPr/>
        </p:nvSpPr>
        <p:spPr>
          <a:xfrm>
            <a:off x="225080" y="5520690"/>
            <a:ext cx="11365558" cy="1324722"/>
          </a:xfrm>
          <a:prstGeom prst="rect">
            <a:avLst/>
          </a:prstGeom>
          <a:ln w="25400">
            <a:solidFill>
              <a:srgbClr val="3891A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2800" b="1" i="1" dirty="0">
                <a:latin typeface="Consolas" panose="020B0609020204030204" pitchFamily="49" charset="0"/>
                <a:cs typeface="Calibri"/>
              </a:rPr>
              <a:t>&lt;?php</a:t>
            </a:r>
            <a:endParaRPr sz="2800" dirty="0">
              <a:latin typeface="Consolas" panose="020B0609020204030204" pitchFamily="49" charset="0"/>
              <a:cs typeface="Calibri"/>
            </a:endParaRPr>
          </a:p>
          <a:p>
            <a:pPr marL="1005840">
              <a:lnSpc>
                <a:spcPct val="100000"/>
              </a:lnSpc>
            </a:pPr>
            <a:r>
              <a:rPr sz="2800" b="1" i="1" spc="-5" dirty="0">
                <a:latin typeface="Consolas" panose="020B0609020204030204" pitchFamily="49" charset="0"/>
                <a:cs typeface="Calibri"/>
              </a:rPr>
              <a:t>header("Location:</a:t>
            </a:r>
            <a:r>
              <a:rPr sz="2800" b="1" i="1" spc="-25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i="1" spc="-10" dirty="0">
                <a:latin typeface="Consolas" panose="020B0609020204030204" pitchFamily="49" charset="0"/>
                <a:cs typeface="Calibri"/>
                <a:hlinkClick r:id="rId3"/>
              </a:rPr>
              <a:t>http://www.w3schools.com/");</a:t>
            </a:r>
            <a:r>
              <a:rPr lang="en-US" sz="2800" b="1" i="1" spc="-1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i="1" spc="5" dirty="0">
                <a:latin typeface="Consolas" panose="020B0609020204030204" pitchFamily="49" charset="0"/>
                <a:cs typeface="Calibri"/>
              </a:rPr>
              <a:t>?&gt;</a:t>
            </a:r>
            <a:endParaRPr sz="2800" dirty="0">
              <a:latin typeface="Consolas" panose="020B0609020204030204" pitchFamily="49" charset="0"/>
              <a:cs typeface="Calibri"/>
            </a:endParaRPr>
          </a:p>
          <a:p>
            <a:pPr marL="141605">
              <a:lnSpc>
                <a:spcPct val="100000"/>
              </a:lnSpc>
            </a:pPr>
            <a:r>
              <a:rPr sz="2800" b="1" i="1" spc="-5" dirty="0">
                <a:latin typeface="Consolas" panose="020B0609020204030204" pitchFamily="49" charset="0"/>
                <a:cs typeface="Calibri"/>
              </a:rPr>
              <a:t>&lt;html&gt;</a:t>
            </a:r>
            <a:r>
              <a:rPr sz="2800" b="1" i="1" spc="-1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i="1" spc="-5" dirty="0">
                <a:latin typeface="Consolas" panose="020B0609020204030204" pitchFamily="49" charset="0"/>
                <a:cs typeface="Calibri"/>
              </a:rPr>
              <a:t>&lt;body&gt;</a:t>
            </a:r>
            <a:r>
              <a:rPr sz="2800" b="1" i="1" spc="5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i="1" spc="-5" dirty="0">
                <a:latin typeface="Consolas" panose="020B0609020204030204" pitchFamily="49" charset="0"/>
                <a:cs typeface="Calibri"/>
              </a:rPr>
              <a:t>......</a:t>
            </a:r>
            <a:r>
              <a:rPr sz="2800" b="1" i="1" spc="-4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i="1" spc="-5" dirty="0">
                <a:latin typeface="Consolas" panose="020B0609020204030204" pitchFamily="49" charset="0"/>
                <a:cs typeface="Calibri"/>
              </a:rPr>
              <a:t>&lt;/body&gt;</a:t>
            </a:r>
            <a:r>
              <a:rPr sz="2800" b="1" i="1" spc="5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i="1" spc="-5" dirty="0">
                <a:latin typeface="Consolas" panose="020B0609020204030204" pitchFamily="49" charset="0"/>
                <a:cs typeface="Calibri"/>
              </a:rPr>
              <a:t>&lt;/html&gt;</a:t>
            </a:r>
            <a:endParaRPr sz="2800" dirty="0">
              <a:latin typeface="Consolas" panose="020B0609020204030204" pitchFamily="49" charset="0"/>
              <a:cs typeface="Calibri"/>
            </a:endParaRP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AFF096A1-D0C1-15A8-34D2-02C0DF223C82}"/>
              </a:ext>
            </a:extLst>
          </p:cNvPr>
          <p:cNvSpPr txBox="1"/>
          <p:nvPr/>
        </p:nvSpPr>
        <p:spPr>
          <a:xfrm>
            <a:off x="988536" y="1524000"/>
            <a:ext cx="10063979" cy="3477875"/>
          </a:xfrm>
          <a:prstGeom prst="rect">
            <a:avLst/>
          </a:prstGeom>
          <a:ln w="25400">
            <a:solidFill>
              <a:srgbClr val="FFC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latin typeface="Consolas" panose="020B0609020204030204" pitchFamily="49" charset="0"/>
                <a:cs typeface="Calibri"/>
              </a:rPr>
              <a:t>&lt;?php</a:t>
            </a:r>
            <a:endParaRPr sz="2800" dirty="0">
              <a:latin typeface="Consolas" panose="020B0609020204030204" pitchFamily="49" charset="0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latin typeface="Consolas" panose="020B0609020204030204" pitchFamily="49" charset="0"/>
                <a:cs typeface="Calibri"/>
              </a:rPr>
              <a:t>//</a:t>
            </a:r>
            <a:r>
              <a:rPr sz="2800" b="1" spc="-10" dirty="0">
                <a:latin typeface="Consolas" panose="020B0609020204030204" pitchFamily="49" charset="0"/>
                <a:cs typeface="Calibri"/>
              </a:rPr>
              <a:t> Date</a:t>
            </a:r>
            <a:r>
              <a:rPr sz="2800" b="1" spc="-25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dirty="0">
                <a:latin typeface="Consolas" panose="020B0609020204030204" pitchFamily="49" charset="0"/>
                <a:cs typeface="Calibri"/>
              </a:rPr>
              <a:t>in</a:t>
            </a:r>
            <a:r>
              <a:rPr sz="2800" b="1" spc="-2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dirty="0">
                <a:latin typeface="Consolas" panose="020B0609020204030204" pitchFamily="49" charset="0"/>
                <a:cs typeface="Calibri"/>
              </a:rPr>
              <a:t>the</a:t>
            </a:r>
            <a:r>
              <a:rPr sz="2800" b="1" spc="-3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spc="-10" dirty="0">
                <a:latin typeface="Consolas" panose="020B0609020204030204" pitchFamily="49" charset="0"/>
                <a:cs typeface="Calibri"/>
              </a:rPr>
              <a:t>past</a:t>
            </a:r>
            <a:endParaRPr sz="2800" dirty="0">
              <a:latin typeface="Consolas" panose="020B0609020204030204" pitchFamily="49" charset="0"/>
              <a:cs typeface="Calibri"/>
            </a:endParaRPr>
          </a:p>
          <a:p>
            <a:pPr marL="91440" marR="298450">
              <a:lnSpc>
                <a:spcPct val="100000"/>
              </a:lnSpc>
            </a:pPr>
            <a:r>
              <a:rPr sz="2800" b="1" spc="-5" dirty="0">
                <a:latin typeface="Consolas" panose="020B0609020204030204" pitchFamily="49" charset="0"/>
                <a:cs typeface="Calibri"/>
              </a:rPr>
              <a:t>header("Expires:</a:t>
            </a:r>
            <a:r>
              <a:rPr sz="2800" b="1" spc="-5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dirty="0">
                <a:latin typeface="Consolas" panose="020B0609020204030204" pitchFamily="49" charset="0"/>
                <a:cs typeface="Calibri"/>
              </a:rPr>
              <a:t>Mon,</a:t>
            </a:r>
            <a:r>
              <a:rPr sz="2800" b="1" spc="-2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dirty="0">
                <a:latin typeface="Consolas" panose="020B0609020204030204" pitchFamily="49" charset="0"/>
                <a:cs typeface="Calibri"/>
              </a:rPr>
              <a:t>26</a:t>
            </a:r>
            <a:r>
              <a:rPr sz="2800" b="1" spc="-1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dirty="0">
                <a:latin typeface="Consolas" panose="020B0609020204030204" pitchFamily="49" charset="0"/>
                <a:cs typeface="Calibri"/>
              </a:rPr>
              <a:t>Jul</a:t>
            </a:r>
            <a:r>
              <a:rPr sz="2800" b="1" spc="-2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dirty="0">
                <a:latin typeface="Consolas" panose="020B0609020204030204" pitchFamily="49" charset="0"/>
                <a:cs typeface="Calibri"/>
              </a:rPr>
              <a:t>1997</a:t>
            </a:r>
            <a:r>
              <a:rPr sz="2800" b="1" spc="-5" dirty="0">
                <a:latin typeface="Consolas" panose="020B0609020204030204" pitchFamily="49" charset="0"/>
                <a:cs typeface="Calibri"/>
              </a:rPr>
              <a:t> 05:00:00</a:t>
            </a:r>
            <a:r>
              <a:rPr sz="2800" b="1" spc="1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dirty="0">
                <a:latin typeface="Consolas" panose="020B0609020204030204" pitchFamily="49" charset="0"/>
                <a:cs typeface="Calibri"/>
              </a:rPr>
              <a:t>GMT"); </a:t>
            </a:r>
            <a:r>
              <a:rPr sz="2800" b="1" spc="-390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spc="-5" dirty="0">
                <a:latin typeface="Consolas" panose="020B0609020204030204" pitchFamily="49" charset="0"/>
                <a:cs typeface="Calibri"/>
              </a:rPr>
              <a:t>header("Cache-Control: no-cache"); </a:t>
            </a:r>
            <a:r>
              <a:rPr sz="2800" b="1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spc="-5" dirty="0">
                <a:latin typeface="Consolas" panose="020B0609020204030204" pitchFamily="49" charset="0"/>
                <a:cs typeface="Calibri"/>
              </a:rPr>
              <a:t>header("Pragma:</a:t>
            </a:r>
            <a:r>
              <a:rPr sz="2800" b="1" spc="-45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spc="-5" dirty="0">
                <a:latin typeface="Consolas" panose="020B0609020204030204" pitchFamily="49" charset="0"/>
                <a:cs typeface="Calibri"/>
              </a:rPr>
              <a:t>no-cache");</a:t>
            </a:r>
            <a:r>
              <a:rPr lang="en-US" sz="2800" b="1" spc="-5" dirty="0">
                <a:latin typeface="Consolas" panose="020B0609020204030204" pitchFamily="49" charset="0"/>
                <a:cs typeface="Calibri"/>
              </a:rPr>
              <a:t> </a:t>
            </a:r>
            <a:r>
              <a:rPr sz="2800" b="1" dirty="0">
                <a:latin typeface="Consolas" panose="020B0609020204030204" pitchFamily="49" charset="0"/>
                <a:cs typeface="Calibri"/>
              </a:rPr>
              <a:t>?&gt;</a:t>
            </a:r>
            <a:endParaRPr sz="2800" dirty="0">
              <a:latin typeface="Consolas" panose="020B0609020204030204" pitchFamily="49" charset="0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2800" b="1" spc="-5" dirty="0">
                <a:latin typeface="Consolas" panose="020B0609020204030204" pitchFamily="49" charset="0"/>
                <a:cs typeface="Calibri"/>
              </a:rPr>
              <a:t>&lt;html&gt;</a:t>
            </a:r>
            <a:endParaRPr sz="2800" dirty="0">
              <a:latin typeface="Consolas" panose="020B0609020204030204" pitchFamily="49" charset="0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2800" b="1" dirty="0">
                <a:latin typeface="Consolas" panose="020B0609020204030204" pitchFamily="49" charset="0"/>
                <a:cs typeface="Calibri"/>
              </a:rPr>
              <a:t>&lt;body&gt;</a:t>
            </a:r>
            <a:endParaRPr sz="2800" dirty="0">
              <a:latin typeface="Consolas" panose="020B0609020204030204" pitchFamily="49" charset="0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2800" b="1" dirty="0">
                <a:latin typeface="Consolas" panose="020B0609020204030204" pitchFamily="49" charset="0"/>
                <a:cs typeface="Calibri"/>
              </a:rPr>
              <a:t>…</a:t>
            </a:r>
            <a:endParaRPr sz="3000" dirty="0">
              <a:latin typeface="Consolas" panose="020B0609020204030204" pitchFamily="49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06006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B7A8C-EFB0-8F28-810A-798E2490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5474-E583-AE4D-64DB-B045A868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 fontScale="90000"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ERROR AND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B6CB9-2751-C834-6428-2E7A48AB0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1069142"/>
            <a:ext cx="11826240" cy="5687702"/>
          </a:xfrm>
        </p:spPr>
        <p:txBody>
          <a:bodyPr>
            <a:no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default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error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handling in </a:t>
            </a:r>
            <a:r>
              <a:rPr lang="en-US" sz="3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PHP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 very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simple.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error message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with 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filename,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line </a:t>
            </a:r>
            <a:r>
              <a:rPr lang="en-US" sz="3600" spc="-7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nu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be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spc="-1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messa</a:t>
            </a:r>
            <a:r>
              <a:rPr lang="en-US" sz="36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describi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 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sent</a:t>
            </a:r>
            <a:r>
              <a:rPr lang="en-US" sz="36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to</a:t>
            </a:r>
            <a:r>
              <a:rPr lang="en-US" sz="36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browser.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Error</a:t>
            </a:r>
            <a:r>
              <a:rPr lang="en-US" sz="36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handling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methods: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Simple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"die()"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statements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</a:t>
            </a:r>
            <a:r>
              <a:rPr lang="en-US" sz="3600" spc="-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</a:t>
            </a:r>
            <a:r>
              <a:rPr lang="en-US" sz="36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ors</a:t>
            </a:r>
            <a:r>
              <a:rPr lang="en-US" sz="3600" spc="-1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trig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ers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7562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or</a:t>
            </a:r>
            <a:r>
              <a:rPr lang="en-US" sz="36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ep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rting</a:t>
            </a:r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49E314B-7091-343A-B4DE-CB7F62AB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2657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7F00-6635-FD84-B94D-1C296195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BDFE-3F8F-E36D-DE52-515E06DB3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62094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Basic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4119F-EA01-3DC5-10B2-ED9507C1D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63019"/>
            <a:ext cx="11826240" cy="5770255"/>
          </a:xfrm>
        </p:spPr>
        <p:txBody>
          <a:bodyPr>
            <a:noAutofit/>
          </a:bodyPr>
          <a:lstStyle/>
          <a:p>
            <a:pPr marL="447040" marR="96583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446405" algn="l"/>
                <a:tab pos="447040" algn="l"/>
              </a:tabLst>
            </a:pP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1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die()</a:t>
            </a:r>
            <a:r>
              <a:rPr lang="en-US" sz="3600" spc="-2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36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prints</a:t>
            </a:r>
            <a:r>
              <a:rPr lang="en-US" sz="3600" spc="-1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600" spc="-8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message</a:t>
            </a:r>
            <a:r>
              <a:rPr lang="en-US" sz="36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 </a:t>
            </a:r>
            <a:r>
              <a:rPr lang="en-US" sz="3600" spc="-7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exits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1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current</a:t>
            </a:r>
            <a:r>
              <a:rPr lang="en-US" sz="3600" spc="-1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script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44704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446405" algn="l"/>
                <a:tab pos="447040" algn="l"/>
              </a:tabLst>
            </a:pP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Syntax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84772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848360" algn="l"/>
              </a:tabLst>
            </a:pP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die(message)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055761-8B3E-1108-24B2-027A7FC7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289224E5-2F0D-67D5-AADB-C48D9939445A}"/>
              </a:ext>
            </a:extLst>
          </p:cNvPr>
          <p:cNvSpPr txBox="1"/>
          <p:nvPr/>
        </p:nvSpPr>
        <p:spPr>
          <a:xfrm>
            <a:off x="1536366" y="3062033"/>
            <a:ext cx="8991600" cy="3749102"/>
          </a:xfrm>
          <a:prstGeom prst="rect">
            <a:avLst/>
          </a:prstGeom>
          <a:ln w="25400">
            <a:solidFill>
              <a:srgbClr val="FDB809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91440" marR="1666875">
              <a:lnSpc>
                <a:spcPct val="100000"/>
              </a:lnSpc>
              <a:spcBef>
                <a:spcPts val="234"/>
              </a:spcBef>
            </a:pPr>
            <a:r>
              <a:rPr sz="3000" b="1" dirty="0">
                <a:latin typeface="Consolas"/>
                <a:cs typeface="Consolas"/>
              </a:rPr>
              <a:t>&lt;?php </a:t>
            </a:r>
            <a:r>
              <a:rPr sz="3000" b="1" spc="5" dirty="0">
                <a:latin typeface="Consolas"/>
                <a:cs typeface="Consolas"/>
              </a:rPr>
              <a:t> </a:t>
            </a:r>
            <a:r>
              <a:rPr sz="3000" b="1" dirty="0">
                <a:latin typeface="Consolas"/>
                <a:cs typeface="Consolas"/>
              </a:rPr>
              <a:t>if(!file_exists("welcome.txt"))</a:t>
            </a:r>
            <a:r>
              <a:rPr sz="3000" b="1" spc="30" dirty="0">
                <a:latin typeface="Consolas"/>
                <a:cs typeface="Consolas"/>
              </a:rPr>
              <a:t> </a:t>
            </a:r>
            <a:endParaRPr lang="en-US" sz="3000" b="1" spc="30" dirty="0">
              <a:latin typeface="Consolas"/>
              <a:cs typeface="Consolas"/>
            </a:endParaRPr>
          </a:p>
          <a:p>
            <a:pPr marL="91440" marR="1666875">
              <a:lnSpc>
                <a:spcPct val="100000"/>
              </a:lnSpc>
              <a:spcBef>
                <a:spcPts val="234"/>
              </a:spcBef>
            </a:pPr>
            <a:r>
              <a:rPr sz="3000" b="1" dirty="0">
                <a:latin typeface="Consolas"/>
                <a:cs typeface="Consolas"/>
              </a:rPr>
              <a:t>{</a:t>
            </a:r>
            <a:endParaRPr sz="3000" dirty="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</a:pPr>
            <a:r>
              <a:rPr sz="3000" b="1" dirty="0">
                <a:latin typeface="Consolas"/>
                <a:cs typeface="Consolas"/>
              </a:rPr>
              <a:t>die("File</a:t>
            </a:r>
            <a:r>
              <a:rPr sz="3000" b="1" spc="5" dirty="0">
                <a:latin typeface="Consolas"/>
                <a:cs typeface="Consolas"/>
              </a:rPr>
              <a:t> </a:t>
            </a:r>
            <a:r>
              <a:rPr sz="3000" b="1" dirty="0">
                <a:latin typeface="Consolas"/>
                <a:cs typeface="Consolas"/>
              </a:rPr>
              <a:t>not</a:t>
            </a:r>
            <a:r>
              <a:rPr sz="3000" b="1" spc="-20" dirty="0">
                <a:latin typeface="Consolas"/>
                <a:cs typeface="Consolas"/>
              </a:rPr>
              <a:t> </a:t>
            </a:r>
            <a:r>
              <a:rPr sz="3000" b="1" dirty="0">
                <a:latin typeface="Consolas"/>
                <a:cs typeface="Consolas"/>
              </a:rPr>
              <a:t>found");</a:t>
            </a:r>
            <a:endParaRPr sz="30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3000" b="1" dirty="0">
                <a:latin typeface="Consolas"/>
                <a:cs typeface="Consolas"/>
              </a:rPr>
              <a:t>}</a:t>
            </a:r>
            <a:r>
              <a:rPr sz="3000" b="1" spc="-40" dirty="0">
                <a:latin typeface="Consolas"/>
                <a:cs typeface="Consolas"/>
              </a:rPr>
              <a:t> </a:t>
            </a:r>
            <a:r>
              <a:rPr sz="3000" b="1" dirty="0">
                <a:latin typeface="Consolas"/>
                <a:cs typeface="Consolas"/>
              </a:rPr>
              <a:t>else</a:t>
            </a:r>
            <a:r>
              <a:rPr sz="3000" b="1" spc="-20" dirty="0">
                <a:latin typeface="Consolas"/>
                <a:cs typeface="Consolas"/>
              </a:rPr>
              <a:t> </a:t>
            </a:r>
            <a:r>
              <a:rPr sz="3000" b="1" dirty="0">
                <a:latin typeface="Consolas"/>
                <a:cs typeface="Consolas"/>
              </a:rPr>
              <a:t>{</a:t>
            </a:r>
            <a:endParaRPr sz="3000" dirty="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  <a:spcBef>
                <a:spcPts val="5"/>
              </a:spcBef>
            </a:pPr>
            <a:r>
              <a:rPr sz="3000" b="1" dirty="0">
                <a:latin typeface="Consolas"/>
                <a:cs typeface="Consolas"/>
              </a:rPr>
              <a:t>$file=fopen("welcome.txt","r");</a:t>
            </a:r>
            <a:endParaRPr sz="30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3000" b="1" dirty="0">
                <a:latin typeface="Consolas"/>
                <a:cs typeface="Consolas"/>
              </a:rPr>
              <a:t>}</a:t>
            </a:r>
            <a:endParaRPr sz="30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3000" b="1" dirty="0">
                <a:latin typeface="Consolas"/>
                <a:cs typeface="Consolas"/>
              </a:rPr>
              <a:t>?&gt;</a:t>
            </a:r>
            <a:endParaRPr sz="3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019915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610BD-7A48-3AC8-5CB6-A5905043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3BCB3-CDED-B1BC-E921-7743E80E9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BADC7-B26F-E369-A249-0113612A7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P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oper</a:t>
            </a:r>
            <a:r>
              <a:rPr lang="en-US" sz="3600" spc="-1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eption</a:t>
            </a:r>
            <a:r>
              <a:rPr lang="en-US" sz="36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1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should i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nclud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: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spc="-3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Try</a:t>
            </a:r>
            <a:r>
              <a:rPr lang="en-US" sz="3600" spc="-8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function</a:t>
            </a:r>
            <a:r>
              <a:rPr lang="en-US" sz="3600" spc="-8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using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exception</a:t>
            </a:r>
            <a:r>
              <a:rPr lang="en-US" sz="36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should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be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</a:t>
            </a:r>
            <a:r>
              <a:rPr lang="en-US" sz="36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"try" </a:t>
            </a:r>
            <a:r>
              <a:rPr lang="en-US" sz="3600" spc="-5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block.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exception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does not </a:t>
            </a:r>
            <a:r>
              <a:rPr lang="en-US" sz="3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trigger,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 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code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will 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continue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as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normal. 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However,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if the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exception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triggers, </a:t>
            </a:r>
            <a:r>
              <a:rPr lang="en-US" sz="3600" spc="-59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exception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is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"thrown"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756285" marR="57404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spc="-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600" spc="-3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spc="-5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60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600" spc="-55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s</a:t>
            </a:r>
            <a:r>
              <a:rPr lang="en-US" sz="3600" spc="-4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y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ou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g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er</a:t>
            </a:r>
            <a:r>
              <a:rPr lang="en-US" sz="3600" spc="-1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6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x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ept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ion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.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Each 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"th</a:t>
            </a:r>
            <a:r>
              <a:rPr lang="en-US" sz="3600" spc="-3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w"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mus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h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v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12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at</a:t>
            </a:r>
            <a:r>
              <a:rPr lang="en-US" sz="3600" spc="-6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least</a:t>
            </a:r>
            <a:r>
              <a:rPr lang="en-US" sz="3600" spc="-12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n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"ca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ch"</a:t>
            </a:r>
            <a:endParaRPr lang="en-US" sz="3600" dirty="0">
              <a:latin typeface="Book Antiqua" panose="02040602050305030304" pitchFamily="18" charset="0"/>
              <a:cs typeface="Constantia"/>
            </a:endParaRPr>
          </a:p>
          <a:p>
            <a:pPr marL="756285" marR="952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spc="-10" dirty="0">
                <a:solidFill>
                  <a:srgbClr val="FF0000"/>
                </a:solidFill>
                <a:latin typeface="Book Antiqua" panose="02040602050305030304" pitchFamily="18" charset="0"/>
                <a:cs typeface="Constantia"/>
              </a:rPr>
              <a:t>Catch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- A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"catch"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block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retrieves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exception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and </a:t>
            </a:r>
            <a:r>
              <a:rPr lang="en-US" sz="3600" spc="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creates</a:t>
            </a:r>
            <a:r>
              <a:rPr lang="en-US" sz="3600" spc="-10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an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object</a:t>
            </a:r>
            <a:r>
              <a:rPr lang="en-US" sz="3600" spc="-9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containing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the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exception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 </a:t>
            </a:r>
            <a:r>
              <a:rPr lang="en-US" sz="3600" spc="-5" dirty="0">
                <a:solidFill>
                  <a:srgbClr val="001F5F"/>
                </a:solidFill>
                <a:latin typeface="Book Antiqua" panose="02040602050305030304" pitchFamily="18" charset="0"/>
                <a:cs typeface="Constantia"/>
              </a:rPr>
              <a:t>information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2C63A8-DF2B-41D0-2806-43F8612F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1650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0C0BE-0721-7FD9-6484-00EC447AD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BA016-EE3C-1415-EEC8-A8A3038F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37380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EXCEPTION HANDLING Example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06F0C24-6FD2-442B-8CA0-33692510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627671D2-5B62-4B5F-6CF5-AF7763C11028}"/>
              </a:ext>
            </a:extLst>
          </p:cNvPr>
          <p:cNvSpPr txBox="1"/>
          <p:nvPr/>
        </p:nvSpPr>
        <p:spPr>
          <a:xfrm>
            <a:off x="249794" y="769725"/>
            <a:ext cx="11826240" cy="6045886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&lt;?php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function</a:t>
            </a:r>
            <a:r>
              <a:rPr sz="2800" b="1" spc="-5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checkNum($number)</a:t>
            </a:r>
            <a:r>
              <a:rPr sz="2800" b="1" spc="-5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{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291465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if($number&gt;1)</a:t>
            </a:r>
            <a:r>
              <a:rPr sz="2800" b="1" spc="-9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{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570230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throw</a:t>
            </a:r>
            <a:r>
              <a:rPr sz="2800" b="1" spc="-2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new</a:t>
            </a:r>
            <a:r>
              <a:rPr sz="2800" b="1" spc="-1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Exception("Value</a:t>
            </a:r>
            <a:r>
              <a:rPr sz="2800" b="1" spc="-4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must</a:t>
            </a:r>
            <a:r>
              <a:rPr sz="2800" b="1" spc="-1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be</a:t>
            </a:r>
            <a:r>
              <a:rPr sz="2800" b="1" spc="-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1</a:t>
            </a:r>
            <a:r>
              <a:rPr sz="2800" b="1" spc="-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or below");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291465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}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291465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return</a:t>
            </a:r>
            <a:r>
              <a:rPr sz="2800" b="1" spc="-7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true;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}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try</a:t>
            </a:r>
            <a:r>
              <a:rPr sz="2800" b="1" spc="-7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{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291465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checkNum(2);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}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catch(Exception</a:t>
            </a:r>
            <a:r>
              <a:rPr sz="2800" b="1" spc="-7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$e)</a:t>
            </a:r>
            <a:r>
              <a:rPr sz="2800" b="1" spc="-4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{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291465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echo</a:t>
            </a:r>
            <a:r>
              <a:rPr sz="2800" b="1" spc="-25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'Message:</a:t>
            </a:r>
            <a:r>
              <a:rPr sz="2800" b="1" spc="-5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'</a:t>
            </a:r>
            <a:r>
              <a:rPr sz="2800" b="1" spc="-10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.$e-&gt;getMessage();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}</a:t>
            </a:r>
            <a:endParaRPr sz="28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001F5F"/>
                </a:solidFill>
                <a:latin typeface="Consolas" panose="020B0609020204030204" pitchFamily="49" charset="0"/>
                <a:cs typeface="Consolas"/>
              </a:rPr>
              <a:t>?&gt;</a:t>
            </a:r>
            <a:endParaRPr sz="2800" dirty="0">
              <a:latin typeface="Consolas" panose="020B0609020204030204" pitchFamily="49" charset="0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737215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26CD2-E92D-EC6F-4802-1DF88750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704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Introduction to </a:t>
            </a:r>
            <a:r>
              <a:rPr lang="en-US" b="1" dirty="0">
                <a:solidFill>
                  <a:srgbClr val="FF0000"/>
                </a:solidFill>
                <a:latin typeface="Book Antiqua" panose="02040602050305030304" pitchFamily="18" charset="0"/>
              </a:rPr>
              <a:t>Object Oriented</a:t>
            </a:r>
            <a:r>
              <a:rPr lang="en-US" b="1" dirty="0">
                <a:latin typeface="Book Antiqua" panose="02040602050305030304" pitchFamily="18" charset="0"/>
              </a:rPr>
              <a:t> PHP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4D8005A-24DD-7964-0BB6-272091A6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2247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5AC8-F0D0-A0DB-02FF-F35A7A14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B5E92-01B3-5F2F-22F3-5C51BEC76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62094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Object Oriented </a:t>
            </a:r>
            <a:r>
              <a:rPr lang="en-US" sz="5000" b="1" dirty="0">
                <a:latin typeface="Book Antiqua" panose="02040602050305030304" pitchFamily="18" charset="0"/>
              </a:rPr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1938A-8C41-D149-3522-310F26322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38305"/>
            <a:ext cx="11826240" cy="5908173"/>
          </a:xfrm>
        </p:spPr>
        <p:txBody>
          <a:bodyPr>
            <a:noAutofit/>
          </a:bodyPr>
          <a:lstStyle/>
          <a:p>
            <a:pPr marL="355600" marR="1587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Class:</a:t>
            </a:r>
            <a:r>
              <a:rPr lang="en-US" sz="3000" spc="-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This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programmer-defined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datatype,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includes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local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functions  </a:t>
            </a:r>
            <a:r>
              <a:rPr lang="en-US" sz="30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 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well </a:t>
            </a:r>
            <a:r>
              <a:rPr lang="en-US" sz="30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 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local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data. 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think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</a:t>
            </a:r>
            <a:r>
              <a:rPr lang="en-US" sz="30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template </a:t>
            </a:r>
            <a:r>
              <a:rPr lang="en-US" sz="30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for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making many 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instances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0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same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kind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(or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class)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55600" marR="4064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5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Object: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 </a:t>
            </a:r>
            <a:r>
              <a:rPr lang="en-US" sz="30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individual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instance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data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structure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defined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 </a:t>
            </a:r>
            <a:r>
              <a:rPr lang="en-US" sz="30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 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 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once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then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make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many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objects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belong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it.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Objects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  </a:t>
            </a:r>
            <a:r>
              <a:rPr lang="en-US" sz="30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also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known </a:t>
            </a:r>
            <a:r>
              <a:rPr lang="en-US" sz="30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</a:t>
            </a:r>
            <a:r>
              <a:rPr lang="en-US" sz="3000" spc="-3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instance.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7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000" spc="-13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Variable:</a:t>
            </a:r>
            <a:r>
              <a:rPr lang="en-US" sz="3000" spc="-5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These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variables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defined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inside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This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data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will  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 </a:t>
            </a:r>
            <a:r>
              <a:rPr lang="en-US" sz="30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invisible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 </a:t>
            </a:r>
            <a:r>
              <a:rPr lang="en-US" sz="30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outside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0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 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 </a:t>
            </a:r>
            <a:r>
              <a:rPr lang="en-US" sz="30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accessed 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via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  </a:t>
            </a:r>
            <a:r>
              <a:rPr lang="en-US" sz="30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functions. These </a:t>
            </a:r>
            <a:r>
              <a:rPr lang="en-US" sz="30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variables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 </a:t>
            </a:r>
            <a:r>
              <a:rPr lang="en-US" sz="30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called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attribute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once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 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 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created.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55600" marR="12573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7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000" spc="-9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function:</a:t>
            </a:r>
            <a:r>
              <a:rPr lang="en-US" sz="3000" spc="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These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defined</a:t>
            </a:r>
            <a:r>
              <a:rPr lang="en-US" sz="30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inside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used 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access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data.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6DC42C3-FC9F-BFE1-0AF1-A046287F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79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3844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E317-2A3D-273B-3462-8205EB76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DE2D-DFF9-9EE2-C513-1EF9BFB3E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Object Oriented </a:t>
            </a:r>
            <a:r>
              <a:rPr lang="en-US" sz="5000" b="1" dirty="0">
                <a:latin typeface="Book Antiqua" panose="02040602050305030304" pitchFamily="18" charset="0"/>
              </a:rPr>
              <a:t>Concepts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4623D-D6ED-D6E3-2CB8-4D504599D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marR="478790" indent="-342900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3000" spc="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Inheritance:</a:t>
            </a:r>
            <a:r>
              <a:rPr lang="en-US" sz="3000" spc="-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When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defined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inheriting 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existing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parent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then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called 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inheritance.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Here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child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will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all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few  </a:t>
            </a:r>
            <a:r>
              <a:rPr lang="en-US" sz="3000" spc="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functions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variables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parent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11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Parent</a:t>
            </a:r>
            <a:r>
              <a:rPr lang="en-US" sz="3000" spc="-1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class:</a:t>
            </a:r>
            <a:r>
              <a:rPr lang="en-US" sz="3000" spc="-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inherited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another 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This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also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called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base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super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55600" marR="19177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Child</a:t>
            </a:r>
            <a:r>
              <a:rPr lang="en-US" sz="3000" spc="-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Class:</a:t>
            </a:r>
            <a:r>
              <a:rPr lang="en-US" sz="3000" spc="-1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inherits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another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 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This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also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called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subclass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</a:t>
            </a:r>
            <a:r>
              <a:rPr lang="en-US" sz="30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derived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</a:p>
          <a:p>
            <a:pPr marL="355600" marR="19177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Polymorphism: </a:t>
            </a:r>
            <a:r>
              <a:rPr lang="en-US" sz="30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This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 </a:t>
            </a:r>
            <a:r>
              <a:rPr lang="en-US" sz="30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object-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oriented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concept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where </a:t>
            </a:r>
            <a:r>
              <a:rPr lang="en-US" sz="30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same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</a:t>
            </a:r>
            <a:r>
              <a:rPr lang="en-US" sz="3000" spc="-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used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for</a:t>
            </a:r>
            <a:r>
              <a:rPr lang="en-US" sz="30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different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purposes.</a:t>
            </a:r>
            <a:r>
              <a:rPr lang="en-US" sz="30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For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example, 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 </a:t>
            </a:r>
            <a:r>
              <a:rPr lang="en-US" sz="30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name </a:t>
            </a:r>
            <a:r>
              <a:rPr lang="en-US" sz="3000" spc="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will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remain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same </a:t>
            </a:r>
            <a:r>
              <a:rPr lang="en-US" sz="3000" spc="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but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make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take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different  </a:t>
            </a:r>
            <a:r>
              <a:rPr lang="en-US" sz="30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number</a:t>
            </a:r>
            <a:r>
              <a:rPr lang="en-US" sz="3000" spc="-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000" spc="-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arguments</a:t>
            </a:r>
            <a:r>
              <a:rPr lang="en-US" sz="30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-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do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different</a:t>
            </a:r>
            <a:r>
              <a:rPr lang="en-US" sz="30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task.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12700" marR="191770" indent="0">
              <a:lnSpc>
                <a:spcPct val="100000"/>
              </a:lnSpc>
              <a:spcBef>
                <a:spcPts val="0"/>
              </a:spcBef>
              <a:buNone/>
              <a:tabLst>
                <a:tab pos="354965" algn="l"/>
                <a:tab pos="355600" algn="l"/>
              </a:tabLst>
            </a:pPr>
            <a:endParaRPr lang="en-US" sz="3200" dirty="0">
              <a:latin typeface="Book Antiqua" panose="02040602050305030304" pitchFamily="18" charset="0"/>
              <a:cs typeface="Times New Roman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C9F7E15-A9A1-255D-4FDA-09E21E04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900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424F-2F48-C3BD-F7CE-EF4D0FBC2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BCF1-83AF-5649-BBF1-8E8D0EA5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-94422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Object Oriented </a:t>
            </a:r>
            <a:r>
              <a:rPr lang="en-US" sz="5000" b="1" dirty="0">
                <a:latin typeface="Book Antiqua" panose="02040602050305030304" pitchFamily="18" charset="0"/>
              </a:rPr>
              <a:t>Concepts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84D6-6088-229D-77BD-C75CECD26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" y="681789"/>
            <a:ext cx="12051320" cy="6118233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Overloading:</a:t>
            </a:r>
            <a:r>
              <a:rPr lang="en-US" sz="3000" spc="-8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type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polymorphism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30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some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</a:t>
            </a:r>
            <a:r>
              <a:rPr lang="en-US" sz="30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all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operators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have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different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implementations</a:t>
            </a:r>
            <a:r>
              <a:rPr lang="en-US" sz="3000" spc="-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depending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on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types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their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arguments.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Similarly,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functions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 </a:t>
            </a:r>
            <a:r>
              <a:rPr lang="en-US" sz="30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also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 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overloaded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with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different </a:t>
            </a:r>
            <a:r>
              <a:rPr lang="en-US" sz="3000" spc="-4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implementation.</a:t>
            </a:r>
          </a:p>
          <a:p>
            <a:pPr marL="355600" marR="106553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Data</a:t>
            </a:r>
            <a:r>
              <a:rPr lang="en-US" sz="3000" spc="-10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Abstraction:</a:t>
            </a:r>
            <a:r>
              <a:rPr lang="en-US" sz="3000" spc="-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Any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representation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data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30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 </a:t>
            </a:r>
            <a:r>
              <a:rPr lang="en-US" sz="30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implementation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details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hidden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(abstracted).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Encapsulation:</a:t>
            </a:r>
            <a:r>
              <a:rPr lang="en-US" sz="3000" spc="-7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refers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concept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where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we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encapsulate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all</a:t>
            </a:r>
            <a:r>
              <a:rPr lang="en-US" sz="3000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0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data  </a:t>
            </a:r>
            <a:r>
              <a:rPr lang="en-US" sz="30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</a:t>
            </a:r>
            <a:r>
              <a:rPr lang="en-US" sz="3000" spc="-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functions</a:t>
            </a:r>
            <a:r>
              <a:rPr lang="en-US" sz="30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together</a:t>
            </a: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form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55600" marR="4635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7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Constructor:</a:t>
            </a:r>
            <a:r>
              <a:rPr lang="en-US" sz="3000" spc="-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refers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special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type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will</a:t>
            </a:r>
            <a:r>
              <a:rPr lang="en-US" sz="30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called  </a:t>
            </a:r>
            <a:r>
              <a:rPr lang="en-US" sz="30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automatically</a:t>
            </a:r>
            <a:r>
              <a:rPr lang="en-US" sz="30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whenever</a:t>
            </a:r>
            <a:r>
              <a:rPr lang="en-US" sz="30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there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z="30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</a:t>
            </a:r>
            <a:r>
              <a:rPr lang="en-US" sz="30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formation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42265" marR="64135" indent="-34226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42265" algn="l"/>
                <a:tab pos="355600" algn="l"/>
              </a:tabLst>
            </a:pPr>
            <a:r>
              <a:rPr lang="en-US" sz="3000" spc="7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Destructors:</a:t>
            </a:r>
            <a:r>
              <a:rPr lang="en-US" sz="3000" spc="-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refers</a:t>
            </a:r>
            <a:r>
              <a:rPr lang="en-US" sz="29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29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29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special</a:t>
            </a:r>
            <a:r>
              <a:rPr lang="en-US" sz="29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type</a:t>
            </a:r>
            <a:r>
              <a:rPr lang="en-US" sz="29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29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</a:t>
            </a:r>
            <a:r>
              <a:rPr lang="en-US" sz="29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29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will</a:t>
            </a:r>
            <a:r>
              <a:rPr lang="en-US" sz="29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29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called </a:t>
            </a:r>
            <a:r>
              <a:rPr lang="en-US" sz="29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automatically</a:t>
            </a:r>
            <a:r>
              <a:rPr lang="en-US" sz="29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whenever</a:t>
            </a:r>
            <a:r>
              <a:rPr lang="en-US" sz="29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z="29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</a:t>
            </a:r>
            <a:r>
              <a:rPr lang="en-US" sz="29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29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deleted</a:t>
            </a:r>
            <a:r>
              <a:rPr lang="en-US" sz="29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</a:t>
            </a:r>
            <a:r>
              <a:rPr lang="en-US" sz="29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goes</a:t>
            </a:r>
            <a:r>
              <a:rPr lang="en-US" sz="29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out</a:t>
            </a:r>
            <a:r>
              <a:rPr lang="en-US" sz="29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29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9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scope.</a:t>
            </a:r>
            <a:endParaRPr lang="en-US" sz="29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F3DBE3D-D7A1-699E-0CC8-3AC1CEFA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155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04B1F-48F9-FFEF-E0BE-E65835F3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D60F-BFAE-C351-C74D-C0A98E2FA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579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Defining</a:t>
            </a:r>
            <a:r>
              <a:rPr lang="en-US" sz="5000" b="1" dirty="0">
                <a:latin typeface="Book Antiqua" panose="02040602050305030304" pitchFamily="18" charset="0"/>
              </a:rPr>
              <a:t> PHP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E4A65-F46C-925B-CE73-B55EDD9A0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10389"/>
            <a:ext cx="11826240" cy="85876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1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general</a:t>
            </a:r>
            <a:r>
              <a:rPr lang="en-US" sz="3200" spc="-1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form</a:t>
            </a:r>
            <a:r>
              <a:rPr lang="en-US" sz="3200" spc="-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for</a:t>
            </a:r>
            <a:r>
              <a:rPr lang="en-US" sz="3200" spc="-2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defining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new</a:t>
            </a:r>
            <a:r>
              <a:rPr lang="en-US" sz="3200" spc="-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200" dirty="0"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PHP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A3BE3DB-ECC8-3EC1-2115-E3145093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3">
            <a:extLst>
              <a:ext uri="{FF2B5EF4-FFF2-40B4-BE49-F238E27FC236}">
                <a16:creationId xmlns:a16="http://schemas.microsoft.com/office/drawing/2014/main" id="{6444A17F-09C7-449C-0983-EAD075BACF66}"/>
              </a:ext>
            </a:extLst>
          </p:cNvPr>
          <p:cNvSpPr/>
          <p:nvPr/>
        </p:nvSpPr>
        <p:spPr>
          <a:xfrm>
            <a:off x="787400" y="1524001"/>
            <a:ext cx="9779000" cy="5197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406064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B3B47-2404-CB41-595B-9453D7F88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17EA-DFC2-F9ED-10A2-F80084B3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Setter</a:t>
            </a:r>
            <a:r>
              <a:rPr lang="en-US" sz="5000" b="1" dirty="0">
                <a:latin typeface="Book Antiqua" panose="02040602050305030304" pitchFamily="18" charset="0"/>
              </a:rPr>
              <a:t> &amp;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Getter</a:t>
            </a:r>
            <a:r>
              <a:rPr lang="en-US" sz="5000" b="1" dirty="0">
                <a:latin typeface="Book Antiqua" panose="02040602050305030304" pitchFamily="18" charset="0"/>
              </a:rPr>
              <a:t>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E16E-7963-3CFB-C777-4422B8302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4550120" cy="5770255"/>
          </a:xfrm>
        </p:spPr>
        <p:txBody>
          <a:bodyPr>
            <a:no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</a:t>
            </a:r>
            <a:r>
              <a:rPr lang="en-US" sz="36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variable</a:t>
            </a:r>
            <a:r>
              <a:rPr lang="en-US" sz="3600" spc="-4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 </a:t>
            </a:r>
            <a:r>
              <a:rPr lang="en-US" sz="3600" spc="5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$this </a:t>
            </a:r>
            <a:r>
              <a:rPr lang="en-US" sz="36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 </a:t>
            </a:r>
            <a:r>
              <a:rPr lang="en-US" sz="36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 </a:t>
            </a:r>
            <a:r>
              <a:rPr lang="en-US" sz="36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special  variable </a:t>
            </a:r>
            <a:r>
              <a:rPr lang="en-US" sz="3600" spc="1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 </a:t>
            </a:r>
            <a:r>
              <a:rPr lang="en-US" sz="36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  </a:t>
            </a:r>
            <a:r>
              <a:rPr lang="en-US" sz="36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refers</a:t>
            </a:r>
            <a:r>
              <a:rPr lang="en-US" sz="36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6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same  </a:t>
            </a:r>
            <a:r>
              <a:rPr lang="en-US" sz="36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object, </a:t>
            </a:r>
            <a:r>
              <a:rPr lang="en-US" sz="36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i.e.,</a:t>
            </a:r>
            <a:r>
              <a:rPr lang="en-US" sz="3600" spc="-1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itself.</a:t>
            </a:r>
            <a:endParaRPr lang="en-US" sz="3600" dirty="0">
              <a:latin typeface="Book Antiqua" panose="02040602050305030304" pitchFamily="18" charset="0"/>
              <a:cs typeface="Times New Roman"/>
            </a:endParaRPr>
          </a:p>
          <a:p>
            <a:pPr marL="355600" marR="405765" indent="-342900"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1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-&gt; </a:t>
            </a:r>
            <a:r>
              <a:rPr lang="en-US" sz="36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operator </a:t>
            </a:r>
            <a:r>
              <a:rPr lang="en-US" sz="36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  </a:t>
            </a:r>
            <a:r>
              <a:rPr lang="en-US" sz="36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equal </a:t>
            </a:r>
            <a:r>
              <a:rPr lang="en-US" sz="36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 </a:t>
            </a:r>
            <a:r>
              <a:rPr lang="en-US" sz="36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java’s</a:t>
            </a:r>
            <a:r>
              <a:rPr lang="en-US" sz="3600" spc="-4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 </a:t>
            </a:r>
            <a:r>
              <a:rPr lang="en-US" sz="3600" spc="1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. </a:t>
            </a:r>
            <a:r>
              <a:rPr lang="en-US" sz="36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operator</a:t>
            </a:r>
            <a:endParaRPr lang="en-US" sz="36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A2CEDF8-2075-2FF5-2CE2-7543726CC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0FCA769A-E894-F2CB-B30A-9EC831DC63AD}"/>
              </a:ext>
            </a:extLst>
          </p:cNvPr>
          <p:cNvSpPr/>
          <p:nvPr/>
        </p:nvSpPr>
        <p:spPr>
          <a:xfrm>
            <a:off x="5029200" y="986589"/>
            <a:ext cx="6197600" cy="58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33136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1254B-C92F-EA54-5C22-3A7E5B9E1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1954F-2DCD-9F8A-03A9-470DF90F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Creating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Objects</a:t>
            </a:r>
            <a:r>
              <a:rPr lang="en-US" sz="5000" b="1" dirty="0">
                <a:latin typeface="Book Antiqua" panose="02040602050305030304" pitchFamily="18" charset="0"/>
              </a:rPr>
              <a:t> in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9AC68-F65B-2271-85F1-7EB704F9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1705811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1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Once</a:t>
            </a:r>
            <a:r>
              <a:rPr lang="en-US" sz="3200" spc="-2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defined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your</a:t>
            </a:r>
            <a:r>
              <a:rPr lang="en-US" sz="3200" spc="-2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class,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then</a:t>
            </a:r>
            <a:r>
              <a:rPr lang="en-US" sz="3200" spc="-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create</a:t>
            </a:r>
            <a:r>
              <a:rPr lang="en-US" sz="3200" spc="-1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many</a:t>
            </a:r>
            <a:r>
              <a:rPr lang="en-US" sz="3200" spc="-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objects</a:t>
            </a:r>
            <a:r>
              <a:rPr lang="en-US" sz="3200" spc="-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</a:t>
            </a:r>
            <a:r>
              <a:rPr lang="en-US" sz="3200" spc="-1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like</a:t>
            </a:r>
            <a:r>
              <a:rPr lang="en-US" sz="3200" spc="-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  </a:t>
            </a:r>
            <a:r>
              <a:rPr lang="en-US" sz="32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type.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Creating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</a:t>
            </a:r>
            <a:r>
              <a:rPr lang="en-US" sz="3200" spc="-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using</a:t>
            </a:r>
            <a:r>
              <a:rPr lang="en-US" sz="3200" spc="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new</a:t>
            </a:r>
            <a:r>
              <a:rPr lang="en-US" sz="3200" spc="-15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operator</a:t>
            </a:r>
            <a:endParaRPr lang="en-US" sz="28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D43DD1A-6126-C73F-B5D5-F857718C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3">
            <a:extLst>
              <a:ext uri="{FF2B5EF4-FFF2-40B4-BE49-F238E27FC236}">
                <a16:creationId xmlns:a16="http://schemas.microsoft.com/office/drawing/2014/main" id="{CD7F8EFF-6489-8039-B4C4-9A302A81EF56}"/>
              </a:ext>
            </a:extLst>
          </p:cNvPr>
          <p:cNvSpPr/>
          <p:nvPr/>
        </p:nvSpPr>
        <p:spPr>
          <a:xfrm>
            <a:off x="838198" y="2692399"/>
            <a:ext cx="10210801" cy="4029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10466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D7EB-29E4-AD58-982C-2EA0CEAE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0F80-8C3D-7DA2-BEA5-EED34E78D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Calling Member </a:t>
            </a:r>
            <a:r>
              <a:rPr lang="en-US" sz="5000" b="1" dirty="0">
                <a:latin typeface="Book Antiqua" panose="02040602050305030304" pitchFamily="18" charset="0"/>
              </a:rPr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DD8C9-3B6E-0B68-0498-CD09BF70A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1096211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After</a:t>
            </a:r>
            <a:r>
              <a:rPr lang="en-US" sz="3200" spc="-1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creating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your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objects,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will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able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  </a:t>
            </a:r>
            <a:r>
              <a:rPr lang="en-US" sz="32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call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2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related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object.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1B15C96-E28F-E312-38DD-D75594B0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7B3EF650-E9BF-5CAF-11DE-27B187371C64}"/>
              </a:ext>
            </a:extLst>
          </p:cNvPr>
          <p:cNvSpPr/>
          <p:nvPr/>
        </p:nvSpPr>
        <p:spPr>
          <a:xfrm>
            <a:off x="762000" y="2082800"/>
            <a:ext cx="10668000" cy="4638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40863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D4376-0DDD-D59F-6408-6225D47B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289A-816C-2570-D9C2-BED22413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Object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307AF-DFF3-4831-5EBE-C729BFAAD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1147011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172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PHP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provides</a:t>
            </a:r>
            <a:r>
              <a:rPr lang="en-US" sz="3200" spc="-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special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called </a:t>
            </a:r>
            <a:r>
              <a:rPr lang="en-US" sz="3200" u="heavy" dirty="0">
                <a:solidFill>
                  <a:srgbClr val="FF0000"/>
                </a:solidFill>
                <a:uFill>
                  <a:solidFill>
                    <a:srgbClr val="FE0000"/>
                  </a:solidFill>
                </a:uFill>
                <a:latin typeface="Book Antiqua" panose="02040602050305030304" pitchFamily="18" charset="0"/>
                <a:cs typeface="Times New Roman"/>
              </a:rPr>
              <a:t> 	</a:t>
            </a:r>
            <a:r>
              <a:rPr lang="en-US" sz="3200" spc="1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construct()</a:t>
            </a:r>
            <a:r>
              <a:rPr lang="en-US" sz="3200" spc="-5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constructor/object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creator.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662B595-792B-B234-B331-01C0B1E1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273AEA09-777C-8EBF-AE36-5736C8C0FED4}"/>
              </a:ext>
            </a:extLst>
          </p:cNvPr>
          <p:cNvSpPr/>
          <p:nvPr/>
        </p:nvSpPr>
        <p:spPr>
          <a:xfrm>
            <a:off x="355600" y="2057399"/>
            <a:ext cx="10845800" cy="4664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51599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DA74E-FC0C-6EBF-A0CC-4ED7F670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5653-FE3F-4EA7-00E5-8DFD153DB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Object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FCC94-ADE6-614C-EB66-80B085BAD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Like</a:t>
            </a:r>
            <a:r>
              <a:rPr lang="en-US" sz="3200" spc="-1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200" spc="-1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constructor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</a:t>
            </a:r>
            <a:r>
              <a:rPr lang="en-US" sz="3200" spc="-1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</a:t>
            </a:r>
            <a:r>
              <a:rPr lang="en-US" sz="32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</a:t>
            </a:r>
            <a:r>
              <a:rPr lang="en-US" sz="3200" spc="-1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200" dirty="0"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destructor </a:t>
            </a:r>
            <a:r>
              <a:rPr lang="en-US" sz="32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using</a:t>
            </a:r>
            <a:r>
              <a:rPr lang="en-US" sz="3200" spc="-5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 </a:t>
            </a:r>
            <a:r>
              <a:rPr lang="en-US" sz="3200" u="heavy" dirty="0">
                <a:solidFill>
                  <a:srgbClr val="FF0000"/>
                </a:solidFill>
                <a:uFill>
                  <a:solidFill>
                    <a:srgbClr val="FE0000"/>
                  </a:solidFill>
                </a:uFill>
                <a:latin typeface="Book Antiqua" panose="02040602050305030304" pitchFamily="18" charset="0"/>
                <a:cs typeface="Times New Roman"/>
              </a:rPr>
              <a:t> 	</a:t>
            </a:r>
            <a:r>
              <a:rPr lang="en-US" sz="3200" spc="13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destruct().</a:t>
            </a:r>
            <a:r>
              <a:rPr lang="en-US" sz="3200" spc="-9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release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all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resources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with-in</a:t>
            </a:r>
            <a:r>
              <a:rPr lang="en-US" sz="3200" spc="-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destructor.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34BA888-6E50-0A6C-09FC-4994C9DB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965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C4E19-5F94-ACB6-5778-FF3D742D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CC17A-0BD3-2643-73A9-8CC2AB2E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341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4001D-68CA-949E-7628-7254D47D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849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PHP 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definitions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 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optionally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 a 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parent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definition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using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extends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clause.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syntax 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 </a:t>
            </a:r>
            <a:r>
              <a:rPr lang="en-US" sz="32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</a:t>
            </a:r>
            <a:r>
              <a:rPr lang="en-US" sz="3200" spc="-3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follows:</a:t>
            </a: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3200" spc="5" dirty="0">
              <a:solidFill>
                <a:srgbClr val="001F5F"/>
              </a:solidFill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3200" spc="5" dirty="0">
              <a:solidFill>
                <a:srgbClr val="001F5F"/>
              </a:solidFill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3200" spc="5" dirty="0">
              <a:solidFill>
                <a:srgbClr val="001F5F"/>
              </a:solidFill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3200" spc="5" dirty="0">
              <a:solidFill>
                <a:srgbClr val="001F5F"/>
              </a:solidFill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3200" spc="5" dirty="0">
              <a:solidFill>
                <a:srgbClr val="001F5F"/>
              </a:solidFill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3200" spc="5" dirty="0">
              <a:solidFill>
                <a:srgbClr val="001F5F"/>
              </a:solidFill>
              <a:latin typeface="Book Antiqua" panose="02040602050305030304" pitchFamily="18" charset="0"/>
              <a:cs typeface="Times New Roman"/>
            </a:endParaRPr>
          </a:p>
          <a:p>
            <a:pPr marL="469900" marR="64516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354965" algn="l"/>
                <a:tab pos="355600" algn="l"/>
                <a:tab pos="2373630" algn="l"/>
              </a:tabLst>
            </a:pP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effect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2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inheritance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child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 </a:t>
            </a:r>
            <a:r>
              <a:rPr lang="en-US" sz="32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automatically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inherits: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241300" indent="0">
              <a:lnSpc>
                <a:spcPct val="100000"/>
              </a:lnSpc>
              <a:spcBef>
                <a:spcPts val="0"/>
              </a:spcBef>
              <a:buNone/>
              <a:tabLst>
                <a:tab pos="756285" algn="l"/>
              </a:tabLst>
            </a:pPr>
            <a:r>
              <a:rPr lang="en-US" sz="3200" spc="-5" dirty="0">
                <a:solidFill>
                  <a:srgbClr val="001F5F"/>
                </a:solidFill>
                <a:latin typeface="Book Antiqua" panose="02040602050305030304" pitchFamily="18" charset="0"/>
                <a:cs typeface="Arial"/>
              </a:rPr>
              <a:t>  –	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All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200" spc="-1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variables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functions</a:t>
            </a:r>
            <a:r>
              <a:rPr lang="en-US" sz="32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2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parent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9BE8205-AD98-99A3-A73C-31EA7A46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BE4E6D83-3E34-798B-693C-50FF605D7917}"/>
              </a:ext>
            </a:extLst>
          </p:cNvPr>
          <p:cNvSpPr/>
          <p:nvPr/>
        </p:nvSpPr>
        <p:spPr>
          <a:xfrm>
            <a:off x="1600198" y="2463800"/>
            <a:ext cx="7162801" cy="269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18214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6F75C-4B73-40D1-2D10-05FBD36E5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53A98-0541-AD29-7FD0-8886CF6D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595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PHP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Inheritance</a:t>
            </a:r>
            <a:r>
              <a:rPr lang="en-US" sz="5000" b="1" dirty="0">
                <a:latin typeface="Book Antiqua" panose="02040602050305030304" pitchFamily="18" charset="0"/>
              </a:rPr>
              <a:t> Example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01F275E-F989-51E8-9FAC-E5A2872F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89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5">
            <a:extLst>
              <a:ext uri="{FF2B5EF4-FFF2-40B4-BE49-F238E27FC236}">
                <a16:creationId xmlns:a16="http://schemas.microsoft.com/office/drawing/2014/main" id="{8D7BD0E5-7C96-54A1-6032-6EC3BA672575}"/>
              </a:ext>
            </a:extLst>
          </p:cNvPr>
          <p:cNvSpPr/>
          <p:nvPr/>
        </p:nvSpPr>
        <p:spPr>
          <a:xfrm>
            <a:off x="225080" y="1073150"/>
            <a:ext cx="5032720" cy="5701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6ED3671A-D781-5F7A-B5DF-FB74B1AE6C16}"/>
              </a:ext>
            </a:extLst>
          </p:cNvPr>
          <p:cNvSpPr/>
          <p:nvPr/>
        </p:nvSpPr>
        <p:spPr>
          <a:xfrm>
            <a:off x="5918200" y="3541712"/>
            <a:ext cx="5511800" cy="32837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54806FD-C242-90CF-13BF-6D34DA4760D7}"/>
              </a:ext>
            </a:extLst>
          </p:cNvPr>
          <p:cNvSpPr txBox="1"/>
          <p:nvPr/>
        </p:nvSpPr>
        <p:spPr>
          <a:xfrm>
            <a:off x="5039633" y="955318"/>
            <a:ext cx="6927287" cy="2474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Example</a:t>
            </a:r>
            <a:endParaRPr sz="3200" dirty="0">
              <a:latin typeface="Book Antiqua" panose="02040602050305030304" pitchFamily="18" charset="0"/>
              <a:cs typeface="Times New Roman"/>
            </a:endParaRPr>
          </a:p>
          <a:p>
            <a:pPr marL="756285" marR="5080" lvl="1" indent="-287020">
              <a:buClr>
                <a:srgbClr val="001F5F"/>
              </a:buClr>
              <a:buFont typeface="Wingdings"/>
              <a:buChar char=""/>
              <a:tabLst>
                <a:tab pos="812800" algn="l"/>
                <a:tab pos="813435" algn="l"/>
              </a:tabLst>
            </a:pPr>
            <a:r>
              <a:rPr sz="3200" dirty="0">
                <a:latin typeface="Book Antiqua" panose="02040602050305030304" pitchFamily="18" charset="0"/>
              </a:rPr>
              <a:t>	</a:t>
            </a:r>
            <a:r>
              <a:rPr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</a:t>
            </a:r>
            <a:r>
              <a:rPr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following </a:t>
            </a:r>
            <a:r>
              <a:rPr sz="32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Novel </a:t>
            </a:r>
            <a:r>
              <a:rPr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sz="3200" spc="-3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sz="32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inherits  </a:t>
            </a:r>
            <a:r>
              <a:rPr sz="32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Books </a:t>
            </a:r>
            <a:r>
              <a:rPr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</a:t>
            </a:r>
            <a:r>
              <a:rPr sz="32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 </a:t>
            </a:r>
            <a:r>
              <a:rPr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adds </a:t>
            </a:r>
            <a:r>
              <a:rPr sz="32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more  </a:t>
            </a:r>
            <a:r>
              <a:rPr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functionality </a:t>
            </a:r>
            <a:r>
              <a:rPr sz="32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based </a:t>
            </a:r>
            <a:r>
              <a:rPr sz="32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on the  </a:t>
            </a:r>
            <a:r>
              <a:rPr sz="32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requirement.</a:t>
            </a:r>
            <a:endParaRPr sz="3200" dirty="0">
              <a:latin typeface="Book Antiqua" panose="020406020503050303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81449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4126-2C78-4651-9EFC-C19BB2F94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68990-063D-5D89-2925-DE73FFD02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Function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Overriding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CFA9-DD96-24A2-76C7-DCEF21E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2112211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9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Function </a:t>
            </a:r>
            <a:r>
              <a:rPr lang="en-US" sz="3200" spc="8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definitions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 </a:t>
            </a:r>
            <a:r>
              <a:rPr lang="en-US" sz="3200" spc="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child </a:t>
            </a:r>
            <a:r>
              <a:rPr lang="en-US" sz="3200" spc="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classes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 </a:t>
            </a:r>
            <a:r>
              <a:rPr lang="en-US" sz="3200" spc="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override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definitions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2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with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same</a:t>
            </a:r>
            <a:r>
              <a:rPr lang="en-US" sz="3200" spc="-4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name</a:t>
            </a:r>
            <a:r>
              <a:rPr lang="en-US" sz="3200" spc="-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parent  </a:t>
            </a:r>
            <a:r>
              <a:rPr lang="en-US" sz="3200" spc="3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classes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.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child</a:t>
            </a:r>
            <a:r>
              <a:rPr lang="en-US" sz="32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class,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modify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definition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</a:t>
            </a:r>
            <a:r>
              <a:rPr lang="en-US" sz="3200" spc="-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inherited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parent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69ABE7E-3B87-CF40-6BD0-7950D6C8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3">
            <a:extLst>
              <a:ext uri="{FF2B5EF4-FFF2-40B4-BE49-F238E27FC236}">
                <a16:creationId xmlns:a16="http://schemas.microsoft.com/office/drawing/2014/main" id="{6CADD823-D17F-70B5-0ADF-A2CB47030062}"/>
              </a:ext>
            </a:extLst>
          </p:cNvPr>
          <p:cNvSpPr/>
          <p:nvPr/>
        </p:nvSpPr>
        <p:spPr>
          <a:xfrm>
            <a:off x="5867400" y="3810037"/>
            <a:ext cx="5511800" cy="284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BA8E0EAC-0D42-9F0E-CD30-7D878EB63573}"/>
              </a:ext>
            </a:extLst>
          </p:cNvPr>
          <p:cNvSpPr/>
          <p:nvPr/>
        </p:nvSpPr>
        <p:spPr>
          <a:xfrm>
            <a:off x="203200" y="3784600"/>
            <a:ext cx="5453062" cy="2317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5">
            <a:extLst>
              <a:ext uri="{FF2B5EF4-FFF2-40B4-BE49-F238E27FC236}">
                <a16:creationId xmlns:a16="http://schemas.microsoft.com/office/drawing/2014/main" id="{6FF5D8D6-2219-FDE9-B7F8-D36F31EC5DE3}"/>
              </a:ext>
            </a:extLst>
          </p:cNvPr>
          <p:cNvSpPr txBox="1"/>
          <p:nvPr/>
        </p:nvSpPr>
        <p:spPr>
          <a:xfrm>
            <a:off x="736600" y="3149587"/>
            <a:ext cx="3784600" cy="462306"/>
          </a:xfrm>
          <a:prstGeom prst="rect">
            <a:avLst/>
          </a:prstGeom>
          <a:ln w="25400">
            <a:solidFill>
              <a:srgbClr val="C0504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2800" b="1" dirty="0">
                <a:solidFill>
                  <a:srgbClr val="006FC0"/>
                </a:solidFill>
                <a:latin typeface="Book Antiqua" panose="02040602050305030304" pitchFamily="18" charset="0"/>
                <a:cs typeface="Carlito"/>
              </a:rPr>
              <a:t>In the </a:t>
            </a:r>
            <a:r>
              <a:rPr sz="2800" b="1" spc="-15" dirty="0">
                <a:solidFill>
                  <a:srgbClr val="006FC0"/>
                </a:solidFill>
                <a:latin typeface="Book Antiqua" panose="02040602050305030304" pitchFamily="18" charset="0"/>
                <a:cs typeface="Carlito"/>
              </a:rPr>
              <a:t>Parent</a:t>
            </a:r>
            <a:r>
              <a:rPr sz="2800" b="1" spc="-65" dirty="0">
                <a:solidFill>
                  <a:srgbClr val="006FC0"/>
                </a:solidFill>
                <a:latin typeface="Book Antiqua" panose="02040602050305030304" pitchFamily="18" charset="0"/>
                <a:cs typeface="Carlito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Book Antiqua" panose="02040602050305030304" pitchFamily="18" charset="0"/>
                <a:cs typeface="Carlito"/>
              </a:rPr>
              <a:t>Class</a:t>
            </a:r>
            <a:endParaRPr sz="2800" dirty="0">
              <a:latin typeface="Book Antiqua" panose="02040602050305030304" pitchFamily="18" charset="0"/>
              <a:cs typeface="Carlito"/>
            </a:endParaRPr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A6AEDE0B-53A8-44E1-838B-9FCB1DF7B108}"/>
              </a:ext>
            </a:extLst>
          </p:cNvPr>
          <p:cNvSpPr txBox="1"/>
          <p:nvPr/>
        </p:nvSpPr>
        <p:spPr>
          <a:xfrm>
            <a:off x="6045200" y="3251187"/>
            <a:ext cx="5453062" cy="462306"/>
          </a:xfrm>
          <a:prstGeom prst="rect">
            <a:avLst/>
          </a:prstGeom>
          <a:ln w="25400">
            <a:solidFill>
              <a:srgbClr val="C0504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2800" b="1" dirty="0">
                <a:solidFill>
                  <a:srgbClr val="006FC0"/>
                </a:solidFill>
                <a:latin typeface="Book Antiqua" panose="02040602050305030304" pitchFamily="18" charset="0"/>
                <a:cs typeface="Carlito"/>
              </a:rPr>
              <a:t>In the </a:t>
            </a:r>
            <a:r>
              <a:rPr sz="2800" b="1" spc="-5" dirty="0">
                <a:solidFill>
                  <a:srgbClr val="006FC0"/>
                </a:solidFill>
                <a:latin typeface="Book Antiqua" panose="02040602050305030304" pitchFamily="18" charset="0"/>
                <a:cs typeface="Carlito"/>
              </a:rPr>
              <a:t>Child</a:t>
            </a:r>
            <a:r>
              <a:rPr sz="2800" b="1" spc="-70" dirty="0">
                <a:solidFill>
                  <a:srgbClr val="006FC0"/>
                </a:solidFill>
                <a:latin typeface="Book Antiqua" panose="02040602050305030304" pitchFamily="18" charset="0"/>
                <a:cs typeface="Carlito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Book Antiqua" panose="02040602050305030304" pitchFamily="18" charset="0"/>
                <a:cs typeface="Carlito"/>
              </a:rPr>
              <a:t>Class</a:t>
            </a:r>
            <a:endParaRPr sz="2800" dirty="0">
              <a:latin typeface="Book Antiqua" panose="02040602050305030304" pitchFamily="18" charset="0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7476904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F3C3F-8435-216F-9D03-64FACDAD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810D-71EC-6C1B-91AF-77C2B7A7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Member </a:t>
            </a:r>
            <a:r>
              <a:rPr lang="en-US" sz="5000" b="1" dirty="0">
                <a:latin typeface="Book Antiqua" panose="02040602050305030304" pitchFamily="18" charset="0"/>
              </a:rPr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BADCF-D35D-BBD4-1E63-D698ACE7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Public</a:t>
            </a:r>
            <a:r>
              <a:rPr lang="en-US" sz="3200" spc="-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Members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756285" marR="29209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Unless you 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specify 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otherwise,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properties </a:t>
            </a:r>
            <a:r>
              <a:rPr lang="en-US" sz="32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 </a:t>
            </a:r>
            <a:r>
              <a:rPr lang="en-US" sz="32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methods 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  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public.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say,</a:t>
            </a:r>
            <a:r>
              <a:rPr lang="en-US" sz="3200" spc="-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they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may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accessed</a:t>
            </a:r>
            <a:r>
              <a:rPr lang="en-US" sz="32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2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three  </a:t>
            </a:r>
            <a:r>
              <a:rPr lang="en-US" sz="32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possible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situations: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outside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declared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within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declared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n-US" sz="32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within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another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implements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declared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756285" marR="15938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If 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 </a:t>
            </a:r>
            <a:r>
              <a:rPr lang="en-US" sz="32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wish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limit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</a:t>
            </a:r>
            <a:r>
              <a:rPr lang="en-US" sz="32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accessibility 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members </a:t>
            </a:r>
            <a:r>
              <a:rPr lang="en-US" sz="32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  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then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</a:t>
            </a:r>
            <a:r>
              <a:rPr lang="en-US" sz="32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members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private</a:t>
            </a:r>
            <a:r>
              <a:rPr lang="en-US" sz="3200" spc="-10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protected</a:t>
            </a: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D4C68C0-7D00-AE8B-F1C1-CDD81102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4724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BD76-1980-13DB-FB4C-B447B6C42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CD12-A4AC-85E1-9B19-6ED3045A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Member </a:t>
            </a:r>
            <a:r>
              <a:rPr lang="en-US" sz="5000" b="1" dirty="0">
                <a:latin typeface="Book Antiqua" panose="02040602050305030304" pitchFamily="18" charset="0"/>
              </a:rPr>
              <a:t>Variables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5964E-9640-CB34-CF59-9733AB34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7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Private</a:t>
            </a:r>
            <a:r>
              <a:rPr lang="en-US" sz="3600" spc="-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endParaRPr lang="en-US" sz="3600" dirty="0">
              <a:latin typeface="Book Antiqua" panose="02040602050305030304" pitchFamily="18" charset="0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920" algn="l"/>
              </a:tabLst>
            </a:pPr>
            <a:r>
              <a:rPr lang="en-US" sz="36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z="36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designating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6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private,</a:t>
            </a:r>
            <a:r>
              <a:rPr lang="en-US" sz="36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</a:t>
            </a:r>
            <a:r>
              <a:rPr lang="en-US" sz="3600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limit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its </a:t>
            </a:r>
            <a:r>
              <a:rPr lang="en-US" sz="3600" spc="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4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accessibility</a:t>
            </a:r>
            <a:r>
              <a:rPr lang="en-US" sz="3600" spc="-10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6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6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600" spc="-3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6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36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0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it</a:t>
            </a:r>
            <a:r>
              <a:rPr lang="en-US" sz="3600" spc="-7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600" spc="-114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declared</a:t>
            </a:r>
            <a:r>
              <a:rPr lang="en-US" sz="36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.</a:t>
            </a:r>
            <a:endParaRPr lang="en-US" sz="3600" dirty="0">
              <a:latin typeface="Book Antiqua" panose="02040602050305030304" pitchFamily="18" charset="0"/>
              <a:cs typeface="Times New Roman"/>
            </a:endParaRPr>
          </a:p>
          <a:p>
            <a:pPr marL="756285" marR="622300" lvl="1" indent="-287020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920" algn="l"/>
              </a:tabLst>
            </a:pPr>
            <a:r>
              <a:rPr lang="en-US" sz="36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6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private</a:t>
            </a:r>
            <a:r>
              <a:rPr lang="en-US" sz="3600" spc="-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600" spc="-17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cannot</a:t>
            </a:r>
            <a:r>
              <a:rPr lang="en-US" sz="36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36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referred</a:t>
            </a:r>
            <a:r>
              <a:rPr lang="en-US" sz="3600" spc="-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  </a:t>
            </a:r>
            <a:r>
              <a:rPr lang="en-US" sz="36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classes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6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</a:t>
            </a:r>
            <a:r>
              <a:rPr lang="en-US" sz="36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6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cannot</a:t>
            </a:r>
            <a:r>
              <a:rPr lang="en-US" sz="36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  </a:t>
            </a:r>
            <a:r>
              <a:rPr lang="en-US" sz="36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accessed</a:t>
            </a:r>
            <a:r>
              <a:rPr lang="en-US" sz="3600" spc="-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outside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600" spc="-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  <a:endParaRPr lang="en-US" sz="3600" dirty="0">
              <a:latin typeface="Book Antiqua" panose="02040602050305030304" pitchFamily="18" charset="0"/>
              <a:cs typeface="Times New Roman"/>
            </a:endParaRPr>
          </a:p>
          <a:p>
            <a:pPr marL="756285" marR="220345" lvl="1" indent="-287020" algn="just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920" algn="l"/>
              </a:tabLst>
            </a:pPr>
            <a:r>
              <a:rPr lang="en-US" sz="3600" spc="-1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6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6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600" spc="-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made</a:t>
            </a:r>
            <a:r>
              <a:rPr lang="en-US" sz="36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private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using </a:t>
            </a:r>
            <a:r>
              <a:rPr lang="en-US" sz="3600" spc="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private</a:t>
            </a:r>
            <a:r>
              <a:rPr lang="en-US" sz="3600" spc="-9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7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keyword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87D12C0-6D6B-6001-2E26-404837BC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633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35F7E-923C-4A72-F747-7D0F88754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C591-606D-02E7-017C-311538354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83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Private</a:t>
            </a:r>
            <a:r>
              <a:rPr lang="en-US" sz="5000" b="1" dirty="0">
                <a:latin typeface="Book Antiqua" panose="02040602050305030304" pitchFamily="18" charset="0"/>
              </a:rPr>
              <a:t> Members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AF0AD-DB03-ACF9-7AEC-4B121A72B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4953000"/>
            <a:ext cx="11826240" cy="1981644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8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When </a:t>
            </a:r>
            <a:r>
              <a:rPr lang="en-US" sz="2800" spc="5" dirty="0" err="1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MyClass</a:t>
            </a:r>
            <a:r>
              <a:rPr lang="en-US" sz="2800" spc="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</a:t>
            </a:r>
            <a:r>
              <a:rPr lang="en-US" sz="28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 </a:t>
            </a:r>
            <a:r>
              <a:rPr lang="en-US" sz="28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inherited </a:t>
            </a:r>
            <a:r>
              <a:rPr lang="en-US" sz="28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 </a:t>
            </a:r>
            <a:r>
              <a:rPr lang="en-US" sz="28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another </a:t>
            </a:r>
            <a:r>
              <a:rPr lang="en-US" sz="28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</a:t>
            </a:r>
            <a:r>
              <a:rPr lang="en-US" sz="28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using </a:t>
            </a:r>
            <a:r>
              <a:rPr lang="en-US" sz="28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extends</a:t>
            </a:r>
            <a:r>
              <a:rPr lang="en-US" sz="28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, </a:t>
            </a:r>
            <a:r>
              <a:rPr lang="en-US" sz="28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60" dirty="0" err="1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myPublicFunction</a:t>
            </a:r>
            <a:r>
              <a:rPr lang="en-US" sz="28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() </a:t>
            </a:r>
            <a:r>
              <a:rPr lang="en-US" sz="2800" spc="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will </a:t>
            </a:r>
            <a:r>
              <a:rPr lang="en-US" sz="28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 </a:t>
            </a:r>
            <a:r>
              <a:rPr lang="en-US" sz="28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visible, </a:t>
            </a:r>
            <a:r>
              <a:rPr lang="en-US" sz="28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 </a:t>
            </a:r>
            <a:r>
              <a:rPr lang="en-US" sz="2800" spc="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will 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$</a:t>
            </a:r>
            <a:r>
              <a:rPr lang="en-US" sz="280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driver</a:t>
            </a:r>
            <a:r>
              <a:rPr lang="en-US" sz="28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. </a:t>
            </a:r>
            <a:r>
              <a:rPr lang="en-US" sz="28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extending </a:t>
            </a:r>
            <a:r>
              <a:rPr lang="en-US" sz="28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</a:t>
            </a:r>
            <a:r>
              <a:rPr lang="en-US" sz="2800" spc="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will  </a:t>
            </a:r>
            <a:r>
              <a:rPr lang="en-US" sz="28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not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have</a:t>
            </a:r>
            <a:r>
              <a:rPr lang="en-US" sz="28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any</a:t>
            </a:r>
            <a:r>
              <a:rPr lang="en-US" sz="28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awareness</a:t>
            </a:r>
            <a:r>
              <a:rPr lang="en-US" sz="28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</a:t>
            </a:r>
            <a:r>
              <a:rPr lang="en-US" sz="28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access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28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55" dirty="0" err="1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myPrivateFunction</a:t>
            </a:r>
            <a:r>
              <a:rPr lang="en-US" sz="2800" spc="-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and</a:t>
            </a:r>
            <a:r>
              <a:rPr lang="en-US" sz="28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-1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$car</a:t>
            </a:r>
            <a:r>
              <a:rPr lang="en-US" sz="2800" spc="-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,</a:t>
            </a:r>
            <a:r>
              <a:rPr lang="en-US" sz="2800" spc="-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because  </a:t>
            </a:r>
            <a:r>
              <a:rPr lang="en-US" sz="28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they</a:t>
            </a:r>
            <a:r>
              <a:rPr lang="en-US" sz="28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</a:t>
            </a:r>
            <a:r>
              <a:rPr lang="en-US" sz="28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declared</a:t>
            </a:r>
            <a:r>
              <a:rPr lang="en-US" sz="2800" spc="-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private</a:t>
            </a:r>
            <a:r>
              <a:rPr lang="en-US" sz="2800" spc="45" dirty="0">
                <a:solidFill>
                  <a:srgbClr val="001F5F"/>
                </a:solidFill>
                <a:latin typeface="Times New Roman"/>
                <a:cs typeface="Times New Roman"/>
              </a:rPr>
              <a:t>.</a:t>
            </a:r>
            <a:endParaRPr lang="en-US"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F1FE231-480E-C43F-B026-14C0276F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93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E1BCAA17-AFFA-0FF6-847B-8A3A57739369}"/>
              </a:ext>
            </a:extLst>
          </p:cNvPr>
          <p:cNvSpPr/>
          <p:nvPr/>
        </p:nvSpPr>
        <p:spPr>
          <a:xfrm>
            <a:off x="1447800" y="939800"/>
            <a:ext cx="7899400" cy="401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2005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6D417-C72D-2268-EC55-93F32AE8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B1C3-5794-C05C-FA29-839DA370D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Member</a:t>
            </a:r>
            <a:r>
              <a:rPr lang="en-US" sz="5000" b="1" dirty="0">
                <a:latin typeface="Book Antiqua" panose="02040602050305030304" pitchFamily="18" charset="0"/>
              </a:rPr>
              <a:t> Variables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0A5D7-6183-3FDA-5A75-72DC5C522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5770255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600" spc="1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Protected</a:t>
            </a:r>
            <a:r>
              <a:rPr lang="en-US" sz="3600" spc="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4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Members</a:t>
            </a:r>
            <a:endParaRPr lang="en-US" sz="3600" dirty="0">
              <a:latin typeface="Book Antiqua" panose="02040602050305030304" pitchFamily="18" charset="0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6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protected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property</a:t>
            </a:r>
            <a:r>
              <a:rPr lang="en-US" sz="3600" spc="-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</a:t>
            </a:r>
            <a:r>
              <a:rPr lang="en-US" sz="36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method</a:t>
            </a:r>
            <a:r>
              <a:rPr lang="en-US" sz="3600" spc="-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36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accessible</a:t>
            </a:r>
            <a:r>
              <a:rPr lang="en-US" sz="36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6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 </a:t>
            </a:r>
            <a:r>
              <a:rPr lang="en-US" sz="36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</a:t>
            </a:r>
            <a:r>
              <a:rPr lang="en-US" sz="36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 </a:t>
            </a:r>
            <a:r>
              <a:rPr lang="en-US" sz="3600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 </a:t>
            </a:r>
            <a:r>
              <a:rPr lang="en-US" sz="36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 </a:t>
            </a:r>
            <a:r>
              <a:rPr lang="en-US" sz="36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 </a:t>
            </a:r>
            <a:r>
              <a:rPr lang="en-US" sz="36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declared, </a:t>
            </a:r>
            <a:r>
              <a:rPr lang="en-US" sz="36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 </a:t>
            </a:r>
            <a:r>
              <a:rPr lang="en-US" sz="36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well </a:t>
            </a:r>
            <a:r>
              <a:rPr lang="en-US" sz="36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 </a:t>
            </a:r>
            <a:r>
              <a:rPr lang="en-US" sz="36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 </a:t>
            </a:r>
            <a:r>
              <a:rPr lang="en-US" sz="36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classes  </a:t>
            </a:r>
            <a:r>
              <a:rPr lang="en-US" sz="3600" spc="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600" spc="-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extend</a:t>
            </a:r>
            <a:r>
              <a:rPr lang="en-US" sz="36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3600" spc="-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  <a:endParaRPr lang="en-US" sz="3600" dirty="0">
              <a:latin typeface="Book Antiqua" panose="02040602050305030304" pitchFamily="18" charset="0"/>
              <a:cs typeface="Times New Roman"/>
            </a:endParaRPr>
          </a:p>
          <a:p>
            <a:pPr marL="756285" marR="577215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Protected</a:t>
            </a:r>
            <a:r>
              <a:rPr lang="en-US" sz="36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members</a:t>
            </a:r>
            <a:r>
              <a:rPr lang="en-US" sz="36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not</a:t>
            </a:r>
            <a:r>
              <a:rPr lang="en-US" sz="3600" spc="-1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4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available</a:t>
            </a:r>
            <a:r>
              <a:rPr lang="en-US" sz="3600" spc="-1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outside</a:t>
            </a:r>
            <a:r>
              <a:rPr lang="en-US" sz="3600" spc="-1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 </a:t>
            </a:r>
            <a:r>
              <a:rPr lang="en-US" sz="36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those</a:t>
            </a:r>
            <a:r>
              <a:rPr lang="en-US" sz="36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two</a:t>
            </a:r>
            <a:r>
              <a:rPr lang="en-US" sz="36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kinds</a:t>
            </a:r>
            <a:r>
              <a:rPr lang="en-US" sz="36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6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classes.</a:t>
            </a:r>
            <a:endParaRPr lang="en-US" sz="3600" dirty="0">
              <a:latin typeface="Book Antiqua" panose="02040602050305030304" pitchFamily="18" charset="0"/>
              <a:cs typeface="Times New Roman"/>
            </a:endParaRPr>
          </a:p>
          <a:p>
            <a:pPr marL="756285" marR="424180" lvl="1" indent="-28702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36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6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6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600" spc="-1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</a:t>
            </a:r>
            <a:r>
              <a:rPr lang="en-US" sz="36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36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made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protected</a:t>
            </a:r>
            <a:r>
              <a:rPr lang="en-US" sz="36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z="36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using </a:t>
            </a:r>
            <a:r>
              <a:rPr lang="en-US" sz="3600" spc="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protected</a:t>
            </a:r>
            <a:r>
              <a:rPr lang="en-US" sz="3600" spc="-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keyword</a:t>
            </a:r>
            <a:r>
              <a:rPr lang="en-US" sz="3600" spc="-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z="36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front</a:t>
            </a:r>
            <a:r>
              <a:rPr lang="en-US" sz="3600" spc="-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 </a:t>
            </a:r>
            <a:r>
              <a:rPr lang="en-US" sz="3600" spc="1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600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6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member.</a:t>
            </a:r>
            <a:endParaRPr lang="en-US" sz="36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6A0045F-D7EE-B8D3-D39B-22F8983A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94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6600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862A-14D8-B615-2049-5666D35E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0CD8-BA51-92B1-5636-4FCA3BD6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1087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Protected</a:t>
            </a:r>
            <a:r>
              <a:rPr lang="en-US" sz="5000" b="1" dirty="0">
                <a:latin typeface="Book Antiqua" panose="02040602050305030304" pitchFamily="18" charset="0"/>
              </a:rPr>
              <a:t> Members Example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D571D31-A600-8F85-E558-B46EB4B9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95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C9EC47D3-CB86-34EA-F093-90C8C5188C9E}"/>
              </a:ext>
            </a:extLst>
          </p:cNvPr>
          <p:cNvSpPr/>
          <p:nvPr/>
        </p:nvSpPr>
        <p:spPr>
          <a:xfrm>
            <a:off x="990600" y="916743"/>
            <a:ext cx="10261600" cy="58047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804714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0135-C7B5-5A28-772E-B9EA6434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76F5-A04B-7F0D-049C-97FC45B3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579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9E0BB-06EC-C1FC-B940-BE25FCF12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59589"/>
            <a:ext cx="11826240" cy="1578811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Interfaces</a:t>
            </a:r>
            <a:r>
              <a:rPr lang="en-US" sz="3200" spc="-1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</a:t>
            </a:r>
            <a:r>
              <a:rPr lang="en-US" sz="32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skeletons</a:t>
            </a:r>
            <a:r>
              <a:rPr lang="en-US" sz="32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z="32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are</a:t>
            </a:r>
            <a:r>
              <a:rPr lang="en-US" sz="32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implemented</a:t>
            </a:r>
            <a:r>
              <a:rPr lang="en-US" sz="3200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z="32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developers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Syntax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32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create</a:t>
            </a:r>
            <a:r>
              <a:rPr lang="en-US" sz="32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z="32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interface</a:t>
            </a:r>
            <a:r>
              <a:rPr lang="en-US" sz="3200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B7D3F90-9E28-B08B-10B6-7BC06E512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96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F2D73B47-2C9C-CA4E-CD7E-5DB05B92F3C0}"/>
              </a:ext>
            </a:extLst>
          </p:cNvPr>
          <p:cNvSpPr/>
          <p:nvPr/>
        </p:nvSpPr>
        <p:spPr>
          <a:xfrm>
            <a:off x="1452281" y="2577134"/>
            <a:ext cx="4685919" cy="1578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D1058-09ED-0128-8B5A-DBE14CBFB553}"/>
              </a:ext>
            </a:extLst>
          </p:cNvPr>
          <p:cNvSpPr txBox="1"/>
          <p:nvPr/>
        </p:nvSpPr>
        <p:spPr>
          <a:xfrm>
            <a:off x="349250" y="4147235"/>
            <a:ext cx="11309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2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Then,</a:t>
            </a:r>
            <a:r>
              <a:rPr lang="en-US" sz="32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another</a:t>
            </a:r>
            <a:r>
              <a:rPr lang="en-US" sz="3200" spc="-1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2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</a:t>
            </a:r>
            <a:r>
              <a:rPr lang="en-US" sz="3200" spc="-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implement</a:t>
            </a:r>
            <a:r>
              <a:rPr lang="en-US" sz="32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32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interface,</a:t>
            </a:r>
            <a:r>
              <a:rPr lang="en-US" sz="3200" spc="-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like</a:t>
            </a:r>
            <a:r>
              <a:rPr lang="en-US" sz="32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2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this:</a:t>
            </a:r>
            <a:endParaRPr lang="en-US" sz="3200" dirty="0">
              <a:latin typeface="Book Antiqua" panose="02040602050305030304" pitchFamily="18" charset="0"/>
              <a:cs typeface="Times New Roman"/>
            </a:endParaRPr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335E00FE-AA54-ECE1-76BB-391EF6EA69ED}"/>
              </a:ext>
            </a:extLst>
          </p:cNvPr>
          <p:cNvSpPr/>
          <p:nvPr/>
        </p:nvSpPr>
        <p:spPr>
          <a:xfrm>
            <a:off x="1452281" y="4732010"/>
            <a:ext cx="5334000" cy="2068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842879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84EE8-0B50-BC63-E989-9F9611CE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9709-D825-EA94-3923-8D46BE4E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210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Abstract </a:t>
            </a:r>
            <a:r>
              <a:rPr lang="en-US" sz="5000" b="1" dirty="0">
                <a:latin typeface="Book Antiqua" panose="02040602050305030304" pitchFamily="18" charset="0"/>
              </a:rPr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DF1E-B44C-9AED-169D-34ED35BA7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986589"/>
            <a:ext cx="11826240" cy="1401011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abstract</a:t>
            </a:r>
            <a:r>
              <a:rPr lang="en-US" spc="-11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3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pc="-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one</a:t>
            </a:r>
            <a:r>
              <a:rPr lang="en-US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cannot</a:t>
            </a:r>
            <a:r>
              <a:rPr lang="en-US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instantiated</a:t>
            </a:r>
            <a:r>
              <a:rPr lang="en-US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,</a:t>
            </a:r>
            <a:r>
              <a:rPr lang="en-US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4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only</a:t>
            </a:r>
            <a:r>
              <a:rPr lang="en-US" spc="-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inherited</a:t>
            </a:r>
            <a:r>
              <a:rPr lang="en-US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.  </a:t>
            </a:r>
            <a:r>
              <a:rPr lang="en-US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You</a:t>
            </a:r>
            <a:r>
              <a:rPr lang="en-US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declare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abstract</a:t>
            </a:r>
            <a:r>
              <a:rPr lang="en-US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pc="-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with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keyword</a:t>
            </a:r>
            <a:r>
              <a:rPr lang="en-US" spc="-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7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abstract</a:t>
            </a:r>
            <a:r>
              <a:rPr lang="en-US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,</a:t>
            </a: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like</a:t>
            </a:r>
            <a:r>
              <a:rPr lang="en-US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this:</a:t>
            </a:r>
            <a:endParaRPr lang="en-US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9C782F0-0F62-CF41-D035-DCA05BF01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97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AE68E540-71FE-1DB6-A609-3744BEE00964}"/>
              </a:ext>
            </a:extLst>
          </p:cNvPr>
          <p:cNvSpPr/>
          <p:nvPr/>
        </p:nvSpPr>
        <p:spPr>
          <a:xfrm>
            <a:off x="2676570" y="1983541"/>
            <a:ext cx="5486400" cy="2159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8678E-731D-1455-0B75-6EF4A10B02B5}"/>
              </a:ext>
            </a:extLst>
          </p:cNvPr>
          <p:cNvSpPr txBox="1"/>
          <p:nvPr/>
        </p:nvSpPr>
        <p:spPr>
          <a:xfrm>
            <a:off x="222340" y="4066349"/>
            <a:ext cx="11207660" cy="274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2900" algn="just"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28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When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inheriting</a:t>
            </a:r>
            <a:r>
              <a:rPr lang="en-US" sz="2800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z="28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abstract</a:t>
            </a:r>
            <a:r>
              <a:rPr lang="en-US" sz="28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class,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all</a:t>
            </a:r>
            <a:r>
              <a:rPr lang="en-US" sz="2800" spc="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14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methods</a:t>
            </a:r>
            <a:r>
              <a:rPr lang="en-US" sz="2800" spc="-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marked</a:t>
            </a:r>
            <a:r>
              <a:rPr lang="en-US" sz="2800" spc="-3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abstract </a:t>
            </a:r>
            <a:r>
              <a:rPr lang="en-US" sz="28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in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parent's</a:t>
            </a:r>
            <a:r>
              <a:rPr lang="en-US" sz="2800" spc="-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3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2800" spc="-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declaration</a:t>
            </a:r>
            <a:r>
              <a:rPr lang="en-US" sz="28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must</a:t>
            </a:r>
            <a:r>
              <a:rPr lang="en-US" sz="2800" spc="-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2800" spc="-10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defined</a:t>
            </a:r>
            <a:r>
              <a:rPr lang="en-US" sz="2800" spc="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child</a:t>
            </a:r>
            <a:endParaRPr lang="en-US" sz="2800" dirty="0">
              <a:latin typeface="Book Antiqua" panose="02040602050305030304" pitchFamily="18" charset="0"/>
              <a:cs typeface="Times New Roman"/>
            </a:endParaRPr>
          </a:p>
          <a:p>
            <a:pPr marL="355600" marR="172085" indent="-342900" algn="just">
              <a:spcBef>
                <a:spcPts val="48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28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Note</a:t>
            </a:r>
            <a:r>
              <a:rPr lang="en-US" sz="2800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that</a:t>
            </a:r>
            <a:r>
              <a:rPr lang="en-US" sz="2800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function</a:t>
            </a:r>
            <a:r>
              <a:rPr lang="en-US" sz="28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definitions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inside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z="2800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abstract</a:t>
            </a:r>
            <a:r>
              <a:rPr lang="en-US" sz="28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28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must</a:t>
            </a:r>
            <a:r>
              <a:rPr lang="en-US" sz="2800" spc="-1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also  </a:t>
            </a:r>
            <a:r>
              <a:rPr lang="en-US" sz="28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28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preceded</a:t>
            </a:r>
            <a:r>
              <a:rPr lang="en-US" sz="2800" spc="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z="28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keyword</a:t>
            </a:r>
            <a:r>
              <a:rPr lang="en-US" sz="2800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abstract.</a:t>
            </a:r>
            <a:r>
              <a:rPr lang="en-US" sz="2800" spc="-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5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It</a:t>
            </a:r>
            <a:r>
              <a:rPr lang="en-US" sz="2800" spc="-6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z="2800" spc="-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not</a:t>
            </a:r>
            <a:r>
              <a:rPr lang="en-US" sz="2800" spc="-7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3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legal</a:t>
            </a:r>
            <a:r>
              <a:rPr lang="en-US" sz="2800" spc="-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to</a:t>
            </a:r>
            <a:r>
              <a:rPr lang="en-US" sz="28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have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8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abstract  function</a:t>
            </a:r>
            <a:r>
              <a:rPr lang="en-US" sz="2800" spc="-1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definitions</a:t>
            </a:r>
            <a:r>
              <a:rPr lang="en-US" sz="2800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inside</a:t>
            </a:r>
            <a:r>
              <a:rPr lang="en-US" sz="2800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7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2800" spc="-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9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non-abstract</a:t>
            </a:r>
            <a:r>
              <a:rPr lang="en-US" sz="2800" spc="-13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28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class.</a:t>
            </a:r>
            <a:endParaRPr lang="en-US" sz="2800" dirty="0">
              <a:latin typeface="Book Antiqua" panose="020406020503050303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904804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DA35-2EFB-0706-F94C-BDEC0F4F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0158-F62D-9D57-63DC-AA7A67554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325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Static</a:t>
            </a:r>
            <a:r>
              <a:rPr lang="en-US" sz="5000" b="1" dirty="0">
                <a:latin typeface="Book Antiqua" panose="02040602050305030304" pitchFamily="18" charset="0"/>
              </a:rPr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493B5-911D-4F03-FA1D-5BE319E2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834189"/>
            <a:ext cx="11826240" cy="1934411"/>
          </a:xfrm>
        </p:spPr>
        <p:txBody>
          <a:bodyPr>
            <a:no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Declaring 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 </a:t>
            </a:r>
            <a:r>
              <a:rPr lang="en-US" sz="3000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members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or </a:t>
            </a:r>
            <a:r>
              <a:rPr lang="en-US" sz="3000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methods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 </a:t>
            </a:r>
            <a:r>
              <a:rPr lang="en-US" sz="3000" spc="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static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makes  </a:t>
            </a:r>
            <a:r>
              <a:rPr lang="en-US" sz="3000" spc="1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them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4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accessible</a:t>
            </a:r>
            <a:r>
              <a:rPr lang="en-US" sz="3000" spc="-1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2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without</a:t>
            </a:r>
            <a:r>
              <a:rPr lang="en-US" sz="3000" spc="-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needing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</a:t>
            </a:r>
            <a:r>
              <a:rPr lang="en-US" sz="3000" spc="-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instantiation</a:t>
            </a:r>
            <a:r>
              <a:rPr lang="en-US" sz="3000" spc="-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of</a:t>
            </a:r>
            <a:r>
              <a:rPr lang="en-US" sz="3000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 </a:t>
            </a:r>
            <a:r>
              <a:rPr lang="en-US" sz="3000" spc="15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2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.</a:t>
            </a:r>
            <a:endParaRPr lang="en-US" sz="3000" dirty="0">
              <a:latin typeface="Book Antiqua" panose="02040602050305030304" pitchFamily="18" charset="0"/>
              <a:cs typeface="Times New Roman"/>
            </a:endParaRPr>
          </a:p>
          <a:p>
            <a:pPr marL="355600" marR="698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3000" spc="-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member</a:t>
            </a:r>
            <a:r>
              <a:rPr lang="en-US" sz="3000" spc="-14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declared</a:t>
            </a:r>
            <a:r>
              <a:rPr lang="en-US" sz="3000" spc="-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as</a:t>
            </a:r>
            <a:r>
              <a:rPr lang="en-US" sz="3000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static</a:t>
            </a:r>
            <a:r>
              <a:rPr lang="en-US" sz="3000" spc="-10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3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cannot</a:t>
            </a:r>
            <a:r>
              <a:rPr lang="en-US" sz="3000" spc="-5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z="3000" spc="-114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6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accessed</a:t>
            </a:r>
            <a:r>
              <a:rPr lang="en-US" sz="3000" spc="-5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with</a:t>
            </a:r>
            <a:r>
              <a:rPr lang="en-US" sz="3000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an </a:t>
            </a:r>
            <a:r>
              <a:rPr lang="en-US" sz="3000" spc="14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14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instantiated</a:t>
            </a:r>
            <a:r>
              <a:rPr lang="en-US" sz="3000" spc="-3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3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z="3000" spc="-9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0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object</a:t>
            </a:r>
            <a:r>
              <a:rPr lang="en-US" sz="3000" spc="-55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(though</a:t>
            </a:r>
            <a:r>
              <a:rPr lang="en-US" sz="3000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</a:t>
            </a:r>
            <a:r>
              <a:rPr lang="en-US" sz="3000" spc="-1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static</a:t>
            </a:r>
            <a:r>
              <a:rPr lang="en-US" sz="3000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1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method</a:t>
            </a:r>
            <a:r>
              <a:rPr lang="en-US" sz="3000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z="3000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can).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9183D40-55FD-98BE-30EA-BB3CE8E5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98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3">
            <a:extLst>
              <a:ext uri="{FF2B5EF4-FFF2-40B4-BE49-F238E27FC236}">
                <a16:creationId xmlns:a16="http://schemas.microsoft.com/office/drawing/2014/main" id="{69584D12-27B8-81D9-1D06-2870D6EDD81F}"/>
              </a:ext>
            </a:extLst>
          </p:cNvPr>
          <p:cNvSpPr/>
          <p:nvPr/>
        </p:nvSpPr>
        <p:spPr>
          <a:xfrm>
            <a:off x="1600199" y="2768601"/>
            <a:ext cx="7264401" cy="3952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958267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E9EC-CF18-85B7-A540-FC8F7C2D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F9744-4D59-44BF-67CE-D94C0D50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325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Final</a:t>
            </a:r>
            <a:r>
              <a:rPr lang="en-US" sz="5000" b="1" dirty="0">
                <a:latin typeface="Book Antiqua" panose="02040602050305030304" pitchFamily="18" charset="0"/>
              </a:rPr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D137-2663-D6F8-E789-E114AF706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0" y="783389"/>
            <a:ext cx="11826240" cy="2188411"/>
          </a:xfrm>
        </p:spPr>
        <p:txBody>
          <a:bodyPr>
            <a:noAutofit/>
          </a:bodyPr>
          <a:lstStyle/>
          <a:p>
            <a:pPr marL="355600" marR="65405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final</a:t>
            </a:r>
            <a:r>
              <a:rPr lang="en-US" spc="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keyword,</a:t>
            </a:r>
            <a:r>
              <a:rPr lang="en-US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which</a:t>
            </a:r>
            <a:r>
              <a:rPr lang="en-US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prevents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child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classes</a:t>
            </a:r>
            <a:r>
              <a:rPr lang="en-US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from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overriding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a  </a:t>
            </a:r>
            <a:r>
              <a:rPr lang="en-US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method</a:t>
            </a:r>
            <a:r>
              <a:rPr lang="en-US" spc="-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by</a:t>
            </a:r>
            <a:r>
              <a:rPr lang="en-US" spc="-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prefixing</a:t>
            </a:r>
            <a:r>
              <a:rPr lang="en-US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7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definition</a:t>
            </a:r>
            <a:r>
              <a:rPr lang="en-US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with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final.</a:t>
            </a:r>
            <a:endParaRPr lang="en-US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If</a:t>
            </a:r>
            <a:r>
              <a:rPr lang="en-US" spc="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</a:t>
            </a:r>
            <a:r>
              <a:rPr lang="en-US" spc="-10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class</a:t>
            </a:r>
            <a:r>
              <a:rPr lang="en-US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itself</a:t>
            </a:r>
            <a:r>
              <a:rPr lang="en-US" spc="4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is</a:t>
            </a:r>
            <a:r>
              <a:rPr lang="en-US" spc="-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being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defined</a:t>
            </a:r>
            <a:r>
              <a:rPr lang="en-US" spc="-1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final</a:t>
            </a:r>
            <a:r>
              <a:rPr lang="en-US" spc="-2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then</a:t>
            </a:r>
            <a:r>
              <a:rPr lang="en-US" spc="-5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it</a:t>
            </a:r>
            <a:r>
              <a:rPr lang="en-US" spc="-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10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cannot</a:t>
            </a:r>
            <a:r>
              <a:rPr lang="en-US" spc="-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be</a:t>
            </a:r>
            <a:r>
              <a:rPr lang="en-US" spc="-9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extended.</a:t>
            </a:r>
            <a:endParaRPr lang="en-US" dirty="0">
              <a:latin typeface="Book Antiqua" panose="02040602050305030304" pitchFamily="18" charset="0"/>
              <a:cs typeface="Times New Roman"/>
            </a:endParaRPr>
          </a:p>
          <a:p>
            <a:pPr marL="355600" marR="432434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pc="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Following</a:t>
            </a:r>
            <a:r>
              <a:rPr lang="en-US" spc="-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example</a:t>
            </a:r>
            <a:r>
              <a:rPr lang="en-US" spc="-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7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results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in</a:t>
            </a:r>
            <a:r>
              <a:rPr lang="en-US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Fatal</a:t>
            </a:r>
            <a:r>
              <a:rPr lang="en-US" spc="-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6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error:</a:t>
            </a:r>
            <a:r>
              <a:rPr lang="en-US" spc="-1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9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Cannot</a:t>
            </a:r>
            <a:r>
              <a:rPr lang="en-US" spc="-130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5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override</a:t>
            </a:r>
            <a:r>
              <a:rPr lang="en-US" spc="-8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4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final  </a:t>
            </a:r>
            <a:r>
              <a:rPr lang="en-US" spc="12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method</a:t>
            </a:r>
            <a:r>
              <a:rPr lang="en-US" spc="-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 </a:t>
            </a:r>
            <a:r>
              <a:rPr lang="en-US" spc="35" dirty="0" err="1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BaseClass</a:t>
            </a:r>
            <a:r>
              <a:rPr lang="en-US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::</a:t>
            </a:r>
            <a:r>
              <a:rPr lang="en-US" spc="35" dirty="0" err="1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moreTesting</a:t>
            </a:r>
            <a:r>
              <a:rPr lang="en-US" spc="35" dirty="0">
                <a:solidFill>
                  <a:srgbClr val="001F5F"/>
                </a:solidFill>
                <a:latin typeface="Book Antiqua" panose="02040602050305030304" pitchFamily="18" charset="0"/>
                <a:cs typeface="Times New Roman"/>
              </a:rPr>
              <a:t>()</a:t>
            </a:r>
            <a:endParaRPr lang="en-US" dirty="0">
              <a:latin typeface="Book Antiqua" panose="020406020503050303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AF89114-3C1E-4163-6015-EC52267C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99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7FFC6CB1-254B-7478-6484-8841578636D2}"/>
              </a:ext>
            </a:extLst>
          </p:cNvPr>
          <p:cNvSpPr/>
          <p:nvPr/>
        </p:nvSpPr>
        <p:spPr>
          <a:xfrm>
            <a:off x="1839622" y="2971800"/>
            <a:ext cx="7869437" cy="37228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28272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65FB8-A893-BB9C-9DB0-B89C071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D68E2-B9F0-4527-D510-2358CE8FF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325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Book Antiqua" panose="02040602050305030304" pitchFamily="18" charset="0"/>
              </a:rPr>
              <a:t>Calling </a:t>
            </a:r>
            <a:r>
              <a:rPr lang="en-US" sz="5000" b="1" dirty="0">
                <a:solidFill>
                  <a:srgbClr val="FF0000"/>
                </a:solidFill>
                <a:latin typeface="Book Antiqua" panose="02040602050305030304" pitchFamily="18" charset="0"/>
              </a:rPr>
              <a:t>Parent</a:t>
            </a:r>
            <a:r>
              <a:rPr lang="en-US" sz="5000" b="1" dirty="0">
                <a:latin typeface="Book Antiqua" panose="02040602050305030304" pitchFamily="18" charset="0"/>
              </a:rPr>
              <a:t> Constructors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2CEADEB-4199-7FA2-3B81-5493B67B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100</a:t>
            </a:fld>
            <a:endParaRPr lang="en-US" sz="4000" dirty="0">
              <a:latin typeface="Book Antiqua" panose="02040602050305030304" pitchFamily="18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957C34AE-02B0-C2BF-FE3C-8AD5F501264E}"/>
              </a:ext>
            </a:extLst>
          </p:cNvPr>
          <p:cNvSpPr/>
          <p:nvPr/>
        </p:nvSpPr>
        <p:spPr>
          <a:xfrm>
            <a:off x="355600" y="812800"/>
            <a:ext cx="10769600" cy="5908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705315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B3F9-66D0-E4D2-05A4-B2B60596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CF20-0360-8D2B-7A2A-4E57603A9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83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  <a:latin typeface="Book Antiqua" panose="02040602050305030304" pitchFamily="18" charset="0"/>
              </a:rPr>
              <a:t>P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C272E56-B265-0E52-9FD0-3212D79C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101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15676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4F13-5119-D6F0-A8E6-796C0319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3894-E14E-0A20-0FCF-C788FB5C1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0" y="83378"/>
            <a:ext cx="11826240" cy="85876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  <a:latin typeface="Book Antiqua" panose="02040602050305030304" pitchFamily="18" charset="0"/>
              </a:rPr>
              <a:t>P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A1C18E-5383-31BF-ED7B-74609BC0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60" y="6356350"/>
            <a:ext cx="2743200" cy="365125"/>
          </a:xfrm>
        </p:spPr>
        <p:txBody>
          <a:bodyPr/>
          <a:lstStyle/>
          <a:p>
            <a:fld id="{B5B3D984-9A10-49DE-8078-68DFFF939195}" type="slidenum">
              <a:rPr lang="en-US" sz="4000" smtClean="0">
                <a:latin typeface="Book Antiqua" panose="02040602050305030304" pitchFamily="18" charset="0"/>
              </a:rPr>
              <a:t>102</a:t>
            </a:fld>
            <a:endParaRPr lang="en-US" sz="4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50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7120</Words>
  <Application>Microsoft Office PowerPoint</Application>
  <PresentationFormat>Widescreen</PresentationFormat>
  <Paragraphs>889</Paragraphs>
  <Slides>102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1" baseType="lpstr">
      <vt:lpstr>Arial</vt:lpstr>
      <vt:lpstr>Book Antiqua</vt:lpstr>
      <vt:lpstr>Calibri</vt:lpstr>
      <vt:lpstr>Calibri Light</vt:lpstr>
      <vt:lpstr>Consolas</vt:lpstr>
      <vt:lpstr>Constantia</vt:lpstr>
      <vt:lpstr>Times New Roman</vt:lpstr>
      <vt:lpstr>Wingdings</vt:lpstr>
      <vt:lpstr>Office Theme</vt:lpstr>
      <vt:lpstr>Chapter Five</vt:lpstr>
      <vt:lpstr>Outline</vt:lpstr>
      <vt:lpstr>Server-Side Programs</vt:lpstr>
      <vt:lpstr>Introduction to CGI</vt:lpstr>
      <vt:lpstr>How CGI Works?</vt:lpstr>
      <vt:lpstr>How CGI Works?</vt:lpstr>
      <vt:lpstr>Introduction to CGI…</vt:lpstr>
      <vt:lpstr>Creating a CGI program</vt:lpstr>
      <vt:lpstr>How to access data send from the client to the server</vt:lpstr>
      <vt:lpstr>Structure of CGI programs</vt:lpstr>
      <vt:lpstr>CGI program in C example One</vt:lpstr>
      <vt:lpstr>CGI program in C example Two</vt:lpstr>
      <vt:lpstr>Drawbacks of cgi Programming</vt:lpstr>
      <vt:lpstr>Server Slide Scripts</vt:lpstr>
      <vt:lpstr>Introduction to PHP</vt:lpstr>
      <vt:lpstr>Introduction to PHP cont’d…</vt:lpstr>
      <vt:lpstr>Introduction to PHP cont’d…</vt:lpstr>
      <vt:lpstr>PHP Example</vt:lpstr>
      <vt:lpstr>Introduction to PHP cont’d…</vt:lpstr>
      <vt:lpstr>Variables</vt:lpstr>
      <vt:lpstr>PHP Variables Scope</vt:lpstr>
      <vt:lpstr>Variables example</vt:lpstr>
      <vt:lpstr>Variables Example: global keyword</vt:lpstr>
      <vt:lpstr>Variables Example</vt:lpstr>
      <vt:lpstr>PHP Data Types</vt:lpstr>
      <vt:lpstr>PHP Constants</vt:lpstr>
      <vt:lpstr>PHP Operators</vt:lpstr>
      <vt:lpstr>PHP Echo and Print</vt:lpstr>
      <vt:lpstr>PHP String Functions</vt:lpstr>
      <vt:lpstr>Conditional Statements </vt:lpstr>
      <vt:lpstr>Conditional Statements Example</vt:lpstr>
      <vt:lpstr>PHP Loops</vt:lpstr>
      <vt:lpstr>For Loop</vt:lpstr>
      <vt:lpstr>Foreach Loop</vt:lpstr>
      <vt:lpstr>The While Loop</vt:lpstr>
      <vt:lpstr>The do/while loop</vt:lpstr>
      <vt:lpstr>PHP Arrays</vt:lpstr>
      <vt:lpstr>Array Examples</vt:lpstr>
      <vt:lpstr>Some PHP Array Functions</vt:lpstr>
      <vt:lpstr>PHP Functions</vt:lpstr>
      <vt:lpstr>PowerPoint Presentation</vt:lpstr>
      <vt:lpstr>Global Variables - Superglobals</vt:lpstr>
      <vt:lpstr>$_SERVER Super global</vt:lpstr>
      <vt:lpstr>$_POST Super global</vt:lpstr>
      <vt:lpstr>$_GET Super global</vt:lpstr>
      <vt:lpstr>PHP Date and Time</vt:lpstr>
      <vt:lpstr>Date Examples</vt:lpstr>
      <vt:lpstr>PHP Include Files</vt:lpstr>
      <vt:lpstr>include &amp; require Examples</vt:lpstr>
      <vt:lpstr>PHP Manipulating Files</vt:lpstr>
      <vt:lpstr>PHP File Opening Modes</vt:lpstr>
      <vt:lpstr>PHP Read from File Functions</vt:lpstr>
      <vt:lpstr>PHP File Manipulation Examples</vt:lpstr>
      <vt:lpstr>PHP File Manipulation Examples</vt:lpstr>
      <vt:lpstr>PHP Write to File Functions</vt:lpstr>
      <vt:lpstr>PHP Locking Files</vt:lpstr>
      <vt:lpstr>PHP Locking Example</vt:lpstr>
      <vt:lpstr>PHP File Manipulation Methods</vt:lpstr>
      <vt:lpstr>Cookes and Sessions</vt:lpstr>
      <vt:lpstr>Cookies</vt:lpstr>
      <vt:lpstr>Create Cookies with PHP</vt:lpstr>
      <vt:lpstr>Cookies Example</vt:lpstr>
      <vt:lpstr>Setting Cookies</vt:lpstr>
      <vt:lpstr>Sending Cookies Back to Server</vt:lpstr>
      <vt:lpstr>Manipulating cookies cont’d</vt:lpstr>
      <vt:lpstr>Sessions</vt:lpstr>
      <vt:lpstr>Sessions cont’d </vt:lpstr>
      <vt:lpstr>Sessions cont’d</vt:lpstr>
      <vt:lpstr>Starting a Session</vt:lpstr>
      <vt:lpstr>Destroy a PHP Session</vt:lpstr>
      <vt:lpstr>Cookies vs Sessions</vt:lpstr>
      <vt:lpstr>PHP Header() Function</vt:lpstr>
      <vt:lpstr>PHP Header() Function Cont’d</vt:lpstr>
      <vt:lpstr>ERROR AND EXCEPTION HANDLING</vt:lpstr>
      <vt:lpstr>Basic Error Handling</vt:lpstr>
      <vt:lpstr>EXCEPTION HANDLING</vt:lpstr>
      <vt:lpstr>EXCEPTION HANDLING Example</vt:lpstr>
      <vt:lpstr>Introduction to Object Oriented PHP</vt:lpstr>
      <vt:lpstr>Object Oriented Concepts</vt:lpstr>
      <vt:lpstr>Object Oriented Concepts Cont’d</vt:lpstr>
      <vt:lpstr>Object Oriented Concepts Cont’d</vt:lpstr>
      <vt:lpstr>Defining PHP Classes</vt:lpstr>
      <vt:lpstr>Setter &amp; Getter Methods</vt:lpstr>
      <vt:lpstr>Creating Objects in PHP</vt:lpstr>
      <vt:lpstr>Calling Member Functions</vt:lpstr>
      <vt:lpstr>PHP Object Constructors</vt:lpstr>
      <vt:lpstr>PHP Object Destructor</vt:lpstr>
      <vt:lpstr>Inheritance</vt:lpstr>
      <vt:lpstr>PHP Inheritance Example</vt:lpstr>
      <vt:lpstr>Function Overriding</vt:lpstr>
      <vt:lpstr>Member Variables</vt:lpstr>
      <vt:lpstr>Member Variables Cont’d</vt:lpstr>
      <vt:lpstr>Private Members Example</vt:lpstr>
      <vt:lpstr>Member Variables Cont’d</vt:lpstr>
      <vt:lpstr>Protected Members Example</vt:lpstr>
      <vt:lpstr>Interfaces</vt:lpstr>
      <vt:lpstr>Abstract Classes</vt:lpstr>
      <vt:lpstr>Static Keyword</vt:lpstr>
      <vt:lpstr>Final Keyword</vt:lpstr>
      <vt:lpstr>Calling Parent Constructors</vt:lpstr>
      <vt:lpstr>P</vt:lpstr>
      <vt:lpstr>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abume</dc:creator>
  <cp:lastModifiedBy>abume</cp:lastModifiedBy>
  <cp:revision>88</cp:revision>
  <cp:lastPrinted>2025-04-28T12:32:32Z</cp:lastPrinted>
  <dcterms:created xsi:type="dcterms:W3CDTF">2025-04-10T07:02:09Z</dcterms:created>
  <dcterms:modified xsi:type="dcterms:W3CDTF">2025-05-14T06:51:24Z</dcterms:modified>
</cp:coreProperties>
</file>